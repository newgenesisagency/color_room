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m'appelle [...], je suis en 2e année de BTS CIEL option Informatique et Réseaux. Je vais vous présenter mon projet : ColorRoom, une application qui transforme une salle de 42 dalles LED en plateforme de jeux éducatifs sur la couleur. Durée : 20 min de présentation, puis une démonstration, puis vos questions. ASTUCE : respire, parle lentement, regarde le jury.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déroulé. Je commence par le contexte, puis l'architecture technique, le réseau et le déploiement, ensuite les fonctionnalités, la sécurité, la gestion de projet, et je termine par le bilan.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ColorRoom est une installation physique : 42 dalles LED commandées une par une. Le commanditaire voulait des jeux éducatifs sur la couleur. Le matériel était là, mais sans logiciel pour le piloter de façon ludique : c'est tout l'objet de mon projet.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problématique tient en une phrase : piloter ET mesurer la lumière, avec des jeux créables facilement, sur un système autonome. J'en ai tiré 5 objectifs concrets que je vais détailler.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fonctionnel : les jeux, l'éditeur, le multijoueur, la mesure, l'admin. Côté contraintes : tout doit tenir sur un Raspberry Pi, marcher hors-ligne, utiliser l'API Supervision imposée pour les dalles et le SDK du colorimètre CS-160.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schéma global. L'utilisateur ouvre l'app dans un navigateur. L'app, en Next.js et conteneurisée, tourne sur le Pi. Pour allumer les dalles, elle parle à l'API Supervision en HTTP. En parallèle : une base SQLite pour les données, le colorimètre CS-160 en USB, et l'IA (cloud Gemini ou local Ollama) pour générer des jeux.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choix est justifié. Next.js avec TypeScript pour un code typé et un seul projet front+back. SQLite parce qu'elle est embarquée, idéale sur Pi. Docker pour un déploiement reproductible en une commande. Three.js pour la 3D. Et Ollama pour faire tourner une IA en local, sans cloud.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classique du jury : pourquoi ne pas être resté sur du Node-RED et du JavaScript pur ? Node-RED est excellent pour prototyper de l'IoT par flux, mais dès qu'on veut une vraie interface riche — la vue 3D, un éditeur de jeux, du multijoueur — il montre ses limites, et ses flux en JSON sont durs à versionner. Le JavaScript pur, lui, n'a pas de typage : les erreurs n'apparaissent qu'à l'exécution. J'ai donc choisi React pour des composants réutilisables, Next.js pour réunir front et back dans un seul projet, Node.js pour un seul langage partout, et surtout TypeScript : le typage attrape les bugs dès la compilation et rend la refactorisation sûre. Le tout est du code texte, donc versionnable et testable proprement.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déploiement est entièrement géré par Docker Compose : 4 services. L'application sur le port 8080, l'IA locale Ollama, et Portainer pour superviser les conteneurs. Les téléphones rejoignent via le Wi-Fi local. Les secrets (clé API, mot de passe admin) sont dans un fichier .env qui n'est jamais versionné sur Git. Mettre à jour le Pi = git pull puis docker compose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grandes fonctionnalités. Des jeux prêts à jouer. Un éditeur low-code pour en créer sans coder, ou en Python/JS pour aller plus loin. La génération de jeux par IA. Le multijoueur où chacun pilote une dalle avec son téléphone. La mesure réelle au colorimètre avec diagramme CIE. Et l'administration des comptes.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cœur technique : l'éditeur. C'est de la programmation visuelle par blocs reliés, comme dans Unreal Engine. On part d'un évènement (un clic sur une dalle) et on enchaîne des actions. Il y a près de 190 blocs. Pour les utilisateurs avancés, un bloc Script permet d'écrire du Python ou du JavaScript. Tout s'affiche en direct sur la 3D et sur les vraies dalles.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point fort : l'IA. On décrit un jeu en une phrase, et l'IA le construit. J'ai mis en place une cascade : d'abord Gemini en cloud si une clé existe, sinon repli automatique sur Ollama qui tourne en local sur le Pi — donc ça marche même hors-ligne. La sortie de l'IA est du JSON strict, que je valide et nettoie avant de l'utiliser. Et un garde-fou refuse poliment les jeux irréalisables.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point fort, très « métier lumière » : la mesure. Le colorimètre CS-160 mesure réellement la lumière émise par les dalles. On affiche le résultat sur le diagramme CIE 1931, le standard de la colorimétrie. Certains jeux notent le joueur selon l'écart de couleur ΔE. C'est ce qui relie le virtuel au réel.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important en CIEL. Les mots de passe sont hachés avec PBKDF2, jamais stockés en clair. Sessions par cookie sécurisé, gestion de rôles. Les secrets sont dans un .env hors Git. Les écritures critiques en base sont des transactions atomiques. Et un vrai retour d'expérience : j'ai un jour committé un secret par erreur, je l'ai purgé de tout l'historique Git avec filter-repo. Ça montre que je connais les bonnes pratiques de gestion des secrets.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gestion : tout est versionné sur Git et GitHub avec des branches et des commits clairs. J'ai développé de façon incrémentale, en testant à chaque étape (vérification de types et build complet). J'ai documenté avec 15 diagrammes UML et un guide technique. Et tout est conteneurisé pour des déploiements fiables.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projet, c'est surtout des problèmes à résoudre. La 3D ramait sur tablette : j'ai allégé les textures et réduit le travail de rendu. Des crashs WebGL : je libère maintenant explicitement le contexte graphique. Un son qui durait à l'infini : une confusion millisecondes/secondes que j'ai corrigée. Et le Tetris injouable sur une si petite grille : je l'ai transformé en jeu de combinaison de couleurs. C'est ça, la démarche d'ingénieur : diagnostiquer puis corriger.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 les 5 objectifs sont atteints — pilotage, mesure, éditeur + IA, multijoueur, déploiement. Pour la suite : un vrai système de salons avec codes, le streaming de la génération IA en temps réel, plus de jeux, un tableau de bord enseignant, et de l'intégration continue pour automatiser les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 — ordre conseillé : 1) lancer Color Speed sur les dalles, 2) créer un petit jeu dans l'éditeur, 3) en générer un avec l'IA, 4) montrer le multijoueur avec le QR code et un téléphone, 5) faire une mesure au CS-160 et la voir sur le diagramme CIE, 6) finir sur Portainer pour montrer les conteneurs. PRÉPARE UN PLAN B : capture vidéo/écran au cas où le matériel bug le jour J.</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Je suis à votre disposition pour vos questions. Garde en tête les questions probables : pourquoi Next.js ? comment sécurises-tu le réseau ? comment ça marche hors-ligne ? que se passe-t-il si une dalle tombe en panne ? combien d'utilisateurs simultanés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91440"/>
          </a:xfrm>
          <a:prstGeom prst="rect">
            <a:avLst/>
          </a:prstGeom>
          <a:solidFill>
            <a:srgbClr val="436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971800"/>
            <a:ext cx="12191695" cy="9144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0160"/>
            <a:ext cx="10332720" cy="1463040"/>
          </a:xfrm>
          <a:prstGeom prst="rect">
            <a:avLst/>
          </a:prstGeom>
          <a:noFill/>
        </p:spPr>
        <p:txBody>
          <a:bodyPr wrap="square" anchor="t">
            <a:spAutoFit/>
          </a:bodyPr>
          <a:lstStyle/>
          <a:p>
            <a:pPr algn="l">
              <a:spcAft>
                <a:spcPts val="200"/>
              </a:spcAft>
            </a:pPr>
            <a:r>
              <a:rPr sz="1400" b="1">
                <a:solidFill>
                  <a:srgbClr val="06D6A0"/>
                </a:solidFill>
                <a:latin typeface="Calibri"/>
              </a:rPr>
              <a:t>PROJET BTS CIEL — OPTION INFORMATIQUE &amp; RÉSEAUX</a:t>
            </a:r>
          </a:p>
          <a:p>
            <a:pPr algn="l">
              <a:spcBef>
                <a:spcPts val="600"/>
              </a:spcBef>
              <a:spcAft>
                <a:spcPts val="200"/>
              </a:spcAft>
            </a:pPr>
            <a:r>
              <a:rPr sz="6000" b="1">
                <a:solidFill>
                  <a:srgbClr val="FFFFFF"/>
                </a:solidFill>
                <a:latin typeface="Calibri"/>
              </a:rPr>
              <a:t>ColorRoom</a:t>
            </a:r>
          </a:p>
        </p:txBody>
      </p:sp>
      <p:sp>
        <p:nvSpPr>
          <p:cNvPr id="7" name="TextBox 6"/>
          <p:cNvSpPr txBox="1"/>
          <p:nvPr/>
        </p:nvSpPr>
        <p:spPr>
          <a:xfrm>
            <a:off x="914400" y="3200400"/>
            <a:ext cx="10332720" cy="1097280"/>
          </a:xfrm>
          <a:prstGeom prst="rect">
            <a:avLst/>
          </a:prstGeom>
          <a:noFill/>
        </p:spPr>
        <p:txBody>
          <a:bodyPr wrap="square" anchor="t">
            <a:spAutoFit/>
          </a:bodyPr>
          <a:lstStyle/>
          <a:p>
            <a:pPr algn="l">
              <a:spcAft>
                <a:spcPts val="200"/>
              </a:spcAft>
            </a:pPr>
            <a:r>
              <a:rPr sz="2200" b="0">
                <a:solidFill>
                  <a:srgbClr val="CBD5E1"/>
                </a:solidFill>
                <a:latin typeface="Calibri"/>
              </a:rPr>
              <a:t>Serious games interactifs sur 42 dalles LED pilotées en réseau</a:t>
            </a:r>
          </a:p>
          <a:p>
            <a:pPr algn="l">
              <a:spcBef>
                <a:spcPts val="600"/>
              </a:spcBef>
              <a:spcAft>
                <a:spcPts val="200"/>
              </a:spcAft>
            </a:pPr>
            <a:r>
              <a:rPr sz="1600" b="0">
                <a:solidFill>
                  <a:srgbClr val="64748B"/>
                </a:solidFill>
                <a:latin typeface="Calibri"/>
              </a:rPr>
              <a:t>Application web embarquée sur Raspberry Pi — mesure et pilotage de la lumière</a:t>
            </a:r>
          </a:p>
        </p:txBody>
      </p:sp>
      <p:sp>
        <p:nvSpPr>
          <p:cNvPr id="8" name="TextBox 7"/>
          <p:cNvSpPr txBox="1"/>
          <p:nvPr/>
        </p:nvSpPr>
        <p:spPr>
          <a:xfrm>
            <a:off x="914400" y="5120640"/>
            <a:ext cx="10332720" cy="1280160"/>
          </a:xfrm>
          <a:prstGeom prst="rect">
            <a:avLst/>
          </a:prstGeom>
          <a:noFill/>
        </p:spPr>
        <p:txBody>
          <a:bodyPr wrap="square" anchor="t">
            <a:spAutoFit/>
          </a:bodyPr>
          <a:lstStyle/>
          <a:p>
            <a:pPr algn="l">
              <a:spcAft>
                <a:spcPts val="200"/>
              </a:spcAft>
            </a:pPr>
            <a:r>
              <a:rPr sz="1600" b="1">
                <a:solidFill>
                  <a:srgbClr val="FFFFFF"/>
                </a:solidFill>
                <a:latin typeface="Calibri"/>
              </a:rPr>
              <a:t>Présenté par : [Ton Prénom NOM]</a:t>
            </a:r>
          </a:p>
          <a:p>
            <a:pPr algn="l">
              <a:spcBef>
                <a:spcPts val="400"/>
              </a:spcBef>
              <a:spcAft>
                <a:spcPts val="200"/>
              </a:spcAft>
            </a:pPr>
            <a:r>
              <a:rPr sz="1400" b="0">
                <a:solidFill>
                  <a:srgbClr val="64748B"/>
                </a:solidFill>
                <a:latin typeface="Calibri"/>
              </a:rPr>
              <a:t>Session 2026 — Lycée Édouard Branly</a:t>
            </a:r>
          </a:p>
          <a:p>
            <a:pPr algn="l">
              <a:spcBef>
                <a:spcPts val="200"/>
              </a:spcBef>
              <a:spcAft>
                <a:spcPts val="200"/>
              </a:spcAft>
            </a:pPr>
            <a:r>
              <a:rPr sz="1300" b="0">
                <a:solidFill>
                  <a:srgbClr val="64748B"/>
                </a:solidFill>
                <a:latin typeface="Calibri"/>
              </a:rPr>
              <a:t>Partenaires : LUMEN Campus Lumière · ENTPE / LTDS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058400" cy="914400"/>
          </a:xfrm>
          <a:prstGeom prst="rect">
            <a:avLst/>
          </a:prstGeom>
          <a:noFill/>
        </p:spPr>
        <p:txBody>
          <a:bodyPr wrap="square" anchor="t">
            <a:spAutoFit/>
          </a:bodyPr>
          <a:lstStyle/>
          <a:p>
            <a:pPr algn="l">
              <a:spcAft>
                <a:spcPts val="200"/>
              </a:spcAft>
            </a:pPr>
            <a:r>
              <a:rPr sz="3400" b="1">
                <a:solidFill>
                  <a:srgbClr val="0F172A"/>
                </a:solidFill>
                <a:latin typeface="Calibri"/>
              </a:rPr>
              <a:t>Sommaire</a:t>
            </a:r>
          </a:p>
        </p:txBody>
      </p:sp>
      <p:sp>
        <p:nvSpPr>
          <p:cNvPr id="5" name="TextBox 4"/>
          <p:cNvSpPr txBox="1"/>
          <p:nvPr/>
        </p:nvSpPr>
        <p:spPr>
          <a:xfrm>
            <a:off x="822960" y="1645920"/>
            <a:ext cx="5486400" cy="4572000"/>
          </a:xfrm>
          <a:prstGeom prst="rect">
            <a:avLst/>
          </a:prstGeom>
          <a:noFill/>
        </p:spPr>
        <p:txBody>
          <a:bodyPr wrap="square">
            <a:spAutoFit/>
          </a:bodyPr>
          <a:lstStyle/>
          <a:p>
            <a:pPr>
              <a:spcAft>
                <a:spcPts val="1600"/>
              </a:spcAft>
            </a:pPr>
            <a:r>
              <a:rPr sz="2000" b="0">
                <a:solidFill>
                  <a:srgbClr val="334155"/>
                </a:solidFill>
                <a:latin typeface="Calibri"/>
              </a:rPr>
              <a:t>▸ 1. Contexte &amp; commanditaire</a:t>
            </a:r>
          </a:p>
          <a:p>
            <a:pPr>
              <a:spcAft>
                <a:spcPts val="1600"/>
              </a:spcAft>
            </a:pPr>
            <a:r>
              <a:rPr sz="2000" b="0">
                <a:solidFill>
                  <a:srgbClr val="334155"/>
                </a:solidFill>
                <a:latin typeface="Calibri"/>
              </a:rPr>
              <a:t>▸ 2. Problématique &amp; objectifs</a:t>
            </a:r>
          </a:p>
          <a:p>
            <a:pPr>
              <a:spcAft>
                <a:spcPts val="1600"/>
              </a:spcAft>
            </a:pPr>
            <a:r>
              <a:rPr sz="2000" b="0">
                <a:solidFill>
                  <a:srgbClr val="334155"/>
                </a:solidFill>
                <a:latin typeface="Calibri"/>
              </a:rPr>
              <a:t>▸ 3. Cahier des charges &amp; contraintes</a:t>
            </a:r>
          </a:p>
          <a:p>
            <a:pPr>
              <a:spcAft>
                <a:spcPts val="1600"/>
              </a:spcAft>
            </a:pPr>
            <a:r>
              <a:rPr sz="2000" b="0">
                <a:solidFill>
                  <a:srgbClr val="334155"/>
                </a:solidFill>
                <a:latin typeface="Calibri"/>
              </a:rPr>
              <a:t>▸ 4. Architecture générale</a:t>
            </a:r>
          </a:p>
          <a:p>
            <a:pPr>
              <a:spcAft>
                <a:spcPts val="1600"/>
              </a:spcAft>
            </a:pPr>
            <a:r>
              <a:rPr sz="2000" b="0">
                <a:solidFill>
                  <a:srgbClr val="334155"/>
                </a:solidFill>
                <a:latin typeface="Calibri"/>
              </a:rPr>
              <a:t>▸ 5. Choix techniques justifiés</a:t>
            </a:r>
          </a:p>
          <a:p>
            <a:pPr>
              <a:spcAft>
                <a:spcPts val="1600"/>
              </a:spcAft>
            </a:pPr>
            <a:r>
              <a:rPr sz="2000" b="0">
                <a:solidFill>
                  <a:srgbClr val="334155"/>
                </a:solidFill>
                <a:latin typeface="Calibri"/>
              </a:rPr>
              <a:t>▸ 6. Réseau &amp; déploiement (Docker / Pi)</a:t>
            </a:r>
          </a:p>
        </p:txBody>
      </p:sp>
      <p:sp>
        <p:nvSpPr>
          <p:cNvPr id="6" name="TextBox 5"/>
          <p:cNvSpPr txBox="1"/>
          <p:nvPr/>
        </p:nvSpPr>
        <p:spPr>
          <a:xfrm>
            <a:off x="6400800" y="1645920"/>
            <a:ext cx="5486400" cy="4572000"/>
          </a:xfrm>
          <a:prstGeom prst="rect">
            <a:avLst/>
          </a:prstGeom>
          <a:noFill/>
        </p:spPr>
        <p:txBody>
          <a:bodyPr wrap="square">
            <a:spAutoFit/>
          </a:bodyPr>
          <a:lstStyle/>
          <a:p>
            <a:pPr>
              <a:spcAft>
                <a:spcPts val="1600"/>
              </a:spcAft>
            </a:pPr>
            <a:r>
              <a:rPr sz="2000" b="0">
                <a:solidFill>
                  <a:srgbClr val="334155"/>
                </a:solidFill>
                <a:latin typeface="Calibri"/>
              </a:rPr>
              <a:t>▸ 7. Fonctionnalités du projet</a:t>
            </a:r>
          </a:p>
          <a:p>
            <a:pPr>
              <a:spcAft>
                <a:spcPts val="1600"/>
              </a:spcAft>
            </a:pPr>
            <a:r>
              <a:rPr sz="2000" b="0">
                <a:solidFill>
                  <a:srgbClr val="334155"/>
                </a:solidFill>
                <a:latin typeface="Calibri"/>
              </a:rPr>
              <a:t>▸ 8. Focus : éditeur, IA, mesure</a:t>
            </a:r>
          </a:p>
          <a:p>
            <a:pPr>
              <a:spcAft>
                <a:spcPts val="1600"/>
              </a:spcAft>
            </a:pPr>
            <a:r>
              <a:rPr sz="2000" b="0">
                <a:solidFill>
                  <a:srgbClr val="334155"/>
                </a:solidFill>
                <a:latin typeface="Calibri"/>
              </a:rPr>
              <a:t>▸ 9. Sécurité</a:t>
            </a:r>
          </a:p>
          <a:p>
            <a:pPr>
              <a:spcAft>
                <a:spcPts val="1600"/>
              </a:spcAft>
            </a:pPr>
            <a:r>
              <a:rPr sz="2000" b="0">
                <a:solidFill>
                  <a:srgbClr val="334155"/>
                </a:solidFill>
                <a:latin typeface="Calibri"/>
              </a:rPr>
              <a:t>▸ 10. Gestion de projet</a:t>
            </a:r>
          </a:p>
          <a:p>
            <a:pPr>
              <a:spcAft>
                <a:spcPts val="1600"/>
              </a:spcAft>
            </a:pPr>
            <a:r>
              <a:rPr sz="2000" b="0">
                <a:solidFill>
                  <a:srgbClr val="334155"/>
                </a:solidFill>
                <a:latin typeface="Calibri"/>
              </a:rPr>
              <a:t>▸ 11. Difficultés &amp; solutions</a:t>
            </a:r>
          </a:p>
          <a:p>
            <a:pPr>
              <a:spcAft>
                <a:spcPts val="1600"/>
              </a:spcAft>
            </a:pPr>
            <a:r>
              <a:rPr sz="2000" b="0">
                <a:solidFill>
                  <a:srgbClr val="334155"/>
                </a:solidFill>
                <a:latin typeface="Calibri"/>
              </a:rPr>
              <a:t>▸ 12. Bilan &amp; perspectives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LE PROJET</a:t>
            </a:r>
          </a:p>
          <a:p>
            <a:pPr algn="l">
              <a:spcAft>
                <a:spcPts val="200"/>
              </a:spcAft>
            </a:pPr>
            <a:r>
              <a:rPr sz="2600" b="1">
                <a:solidFill>
                  <a:srgbClr val="FFFFFF"/>
                </a:solidFill>
                <a:latin typeface="Calibri"/>
              </a:rPr>
              <a:t>Contexte &amp; commanditaire</a:t>
            </a:r>
          </a:p>
        </p:txBody>
      </p:sp>
      <p:sp>
        <p:nvSpPr>
          <p:cNvPr id="7" name="TextBox 6"/>
          <p:cNvSpPr txBox="1"/>
          <p:nvPr/>
        </p:nvSpPr>
        <p:spPr>
          <a:xfrm>
            <a:off x="640080" y="1554480"/>
            <a:ext cx="6766560" cy="4572000"/>
          </a:xfrm>
          <a:prstGeom prst="rect">
            <a:avLst/>
          </a:prstGeom>
          <a:noFill/>
        </p:spPr>
        <p:txBody>
          <a:bodyPr wrap="square">
            <a:spAutoFit/>
          </a:bodyPr>
          <a:lstStyle/>
          <a:p>
            <a:pPr>
              <a:spcAft>
                <a:spcPts val="1400"/>
              </a:spcAft>
            </a:pPr>
            <a:r>
              <a:rPr sz="1800" b="0">
                <a:solidFill>
                  <a:srgbClr val="334155"/>
                </a:solidFill>
                <a:latin typeface="Calibri"/>
              </a:rPr>
              <a:t>▸ La ColorRoom : une salle équipée de 42 dalles LED RVB pilotables individuellement</a:t>
            </a:r>
          </a:p>
          <a:p>
            <a:pPr>
              <a:spcAft>
                <a:spcPts val="1400"/>
              </a:spcAft>
            </a:pPr>
            <a:r>
              <a:rPr sz="1800" b="0">
                <a:solidFill>
                  <a:srgbClr val="334155"/>
                </a:solidFill>
                <a:latin typeface="Calibri"/>
              </a:rPr>
              <a:t>▸ Commanditaire : LUMEN Campus Lumière (Lyon), en lien avec l'ENTPE / laboratoire LTDS</a:t>
            </a:r>
          </a:p>
          <a:p>
            <a:pPr>
              <a:spcAft>
                <a:spcPts val="1400"/>
              </a:spcAft>
            </a:pPr>
            <a:r>
              <a:rPr sz="1800" b="0">
                <a:solidFill>
                  <a:srgbClr val="334155"/>
                </a:solidFill>
                <a:latin typeface="Calibri"/>
              </a:rPr>
              <a:t>▸ But : des « serious games » pour sensibiliser à la couleur, la lumière, la perception</a:t>
            </a:r>
          </a:p>
          <a:p>
            <a:pPr lvl="1">
              <a:spcAft>
                <a:spcPts val="1400"/>
              </a:spcAft>
            </a:pPr>
            <a:r>
              <a:rPr sz="1600" b="0">
                <a:solidFill>
                  <a:srgbClr val="64748B"/>
                </a:solidFill>
                <a:latin typeface="Calibri"/>
              </a:rPr>
              <a:t>– Public : étudiants, visiteurs, démonstrations pédagogiques</a:t>
            </a:r>
          </a:p>
          <a:p>
            <a:pPr>
              <a:spcAft>
                <a:spcPts val="1400"/>
              </a:spcAft>
            </a:pPr>
            <a:r>
              <a:rPr sz="1800" b="0">
                <a:solidFill>
                  <a:srgbClr val="334155"/>
                </a:solidFill>
                <a:latin typeface="Calibri"/>
              </a:rPr>
              <a:t>▸ Le matériel existe — il fallait le LOGICIEL pour l'animer et le rendre utile</a:t>
            </a:r>
          </a:p>
        </p:txBody>
      </p:sp>
      <p:sp>
        <p:nvSpPr>
          <p:cNvPr id="8" name="Rectangle 7"/>
          <p:cNvSpPr/>
          <p:nvPr/>
        </p:nvSpPr>
        <p:spPr>
          <a:xfrm>
            <a:off x="7772400" y="1737360"/>
            <a:ext cx="3840480" cy="4023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2011680"/>
            <a:ext cx="3383280" cy="3657600"/>
          </a:xfrm>
          <a:prstGeom prst="rect">
            <a:avLst/>
          </a:prstGeom>
          <a:noFill/>
        </p:spPr>
        <p:txBody>
          <a:bodyPr wrap="square" anchor="t">
            <a:spAutoFit/>
          </a:bodyPr>
          <a:lstStyle/>
          <a:p>
            <a:pPr algn="l">
              <a:spcAft>
                <a:spcPts val="200"/>
              </a:spcAft>
            </a:pPr>
            <a:r>
              <a:rPr sz="1200" b="1">
                <a:solidFill>
                  <a:srgbClr val="7C3AED"/>
                </a:solidFill>
                <a:latin typeface="Calibri"/>
              </a:rPr>
              <a:t>EN CHIFFRES</a:t>
            </a:r>
          </a:p>
          <a:p>
            <a:pPr algn="l">
              <a:spcBef>
                <a:spcPts val="800"/>
              </a:spcBef>
              <a:spcAft>
                <a:spcPts val="200"/>
              </a:spcAft>
            </a:pPr>
            <a:r>
              <a:rPr sz="4400" b="1">
                <a:solidFill>
                  <a:srgbClr val="4361EE"/>
                </a:solidFill>
                <a:latin typeface="Calibri"/>
              </a:rPr>
              <a:t>42</a:t>
            </a:r>
          </a:p>
          <a:p>
            <a:pPr algn="l">
              <a:spcAft>
                <a:spcPts val="200"/>
              </a:spcAft>
            </a:pPr>
            <a:r>
              <a:rPr sz="1400" b="0">
                <a:solidFill>
                  <a:srgbClr val="64748B"/>
                </a:solidFill>
                <a:latin typeface="Calibri"/>
              </a:rPr>
              <a:t>dalles LED RVB</a:t>
            </a:r>
          </a:p>
          <a:p>
            <a:pPr algn="l">
              <a:spcBef>
                <a:spcPts val="1000"/>
              </a:spcBef>
              <a:spcAft>
                <a:spcPts val="200"/>
              </a:spcAft>
            </a:pPr>
            <a:r>
              <a:rPr sz="3000" b="1">
                <a:solidFill>
                  <a:srgbClr val="7C3AED"/>
                </a:solidFill>
                <a:latin typeface="Calibri"/>
              </a:rPr>
              <a:t>6 × 7</a:t>
            </a:r>
          </a:p>
          <a:p>
            <a:pPr algn="l">
              <a:spcAft>
                <a:spcPts val="200"/>
              </a:spcAft>
            </a:pPr>
            <a:r>
              <a:rPr sz="1400" b="0">
                <a:solidFill>
                  <a:srgbClr val="64748B"/>
                </a:solidFill>
                <a:latin typeface="Calibri"/>
              </a:rPr>
              <a:t>grille de la salle</a:t>
            </a:r>
          </a:p>
          <a:p>
            <a:pPr algn="l">
              <a:spcBef>
                <a:spcPts val="1000"/>
              </a:spcBef>
              <a:spcAft>
                <a:spcPts val="200"/>
              </a:spcAft>
            </a:pPr>
            <a:r>
              <a:rPr sz="3000" b="1">
                <a:solidFill>
                  <a:srgbClr val="EC4899"/>
                </a:solidFill>
                <a:latin typeface="Calibri"/>
              </a:rPr>
              <a:t>1</a:t>
            </a:r>
          </a:p>
          <a:p>
            <a:pPr algn="l">
              <a:spcAft>
                <a:spcPts val="200"/>
              </a:spcAft>
            </a:pPr>
            <a:r>
              <a:rPr sz="1400" b="0">
                <a:solidFill>
                  <a:srgbClr val="64748B"/>
                </a:solidFill>
                <a:latin typeface="Calibri"/>
              </a:rPr>
              <a:t>Raspberry Pi (autonome)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2</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LE BESOIN</a:t>
            </a:r>
          </a:p>
          <a:p>
            <a:pPr algn="l">
              <a:spcAft>
                <a:spcPts val="200"/>
              </a:spcAft>
            </a:pPr>
            <a:r>
              <a:rPr sz="2600" b="1">
                <a:solidFill>
                  <a:srgbClr val="FFFFFF"/>
                </a:solidFill>
                <a:latin typeface="Calibri"/>
              </a:rPr>
              <a:t>Problématique &amp; objectifs</a:t>
            </a:r>
          </a:p>
        </p:txBody>
      </p:sp>
      <p:sp>
        <p:nvSpPr>
          <p:cNvPr id="7" name="Rectangle 6"/>
          <p:cNvSpPr/>
          <p:nvPr/>
        </p:nvSpPr>
        <p:spPr>
          <a:xfrm>
            <a:off x="640080" y="1554480"/>
            <a:ext cx="10881360" cy="10972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10424160" cy="914400"/>
          </a:xfrm>
          <a:prstGeom prst="rect">
            <a:avLst/>
          </a:prstGeom>
          <a:noFill/>
        </p:spPr>
        <p:txBody>
          <a:bodyPr wrap="square" anchor="t">
            <a:spAutoFit/>
          </a:bodyPr>
          <a:lstStyle/>
          <a:p>
            <a:pPr algn="l">
              <a:spcAft>
                <a:spcPts val="200"/>
              </a:spcAft>
            </a:pPr>
            <a:r>
              <a:rPr sz="1800" b="1">
                <a:solidFill>
                  <a:srgbClr val="FFFFFF"/>
                </a:solidFill>
                <a:latin typeface="Calibri"/>
              </a:rPr>
              <a:t>« Comment piloter et mesurer la lumière de 42 dalles LED, tout en proposant</a:t>
            </a:r>
          </a:p>
          <a:p>
            <a:pPr algn="l">
              <a:spcBef>
                <a:spcPts val="200"/>
              </a:spcBef>
              <a:spcAft>
                <a:spcPts val="200"/>
              </a:spcAft>
            </a:pPr>
            <a:r>
              <a:rPr sz="1800" b="1">
                <a:solidFill>
                  <a:srgbClr val="FFFFFF"/>
                </a:solidFill>
                <a:latin typeface="Calibri"/>
              </a:rPr>
              <a:t>des jeux éducatifs créables facilement, sur un système autonome et hors-ligne ? »</a:t>
            </a:r>
          </a:p>
        </p:txBody>
      </p:sp>
      <p:sp>
        <p:nvSpPr>
          <p:cNvPr id="9" name="TextBox 8"/>
          <p:cNvSpPr txBox="1"/>
          <p:nvPr/>
        </p:nvSpPr>
        <p:spPr>
          <a:xfrm>
            <a:off x="640080" y="3017520"/>
            <a:ext cx="10881360" cy="3291840"/>
          </a:xfrm>
          <a:prstGeom prst="rect">
            <a:avLst/>
          </a:prstGeom>
          <a:noFill/>
        </p:spPr>
        <p:txBody>
          <a:bodyPr wrap="square">
            <a:spAutoFit/>
          </a:bodyPr>
          <a:lstStyle/>
          <a:p>
            <a:pPr>
              <a:spcAft>
                <a:spcPts val="1500"/>
              </a:spcAft>
            </a:pPr>
            <a:r>
              <a:rPr sz="1800" b="0">
                <a:solidFill>
                  <a:srgbClr val="334155"/>
                </a:solidFill>
                <a:latin typeface="Calibri"/>
              </a:rPr>
              <a:t>▸ Objectif 1 — Piloter les dalles en temps réel (couleur, intensité) via le réseau</a:t>
            </a:r>
          </a:p>
          <a:p>
            <a:pPr>
              <a:spcAft>
                <a:spcPts val="1500"/>
              </a:spcAft>
            </a:pPr>
            <a:r>
              <a:rPr sz="1800" b="0">
                <a:solidFill>
                  <a:srgbClr val="334155"/>
                </a:solidFill>
                <a:latin typeface="Calibri"/>
              </a:rPr>
              <a:t>▸ Objectif 2 — Mesurer réellement la lumière émise (colorimètre Konica CS-160)</a:t>
            </a:r>
          </a:p>
          <a:p>
            <a:pPr>
              <a:spcAft>
                <a:spcPts val="1500"/>
              </a:spcAft>
            </a:pPr>
            <a:r>
              <a:rPr sz="1800" b="0">
                <a:solidFill>
                  <a:srgbClr val="334155"/>
                </a:solidFill>
                <a:latin typeface="Calibri"/>
              </a:rPr>
              <a:t>▸ Objectif 3 — Offrir des jeux + un éditeur permettant d'en créer SANS coder</a:t>
            </a:r>
          </a:p>
          <a:p>
            <a:pPr>
              <a:spcAft>
                <a:spcPts val="1500"/>
              </a:spcAft>
            </a:pPr>
            <a:r>
              <a:rPr sz="1800" b="0">
                <a:solidFill>
                  <a:srgbClr val="334155"/>
                </a:solidFill>
                <a:latin typeface="Calibri"/>
              </a:rPr>
              <a:t>▸ Objectif 4 — Fonctionner 100 % en local sur Raspberry Pi (pas de cloud obligatoire)</a:t>
            </a:r>
          </a:p>
          <a:p>
            <a:pPr>
              <a:spcAft>
                <a:spcPts val="1500"/>
              </a:spcAft>
            </a:pPr>
            <a:r>
              <a:rPr sz="1800" b="0">
                <a:solidFill>
                  <a:srgbClr val="334155"/>
                </a:solidFill>
                <a:latin typeface="Calibri"/>
              </a:rPr>
              <a:t>▸ Objectif 5 — Multijoueur (chaque joueur pilote une dalle depuis son téléphone)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3</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CADRE TECHNIQUE</a:t>
            </a:r>
          </a:p>
          <a:p>
            <a:pPr algn="l">
              <a:spcAft>
                <a:spcPts val="200"/>
              </a:spcAft>
            </a:pPr>
            <a:r>
              <a:rPr sz="2600" b="1">
                <a:solidFill>
                  <a:srgbClr val="FFFFFF"/>
                </a:solidFill>
                <a:latin typeface="Calibri"/>
              </a:rPr>
              <a:t>Cahier des charges &amp; contraintes</a:t>
            </a:r>
          </a:p>
        </p:txBody>
      </p:sp>
      <p:sp>
        <p:nvSpPr>
          <p:cNvPr id="7" name="TextBox 6"/>
          <p:cNvSpPr txBox="1"/>
          <p:nvPr/>
        </p:nvSpPr>
        <p:spPr>
          <a:xfrm>
            <a:off x="640080" y="1463040"/>
            <a:ext cx="5486400" cy="457200"/>
          </a:xfrm>
          <a:prstGeom prst="rect">
            <a:avLst/>
          </a:prstGeom>
          <a:noFill/>
        </p:spPr>
        <p:txBody>
          <a:bodyPr wrap="square" anchor="t">
            <a:spAutoFit/>
          </a:bodyPr>
          <a:lstStyle/>
          <a:p>
            <a:pPr algn="l">
              <a:spcAft>
                <a:spcPts val="200"/>
              </a:spcAft>
            </a:pPr>
            <a:r>
              <a:rPr sz="1800" b="1">
                <a:solidFill>
                  <a:srgbClr val="7C3AED"/>
                </a:solidFill>
                <a:latin typeface="Calibri"/>
              </a:rPr>
              <a:t>Exigences fonctionnelles</a:t>
            </a:r>
          </a:p>
        </p:txBody>
      </p:sp>
      <p:sp>
        <p:nvSpPr>
          <p:cNvPr id="8" name="TextBox 7"/>
          <p:cNvSpPr txBox="1"/>
          <p:nvPr/>
        </p:nvSpPr>
        <p:spPr>
          <a:xfrm>
            <a:off x="640080" y="1965960"/>
            <a:ext cx="5486400" cy="4206240"/>
          </a:xfrm>
          <a:prstGeom prst="rect">
            <a:avLst/>
          </a:prstGeom>
          <a:noFill/>
        </p:spPr>
        <p:txBody>
          <a:bodyPr wrap="square">
            <a:spAutoFit/>
          </a:bodyPr>
          <a:lstStyle/>
          <a:p>
            <a:pPr>
              <a:spcAft>
                <a:spcPts val="1200"/>
              </a:spcAft>
            </a:pPr>
            <a:r>
              <a:rPr sz="1600" b="0">
                <a:solidFill>
                  <a:srgbClr val="334155"/>
                </a:solidFill>
                <a:latin typeface="Calibri"/>
              </a:rPr>
              <a:t>▸ Jeux jouables sur les dalles + tablette</a:t>
            </a:r>
          </a:p>
          <a:p>
            <a:pPr>
              <a:spcAft>
                <a:spcPts val="1200"/>
              </a:spcAft>
            </a:pPr>
            <a:r>
              <a:rPr sz="1600" b="0">
                <a:solidFill>
                  <a:srgbClr val="334155"/>
                </a:solidFill>
                <a:latin typeface="Calibri"/>
              </a:rPr>
              <a:t>▸ Éditeur de jeux low-code (blocs) + code Python/JS</a:t>
            </a:r>
          </a:p>
          <a:p>
            <a:pPr>
              <a:spcAft>
                <a:spcPts val="1200"/>
              </a:spcAft>
            </a:pPr>
            <a:r>
              <a:rPr sz="1600" b="0">
                <a:solidFill>
                  <a:srgbClr val="334155"/>
                </a:solidFill>
                <a:latin typeface="Calibri"/>
              </a:rPr>
              <a:t>▸ Mode multijoueur en réseau local</a:t>
            </a:r>
          </a:p>
          <a:p>
            <a:pPr>
              <a:spcAft>
                <a:spcPts val="1200"/>
              </a:spcAft>
            </a:pPr>
            <a:r>
              <a:rPr sz="1600" b="0">
                <a:solidFill>
                  <a:srgbClr val="334155"/>
                </a:solidFill>
                <a:latin typeface="Calibri"/>
              </a:rPr>
              <a:t>▸ Mesure colorimétrique et diagramme CIE</a:t>
            </a:r>
          </a:p>
          <a:p>
            <a:pPr>
              <a:spcAft>
                <a:spcPts val="1200"/>
              </a:spcAft>
            </a:pPr>
            <a:r>
              <a:rPr sz="1600" b="0">
                <a:solidFill>
                  <a:srgbClr val="334155"/>
                </a:solidFill>
                <a:latin typeface="Calibri"/>
              </a:rPr>
              <a:t>▸ Interface d'administration (comptes, classes)</a:t>
            </a:r>
          </a:p>
        </p:txBody>
      </p:sp>
      <p:sp>
        <p:nvSpPr>
          <p:cNvPr id="9" name="TextBox 8"/>
          <p:cNvSpPr txBox="1"/>
          <p:nvPr/>
        </p:nvSpPr>
        <p:spPr>
          <a:xfrm>
            <a:off x="6309360" y="1463040"/>
            <a:ext cx="5486400" cy="457200"/>
          </a:xfrm>
          <a:prstGeom prst="rect">
            <a:avLst/>
          </a:prstGeom>
          <a:noFill/>
        </p:spPr>
        <p:txBody>
          <a:bodyPr wrap="square" anchor="t">
            <a:spAutoFit/>
          </a:bodyPr>
          <a:lstStyle/>
          <a:p>
            <a:pPr algn="l">
              <a:spcAft>
                <a:spcPts val="200"/>
              </a:spcAft>
            </a:pPr>
            <a:r>
              <a:rPr sz="1800" b="1">
                <a:solidFill>
                  <a:srgbClr val="EC4899"/>
                </a:solidFill>
                <a:latin typeface="Calibri"/>
              </a:rPr>
              <a:t>Contraintes techniques</a:t>
            </a:r>
          </a:p>
        </p:txBody>
      </p:sp>
      <p:sp>
        <p:nvSpPr>
          <p:cNvPr id="10" name="TextBox 9"/>
          <p:cNvSpPr txBox="1"/>
          <p:nvPr/>
        </p:nvSpPr>
        <p:spPr>
          <a:xfrm>
            <a:off x="6309360" y="1965960"/>
            <a:ext cx="5394960" cy="4206240"/>
          </a:xfrm>
          <a:prstGeom prst="rect">
            <a:avLst/>
          </a:prstGeom>
          <a:noFill/>
        </p:spPr>
        <p:txBody>
          <a:bodyPr wrap="square">
            <a:spAutoFit/>
          </a:bodyPr>
          <a:lstStyle/>
          <a:p>
            <a:pPr>
              <a:spcAft>
                <a:spcPts val="1200"/>
              </a:spcAft>
            </a:pPr>
            <a:r>
              <a:rPr sz="1600" b="0">
                <a:solidFill>
                  <a:srgbClr val="334155"/>
                </a:solidFill>
                <a:latin typeface="Calibri"/>
              </a:rPr>
              <a:t>▸ Cible : Raspberry Pi (ressources limitées)</a:t>
            </a:r>
          </a:p>
          <a:p>
            <a:pPr>
              <a:spcAft>
                <a:spcPts val="1200"/>
              </a:spcAft>
            </a:pPr>
            <a:r>
              <a:rPr sz="1600" b="0">
                <a:solidFill>
                  <a:srgbClr val="334155"/>
                </a:solidFill>
                <a:latin typeface="Calibri"/>
              </a:rPr>
              <a:t>▸ Fonctionnement hors-ligne possible</a:t>
            </a:r>
          </a:p>
          <a:p>
            <a:pPr>
              <a:spcAft>
                <a:spcPts val="1200"/>
              </a:spcAft>
            </a:pPr>
            <a:r>
              <a:rPr sz="1600" b="0">
                <a:solidFill>
                  <a:srgbClr val="334155"/>
                </a:solidFill>
                <a:latin typeface="Calibri"/>
              </a:rPr>
              <a:t>▸ API « Supervision » imposée pour les dalles</a:t>
            </a:r>
          </a:p>
          <a:p>
            <a:pPr>
              <a:spcAft>
                <a:spcPts val="1200"/>
              </a:spcAft>
            </a:pPr>
            <a:r>
              <a:rPr sz="1600" b="0">
                <a:solidFill>
                  <a:srgbClr val="334155"/>
                </a:solidFill>
                <a:latin typeface="Calibri"/>
              </a:rPr>
              <a:t>▸ Colorimètre Konica Minolta CS-160 (SDK)</a:t>
            </a:r>
          </a:p>
          <a:p>
            <a:pPr>
              <a:spcAft>
                <a:spcPts val="1200"/>
              </a:spcAft>
            </a:pPr>
            <a:r>
              <a:rPr sz="1600" b="0">
                <a:solidFill>
                  <a:srgbClr val="334155"/>
                </a:solidFill>
                <a:latin typeface="Calibri"/>
              </a:rPr>
              <a:t>▸ Déploiement reproductible et maintenable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4</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VUE D'ENSEMBLE</a:t>
            </a:r>
          </a:p>
          <a:p>
            <a:pPr algn="l">
              <a:spcAft>
                <a:spcPts val="200"/>
              </a:spcAft>
            </a:pPr>
            <a:r>
              <a:rPr sz="2600" b="1">
                <a:solidFill>
                  <a:srgbClr val="FFFFFF"/>
                </a:solidFill>
                <a:latin typeface="Calibri"/>
              </a:rPr>
              <a:t>Architecture générale</a:t>
            </a:r>
          </a:p>
        </p:txBody>
      </p:sp>
      <p:sp>
        <p:nvSpPr>
          <p:cNvPr id="7" name="Rounded Rectangle 6"/>
          <p:cNvSpPr/>
          <p:nvPr/>
        </p:nvSpPr>
        <p:spPr>
          <a:xfrm>
            <a:off x="548640" y="2194560"/>
            <a:ext cx="2377440" cy="1280160"/>
          </a:xfrm>
          <a:prstGeom prst="roundRect">
            <a:avLst/>
          </a:prstGeom>
          <a:solidFill>
            <a:srgbClr val="4361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Tablette / PC</a:t>
            </a:r>
          </a:p>
          <a:p>
            <a:pPr algn="ctr"/>
            <a:r>
              <a:rPr sz="1000">
                <a:solidFill>
                  <a:srgbClr val="E2E8F0"/>
                </a:solidFill>
              </a:rPr>
              <a:t>Navigateur (UI)</a:t>
            </a:r>
          </a:p>
        </p:txBody>
      </p:sp>
      <p:sp>
        <p:nvSpPr>
          <p:cNvPr id="8" name="Right Arrow 7"/>
          <p:cNvSpPr/>
          <p:nvPr/>
        </p:nvSpPr>
        <p:spPr>
          <a:xfrm>
            <a:off x="3017520" y="2606040"/>
            <a:ext cx="640080" cy="45720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49039" y="2194560"/>
            <a:ext cx="2743200" cy="12801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App ColorRoom</a:t>
            </a:r>
          </a:p>
          <a:p>
            <a:pPr algn="ctr"/>
            <a:r>
              <a:rPr sz="1000">
                <a:solidFill>
                  <a:srgbClr val="E2E8F0"/>
                </a:solidFill>
              </a:rPr>
              <a:t>Next.js · Docker · Pi</a:t>
            </a:r>
          </a:p>
        </p:txBody>
      </p:sp>
      <p:sp>
        <p:nvSpPr>
          <p:cNvPr id="10" name="Right Arrow 9"/>
          <p:cNvSpPr/>
          <p:nvPr/>
        </p:nvSpPr>
        <p:spPr>
          <a:xfrm>
            <a:off x="6583680" y="2606040"/>
            <a:ext cx="640080" cy="45720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0" y="2194560"/>
            <a:ext cx="2194560" cy="1280160"/>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API Supervision</a:t>
            </a:r>
          </a:p>
          <a:p>
            <a:pPr algn="ctr"/>
            <a:r>
              <a:rPr sz="1000">
                <a:solidFill>
                  <a:srgbClr val="E2E8F0"/>
                </a:solidFill>
              </a:rPr>
              <a:t>HTTP local</a:t>
            </a:r>
          </a:p>
        </p:txBody>
      </p:sp>
      <p:sp>
        <p:nvSpPr>
          <p:cNvPr id="12" name="Right Arrow 11"/>
          <p:cNvSpPr/>
          <p:nvPr/>
        </p:nvSpPr>
        <p:spPr>
          <a:xfrm>
            <a:off x="9601200" y="2606040"/>
            <a:ext cx="640080" cy="457200"/>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332720" y="2194560"/>
            <a:ext cx="1371600" cy="1280160"/>
          </a:xfrm>
          <a:prstGeom prst="round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42 dalles</a:t>
            </a:r>
          </a:p>
          <a:p>
            <a:pPr algn="ctr"/>
            <a:r>
              <a:rPr sz="1000">
                <a:solidFill>
                  <a:srgbClr val="E2E8F0"/>
                </a:solidFill>
              </a:rPr>
              <a:t>LED RVB</a:t>
            </a:r>
          </a:p>
        </p:txBody>
      </p:sp>
      <p:sp>
        <p:nvSpPr>
          <p:cNvPr id="14" name="Rounded Rectangle 13"/>
          <p:cNvSpPr/>
          <p:nvPr/>
        </p:nvSpPr>
        <p:spPr>
          <a:xfrm>
            <a:off x="3749039" y="4023360"/>
            <a:ext cx="2743200" cy="1005840"/>
          </a:xfrm>
          <a:prstGeom prst="round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IA</a:t>
            </a:r>
          </a:p>
          <a:p>
            <a:pPr algn="ctr"/>
            <a:r>
              <a:rPr sz="1000">
                <a:solidFill>
                  <a:srgbClr val="E2E8F0"/>
                </a:solidFill>
              </a:rPr>
              <a:t>Gemini ↔ Ollama</a:t>
            </a:r>
          </a:p>
        </p:txBody>
      </p:sp>
      <p:sp>
        <p:nvSpPr>
          <p:cNvPr id="15" name="Rounded Rectangle 14"/>
          <p:cNvSpPr/>
          <p:nvPr/>
        </p:nvSpPr>
        <p:spPr>
          <a:xfrm>
            <a:off x="548640" y="4023360"/>
            <a:ext cx="2377440" cy="10058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SQLite</a:t>
            </a:r>
          </a:p>
          <a:p>
            <a:pPr algn="ctr"/>
            <a:r>
              <a:rPr sz="1000">
                <a:solidFill>
                  <a:srgbClr val="E2E8F0"/>
                </a:solidFill>
              </a:rPr>
              <a:t>jeux · scores · users</a:t>
            </a:r>
          </a:p>
        </p:txBody>
      </p:sp>
      <p:sp>
        <p:nvSpPr>
          <p:cNvPr id="16" name="Rounded Rectangle 15"/>
          <p:cNvSpPr/>
          <p:nvPr/>
        </p:nvSpPr>
        <p:spPr>
          <a:xfrm>
            <a:off x="7315200" y="4023360"/>
            <a:ext cx="2194560" cy="1005840"/>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CS-160</a:t>
            </a:r>
          </a:p>
          <a:p>
            <a:pPr algn="ctr"/>
            <a:r>
              <a:rPr sz="1000">
                <a:solidFill>
                  <a:srgbClr val="E2E8F0"/>
                </a:solidFill>
              </a:rPr>
              <a:t>colorimètre (USB)</a:t>
            </a:r>
          </a:p>
        </p:txBody>
      </p:sp>
      <p:sp>
        <p:nvSpPr>
          <p:cNvPr id="17" name="TextBox 16"/>
          <p:cNvSpPr txBox="1"/>
          <p:nvPr/>
        </p:nvSpPr>
        <p:spPr>
          <a:xfrm>
            <a:off x="548640" y="5303520"/>
            <a:ext cx="10972800" cy="914400"/>
          </a:xfrm>
          <a:prstGeom prst="rect">
            <a:avLst/>
          </a:prstGeom>
          <a:noFill/>
        </p:spPr>
        <p:txBody>
          <a:bodyPr wrap="square" anchor="t">
            <a:spAutoFit/>
          </a:bodyPr>
          <a:lstStyle/>
          <a:p>
            <a:pPr algn="l">
              <a:spcAft>
                <a:spcPts val="200"/>
              </a:spcAft>
            </a:pPr>
            <a:r>
              <a:rPr sz="1400" b="0">
                <a:solidFill>
                  <a:srgbClr val="64748B"/>
                </a:solidFill>
                <a:latin typeface="Calibri"/>
              </a:rPr>
              <a:t>Tout est conteneurisé (Docker Compose) et tourne en local sur le Raspberry Pi — l'IA cloud (Gemini) n'est qu'une option, le local (Ollama) prend le relais hors-ligne.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5</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POURQUOI CES OUTILS</a:t>
            </a:r>
          </a:p>
          <a:p>
            <a:pPr algn="l">
              <a:spcAft>
                <a:spcPts val="200"/>
              </a:spcAft>
            </a:pPr>
            <a:r>
              <a:rPr sz="2600" b="1">
                <a:solidFill>
                  <a:srgbClr val="FFFFFF"/>
                </a:solidFill>
                <a:latin typeface="Calibri"/>
              </a:rPr>
              <a:t>Choix techniques justifiés</a:t>
            </a:r>
          </a:p>
        </p:txBody>
      </p:sp>
      <p:sp>
        <p:nvSpPr>
          <p:cNvPr id="7" name="Rectangle 6"/>
          <p:cNvSpPr/>
          <p:nvPr/>
        </p:nvSpPr>
        <p:spPr>
          <a:xfrm>
            <a:off x="640080" y="1554480"/>
            <a:ext cx="1088136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94480"/>
            <a:ext cx="3840480" cy="731520"/>
          </a:xfrm>
          <a:prstGeom prst="rect">
            <a:avLst/>
          </a:prstGeom>
          <a:noFill/>
        </p:spPr>
        <p:txBody>
          <a:bodyPr wrap="square" anchor="ctr">
            <a:spAutoFit/>
          </a:bodyPr>
          <a:lstStyle/>
          <a:p>
            <a:pPr algn="l">
              <a:spcAft>
                <a:spcPts val="200"/>
              </a:spcAft>
            </a:pPr>
            <a:r>
              <a:rPr sz="1600" b="1">
                <a:solidFill>
                  <a:srgbClr val="7C3AED"/>
                </a:solidFill>
                <a:latin typeface="Calibri"/>
              </a:rPr>
              <a:t>Next.js / React + TypeScript</a:t>
            </a:r>
          </a:p>
        </p:txBody>
      </p:sp>
      <p:sp>
        <p:nvSpPr>
          <p:cNvPr id="9" name="TextBox 8"/>
          <p:cNvSpPr txBox="1"/>
          <p:nvPr/>
        </p:nvSpPr>
        <p:spPr>
          <a:xfrm>
            <a:off x="4754880" y="1594480"/>
            <a:ext cx="6583680" cy="731520"/>
          </a:xfrm>
          <a:prstGeom prst="rect">
            <a:avLst/>
          </a:prstGeom>
          <a:noFill/>
        </p:spPr>
        <p:txBody>
          <a:bodyPr wrap="square" anchor="ctr">
            <a:spAutoFit/>
          </a:bodyPr>
          <a:lstStyle/>
          <a:p>
            <a:pPr algn="l">
              <a:spcAft>
                <a:spcPts val="200"/>
              </a:spcAft>
            </a:pPr>
            <a:r>
              <a:rPr sz="1500" b="0">
                <a:solidFill>
                  <a:srgbClr val="334155"/>
                </a:solidFill>
                <a:latin typeface="Calibri"/>
              </a:rPr>
              <a:t>Front + back dans un seul projet, typage strict = moins de bugs</a:t>
            </a:r>
          </a:p>
        </p:txBody>
      </p:sp>
      <p:sp>
        <p:nvSpPr>
          <p:cNvPr id="10" name="Rectangle 9"/>
          <p:cNvSpPr/>
          <p:nvPr/>
        </p:nvSpPr>
        <p:spPr>
          <a:xfrm>
            <a:off x="640080" y="2395728"/>
            <a:ext cx="10881360" cy="786384"/>
          </a:xfrm>
          <a:prstGeom prst="rect">
            <a:avLst/>
          </a:prstGeom>
          <a:solidFill>
            <a:srgbClr val="E9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35728"/>
            <a:ext cx="3840480" cy="731520"/>
          </a:xfrm>
          <a:prstGeom prst="rect">
            <a:avLst/>
          </a:prstGeom>
          <a:noFill/>
        </p:spPr>
        <p:txBody>
          <a:bodyPr wrap="square" anchor="ctr">
            <a:spAutoFit/>
          </a:bodyPr>
          <a:lstStyle/>
          <a:p>
            <a:pPr algn="l">
              <a:spcAft>
                <a:spcPts val="200"/>
              </a:spcAft>
            </a:pPr>
            <a:r>
              <a:rPr sz="1600" b="1">
                <a:solidFill>
                  <a:srgbClr val="7C3AED"/>
                </a:solidFill>
                <a:latin typeface="Calibri"/>
              </a:rPr>
              <a:t>SQLite (better-sqlite3)</a:t>
            </a:r>
          </a:p>
        </p:txBody>
      </p:sp>
      <p:sp>
        <p:nvSpPr>
          <p:cNvPr id="12" name="TextBox 11"/>
          <p:cNvSpPr txBox="1"/>
          <p:nvPr/>
        </p:nvSpPr>
        <p:spPr>
          <a:xfrm>
            <a:off x="4754880" y="2435728"/>
            <a:ext cx="6583680" cy="731520"/>
          </a:xfrm>
          <a:prstGeom prst="rect">
            <a:avLst/>
          </a:prstGeom>
          <a:noFill/>
        </p:spPr>
        <p:txBody>
          <a:bodyPr wrap="square" anchor="ctr">
            <a:spAutoFit/>
          </a:bodyPr>
          <a:lstStyle/>
          <a:p>
            <a:pPr algn="l">
              <a:spcAft>
                <a:spcPts val="200"/>
              </a:spcAft>
            </a:pPr>
            <a:r>
              <a:rPr sz="1500" b="0">
                <a:solidFill>
                  <a:srgbClr val="334155"/>
                </a:solidFill>
                <a:latin typeface="Calibri"/>
              </a:rPr>
              <a:t>Base embarquée, zéro serveur à installer — parfait sur Pi</a:t>
            </a:r>
          </a:p>
        </p:txBody>
      </p:sp>
      <p:sp>
        <p:nvSpPr>
          <p:cNvPr id="13" name="Rectangle 12"/>
          <p:cNvSpPr/>
          <p:nvPr/>
        </p:nvSpPr>
        <p:spPr>
          <a:xfrm>
            <a:off x="640080" y="3236976"/>
            <a:ext cx="1088136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276976"/>
            <a:ext cx="3840480" cy="731520"/>
          </a:xfrm>
          <a:prstGeom prst="rect">
            <a:avLst/>
          </a:prstGeom>
          <a:noFill/>
        </p:spPr>
        <p:txBody>
          <a:bodyPr wrap="square" anchor="ctr">
            <a:spAutoFit/>
          </a:bodyPr>
          <a:lstStyle/>
          <a:p>
            <a:pPr algn="l">
              <a:spcAft>
                <a:spcPts val="200"/>
              </a:spcAft>
            </a:pPr>
            <a:r>
              <a:rPr sz="1600" b="1">
                <a:solidFill>
                  <a:srgbClr val="7C3AED"/>
                </a:solidFill>
                <a:latin typeface="Calibri"/>
              </a:rPr>
              <a:t>Docker Compose</a:t>
            </a:r>
          </a:p>
        </p:txBody>
      </p:sp>
      <p:sp>
        <p:nvSpPr>
          <p:cNvPr id="15" name="TextBox 14"/>
          <p:cNvSpPr txBox="1"/>
          <p:nvPr/>
        </p:nvSpPr>
        <p:spPr>
          <a:xfrm>
            <a:off x="4754880" y="3276976"/>
            <a:ext cx="6583680" cy="731520"/>
          </a:xfrm>
          <a:prstGeom prst="rect">
            <a:avLst/>
          </a:prstGeom>
          <a:noFill/>
        </p:spPr>
        <p:txBody>
          <a:bodyPr wrap="square" anchor="ctr">
            <a:spAutoFit/>
          </a:bodyPr>
          <a:lstStyle/>
          <a:p>
            <a:pPr algn="l">
              <a:spcAft>
                <a:spcPts val="200"/>
              </a:spcAft>
            </a:pPr>
            <a:r>
              <a:rPr sz="1500" b="0">
                <a:solidFill>
                  <a:srgbClr val="334155"/>
                </a:solidFill>
                <a:latin typeface="Calibri"/>
              </a:rPr>
              <a:t>Déploiement reproductible : 1 commande lance toute la stack</a:t>
            </a:r>
          </a:p>
        </p:txBody>
      </p:sp>
      <p:sp>
        <p:nvSpPr>
          <p:cNvPr id="16" name="Rectangle 15"/>
          <p:cNvSpPr/>
          <p:nvPr/>
        </p:nvSpPr>
        <p:spPr>
          <a:xfrm>
            <a:off x="640080" y="4078224"/>
            <a:ext cx="10881360" cy="786384"/>
          </a:xfrm>
          <a:prstGeom prst="rect">
            <a:avLst/>
          </a:prstGeom>
          <a:solidFill>
            <a:srgbClr val="E9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118224"/>
            <a:ext cx="3840480" cy="731520"/>
          </a:xfrm>
          <a:prstGeom prst="rect">
            <a:avLst/>
          </a:prstGeom>
          <a:noFill/>
        </p:spPr>
        <p:txBody>
          <a:bodyPr wrap="square" anchor="ctr">
            <a:spAutoFit/>
          </a:bodyPr>
          <a:lstStyle/>
          <a:p>
            <a:pPr algn="l">
              <a:spcAft>
                <a:spcPts val="200"/>
              </a:spcAft>
            </a:pPr>
            <a:r>
              <a:rPr sz="1600" b="1">
                <a:solidFill>
                  <a:srgbClr val="7C3AED"/>
                </a:solidFill>
                <a:latin typeface="Calibri"/>
              </a:rPr>
              <a:t>Three.js</a:t>
            </a:r>
          </a:p>
        </p:txBody>
      </p:sp>
      <p:sp>
        <p:nvSpPr>
          <p:cNvPr id="18" name="TextBox 17"/>
          <p:cNvSpPr txBox="1"/>
          <p:nvPr/>
        </p:nvSpPr>
        <p:spPr>
          <a:xfrm>
            <a:off x="4754880" y="4118224"/>
            <a:ext cx="6583680" cy="731520"/>
          </a:xfrm>
          <a:prstGeom prst="rect">
            <a:avLst/>
          </a:prstGeom>
          <a:noFill/>
        </p:spPr>
        <p:txBody>
          <a:bodyPr wrap="square" anchor="ctr">
            <a:spAutoFit/>
          </a:bodyPr>
          <a:lstStyle/>
          <a:p>
            <a:pPr algn="l">
              <a:spcAft>
                <a:spcPts val="200"/>
              </a:spcAft>
            </a:pPr>
            <a:r>
              <a:rPr sz="1500" b="0">
                <a:solidFill>
                  <a:srgbClr val="334155"/>
                </a:solidFill>
                <a:latin typeface="Calibri"/>
              </a:rPr>
              <a:t>Vue 3D de la salle en temps réel dans le navigateur</a:t>
            </a:r>
          </a:p>
        </p:txBody>
      </p:sp>
      <p:sp>
        <p:nvSpPr>
          <p:cNvPr id="19" name="Rectangle 18"/>
          <p:cNvSpPr/>
          <p:nvPr/>
        </p:nvSpPr>
        <p:spPr>
          <a:xfrm>
            <a:off x="640080" y="4919472"/>
            <a:ext cx="1088136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959472"/>
            <a:ext cx="3840480" cy="731520"/>
          </a:xfrm>
          <a:prstGeom prst="rect">
            <a:avLst/>
          </a:prstGeom>
          <a:noFill/>
        </p:spPr>
        <p:txBody>
          <a:bodyPr wrap="square" anchor="ctr">
            <a:spAutoFit/>
          </a:bodyPr>
          <a:lstStyle/>
          <a:p>
            <a:pPr algn="l">
              <a:spcAft>
                <a:spcPts val="200"/>
              </a:spcAft>
            </a:pPr>
            <a:r>
              <a:rPr sz="1600" b="1">
                <a:solidFill>
                  <a:srgbClr val="7C3AED"/>
                </a:solidFill>
                <a:latin typeface="Calibri"/>
              </a:rPr>
              <a:t>Ollama (IA locale)</a:t>
            </a:r>
          </a:p>
        </p:txBody>
      </p:sp>
      <p:sp>
        <p:nvSpPr>
          <p:cNvPr id="21" name="TextBox 20"/>
          <p:cNvSpPr txBox="1"/>
          <p:nvPr/>
        </p:nvSpPr>
        <p:spPr>
          <a:xfrm>
            <a:off x="4754880" y="4959472"/>
            <a:ext cx="6583680" cy="731520"/>
          </a:xfrm>
          <a:prstGeom prst="rect">
            <a:avLst/>
          </a:prstGeom>
          <a:noFill/>
        </p:spPr>
        <p:txBody>
          <a:bodyPr wrap="square" anchor="ctr">
            <a:spAutoFit/>
          </a:bodyPr>
          <a:lstStyle/>
          <a:p>
            <a:pPr algn="l">
              <a:spcAft>
                <a:spcPts val="200"/>
              </a:spcAft>
            </a:pPr>
            <a:r>
              <a:rPr sz="1500" b="0">
                <a:solidFill>
                  <a:srgbClr val="334155"/>
                </a:solidFill>
                <a:latin typeface="Calibri"/>
              </a:rPr>
              <a:t>Génération de jeux 100 % hors-ligne, données privées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5</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JUSTIFICATION DU CHOIX (vs JS pur + Node-RED)</a:t>
            </a:r>
          </a:p>
          <a:p>
            <a:pPr algn="l">
              <a:spcAft>
                <a:spcPts val="200"/>
              </a:spcAft>
            </a:pPr>
            <a:r>
              <a:rPr sz="2600" b="1">
                <a:solidFill>
                  <a:srgbClr val="FFFFFF"/>
                </a:solidFill>
                <a:latin typeface="Calibri"/>
              </a:rPr>
              <a:t>Pourquoi React / Next.js / Node.js / TypeScript ?</a:t>
            </a:r>
          </a:p>
        </p:txBody>
      </p:sp>
      <p:sp>
        <p:nvSpPr>
          <p:cNvPr id="7" name="Rectangle 6"/>
          <p:cNvSpPr/>
          <p:nvPr/>
        </p:nvSpPr>
        <p:spPr>
          <a:xfrm>
            <a:off x="640080" y="1508760"/>
            <a:ext cx="5349240" cy="548640"/>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72768"/>
            <a:ext cx="5029200" cy="457200"/>
          </a:xfrm>
          <a:prstGeom prst="rect">
            <a:avLst/>
          </a:prstGeom>
          <a:noFill/>
        </p:spPr>
        <p:txBody>
          <a:bodyPr wrap="square" anchor="t">
            <a:spAutoFit/>
          </a:bodyPr>
          <a:lstStyle/>
          <a:p>
            <a:pPr algn="l">
              <a:spcAft>
                <a:spcPts val="200"/>
              </a:spcAft>
            </a:pPr>
            <a:r>
              <a:rPr sz="1600" b="1">
                <a:solidFill>
                  <a:srgbClr val="FFFFFF"/>
                </a:solidFill>
                <a:latin typeface="Calibri"/>
              </a:rPr>
              <a:t>Approche initiale : Node-RED + JS pur</a:t>
            </a:r>
          </a:p>
        </p:txBody>
      </p:sp>
      <p:sp>
        <p:nvSpPr>
          <p:cNvPr id="9" name="TextBox 8"/>
          <p:cNvSpPr txBox="1"/>
          <p:nvPr/>
        </p:nvSpPr>
        <p:spPr>
          <a:xfrm>
            <a:off x="731520" y="2194560"/>
            <a:ext cx="5212080" cy="4023360"/>
          </a:xfrm>
          <a:prstGeom prst="rect">
            <a:avLst/>
          </a:prstGeom>
          <a:noFill/>
        </p:spPr>
        <p:txBody>
          <a:bodyPr wrap="square">
            <a:spAutoFit/>
          </a:bodyPr>
          <a:lstStyle/>
          <a:p>
            <a:pPr>
              <a:spcAft>
                <a:spcPts val="1100"/>
              </a:spcAft>
            </a:pPr>
            <a:r>
              <a:rPr sz="1400" b="0">
                <a:solidFill>
                  <a:srgbClr val="334155"/>
                </a:solidFill>
                <a:latin typeface="Calibri"/>
              </a:rPr>
              <a:t>▸ Node-RED : génial pour prototyper l'IoT, mais limité pour une vraie UI riche (3D, éditeur de jeux)</a:t>
            </a:r>
          </a:p>
          <a:p>
            <a:pPr>
              <a:spcAft>
                <a:spcPts val="1100"/>
              </a:spcAft>
            </a:pPr>
            <a:r>
              <a:rPr sz="1400" b="0">
                <a:solidFill>
                  <a:srgbClr val="334155"/>
                </a:solidFill>
                <a:latin typeface="Calibri"/>
              </a:rPr>
              <a:t>▸ Flux stockés en JSON → difficiles à versionner et à relire dans Git</a:t>
            </a:r>
          </a:p>
          <a:p>
            <a:pPr>
              <a:spcAft>
                <a:spcPts val="1100"/>
              </a:spcAft>
            </a:pPr>
            <a:r>
              <a:rPr sz="1400" b="0">
                <a:solidFill>
                  <a:srgbClr val="334155"/>
                </a:solidFill>
                <a:latin typeface="Calibri"/>
              </a:rPr>
              <a:t>▸ JS pur : aucun typage → erreurs détectées seulement à l'exécution</a:t>
            </a:r>
          </a:p>
          <a:p>
            <a:pPr>
              <a:spcAft>
                <a:spcPts val="1100"/>
              </a:spcAft>
            </a:pPr>
            <a:r>
              <a:rPr sz="1400" b="0">
                <a:solidFill>
                  <a:srgbClr val="334155"/>
                </a:solidFill>
                <a:latin typeface="Calibri"/>
              </a:rPr>
              <a:t>▸ Refactorisation risquée, autocomplétion faible sur un gros projet</a:t>
            </a:r>
          </a:p>
          <a:p>
            <a:pPr>
              <a:spcAft>
                <a:spcPts val="1100"/>
              </a:spcAft>
            </a:pPr>
            <a:r>
              <a:rPr sz="1400" b="0">
                <a:solidFill>
                  <a:srgbClr val="334155"/>
                </a:solidFill>
                <a:latin typeface="Calibri"/>
              </a:rPr>
              <a:t>▸ Montée en complexité vite ingérable (logique métier importante)</a:t>
            </a:r>
          </a:p>
        </p:txBody>
      </p:sp>
      <p:sp>
        <p:nvSpPr>
          <p:cNvPr id="10" name="Rectangle 9"/>
          <p:cNvSpPr/>
          <p:nvPr/>
        </p:nvSpPr>
        <p:spPr>
          <a:xfrm>
            <a:off x="6172200" y="1508760"/>
            <a:ext cx="5349240" cy="548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572768"/>
            <a:ext cx="5029200" cy="457200"/>
          </a:xfrm>
          <a:prstGeom prst="rect">
            <a:avLst/>
          </a:prstGeom>
          <a:noFill/>
        </p:spPr>
        <p:txBody>
          <a:bodyPr wrap="square" anchor="t">
            <a:spAutoFit/>
          </a:bodyPr>
          <a:lstStyle/>
          <a:p>
            <a:pPr algn="l">
              <a:spcAft>
                <a:spcPts val="200"/>
              </a:spcAft>
            </a:pPr>
            <a:r>
              <a:rPr sz="1600" b="1">
                <a:solidFill>
                  <a:srgbClr val="FFFFFF"/>
                </a:solidFill>
                <a:latin typeface="Calibri"/>
              </a:rPr>
              <a:t>Choix retenu : Next.js + React + Node + TS</a:t>
            </a:r>
          </a:p>
        </p:txBody>
      </p:sp>
      <p:sp>
        <p:nvSpPr>
          <p:cNvPr id="12" name="TextBox 11"/>
          <p:cNvSpPr txBox="1"/>
          <p:nvPr/>
        </p:nvSpPr>
        <p:spPr>
          <a:xfrm>
            <a:off x="6263640" y="2194560"/>
            <a:ext cx="5212080" cy="4023360"/>
          </a:xfrm>
          <a:prstGeom prst="rect">
            <a:avLst/>
          </a:prstGeom>
          <a:noFill/>
        </p:spPr>
        <p:txBody>
          <a:bodyPr wrap="square">
            <a:spAutoFit/>
          </a:bodyPr>
          <a:lstStyle/>
          <a:p>
            <a:pPr>
              <a:spcAft>
                <a:spcPts val="1100"/>
              </a:spcAft>
            </a:pPr>
            <a:r>
              <a:rPr sz="1400" b="0">
                <a:solidFill>
                  <a:srgbClr val="334155"/>
                </a:solidFill>
                <a:latin typeface="Calibri"/>
              </a:rPr>
              <a:t>▸ React : interface en composants réutilisables, idéale pour une UI complexe</a:t>
            </a:r>
          </a:p>
          <a:p>
            <a:pPr>
              <a:spcAft>
                <a:spcPts val="1100"/>
              </a:spcAft>
            </a:pPr>
            <a:r>
              <a:rPr sz="1400" b="0">
                <a:solidFill>
                  <a:srgbClr val="334155"/>
                </a:solidFill>
                <a:latin typeface="Calibri"/>
              </a:rPr>
              <a:t>▸ Next.js : front + back (routes API) dans UN seul projet, routing intégré</a:t>
            </a:r>
          </a:p>
          <a:p>
            <a:pPr>
              <a:spcAft>
                <a:spcPts val="1100"/>
              </a:spcAft>
            </a:pPr>
            <a:r>
              <a:rPr sz="1400" b="0">
                <a:solidFill>
                  <a:srgbClr val="334155"/>
                </a:solidFill>
                <a:latin typeface="Calibri"/>
              </a:rPr>
              <a:t>▸ Node.js : même langage côté serveur et navigateur (un seul écosystème)</a:t>
            </a:r>
          </a:p>
          <a:p>
            <a:pPr>
              <a:spcAft>
                <a:spcPts val="1100"/>
              </a:spcAft>
            </a:pPr>
            <a:r>
              <a:rPr sz="1400" b="0">
                <a:solidFill>
                  <a:srgbClr val="334155"/>
                </a:solidFill>
                <a:latin typeface="Calibri"/>
              </a:rPr>
              <a:t>▸ TypeScript : typage strict → bugs attrapés à la COMPILATION, refacto sûre</a:t>
            </a:r>
          </a:p>
          <a:p>
            <a:pPr>
              <a:spcAft>
                <a:spcPts val="1100"/>
              </a:spcAft>
            </a:pPr>
            <a:r>
              <a:rPr sz="1400" b="0">
                <a:solidFill>
                  <a:srgbClr val="334155"/>
                </a:solidFill>
                <a:latin typeface="Calibri"/>
              </a:rPr>
              <a:t>▸ Tout est du code texte → versionnable proprement, testable (tsc + build)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6</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DOCKER / RASPBERRY PI</a:t>
            </a:r>
          </a:p>
          <a:p>
            <a:pPr algn="l">
              <a:spcAft>
                <a:spcPts val="200"/>
              </a:spcAft>
            </a:pPr>
            <a:r>
              <a:rPr sz="2600" b="1">
                <a:solidFill>
                  <a:srgbClr val="FFFFFF"/>
                </a:solidFill>
                <a:latin typeface="Calibri"/>
              </a:rPr>
              <a:t>Réseau &amp; déploiement</a:t>
            </a:r>
          </a:p>
        </p:txBody>
      </p:sp>
      <p:sp>
        <p:nvSpPr>
          <p:cNvPr id="7" name="TextBox 6"/>
          <p:cNvSpPr txBox="1"/>
          <p:nvPr/>
        </p:nvSpPr>
        <p:spPr>
          <a:xfrm>
            <a:off x="640080" y="1554480"/>
            <a:ext cx="5852160" cy="4572000"/>
          </a:xfrm>
          <a:prstGeom prst="rect">
            <a:avLst/>
          </a:prstGeom>
          <a:noFill/>
        </p:spPr>
        <p:txBody>
          <a:bodyPr wrap="square">
            <a:spAutoFit/>
          </a:bodyPr>
          <a:lstStyle/>
          <a:p>
            <a:pPr>
              <a:spcAft>
                <a:spcPts val="1100"/>
              </a:spcAft>
            </a:pPr>
            <a:r>
              <a:rPr sz="1600" b="0">
                <a:solidFill>
                  <a:srgbClr val="334155"/>
                </a:solidFill>
                <a:latin typeface="Calibri"/>
              </a:rPr>
              <a:t>▸ Orchestration via docker-compose.yml (4 services)</a:t>
            </a:r>
          </a:p>
          <a:p>
            <a:pPr lvl="1">
              <a:spcAft>
                <a:spcPts val="1100"/>
              </a:spcAft>
            </a:pPr>
            <a:r>
              <a:rPr sz="1400" b="0">
                <a:solidFill>
                  <a:srgbClr val="64748B"/>
                </a:solidFill>
                <a:latin typeface="Calibri"/>
              </a:rPr>
              <a:t>– color-room : l'application (port 8080)</a:t>
            </a:r>
          </a:p>
          <a:p>
            <a:pPr lvl="1">
              <a:spcAft>
                <a:spcPts val="1100"/>
              </a:spcAft>
            </a:pPr>
            <a:r>
              <a:rPr sz="1400" b="0">
                <a:solidFill>
                  <a:srgbClr val="64748B"/>
                </a:solidFill>
                <a:latin typeface="Calibri"/>
              </a:rPr>
              <a:t>– ollama + ollama-pull : IA locale (port 11434)</a:t>
            </a:r>
          </a:p>
          <a:p>
            <a:pPr lvl="1">
              <a:spcAft>
                <a:spcPts val="1100"/>
              </a:spcAft>
            </a:pPr>
            <a:r>
              <a:rPr sz="1400" b="0">
                <a:solidFill>
                  <a:srgbClr val="64748B"/>
                </a:solidFill>
                <a:latin typeface="Calibri"/>
              </a:rPr>
              <a:t>– portainer : supervision des conteneurs (9000)</a:t>
            </a:r>
          </a:p>
          <a:p>
            <a:pPr>
              <a:spcAft>
                <a:spcPts val="1100"/>
              </a:spcAft>
            </a:pPr>
            <a:r>
              <a:rPr sz="1600" b="0">
                <a:solidFill>
                  <a:srgbClr val="334155"/>
                </a:solidFill>
                <a:latin typeface="Calibri"/>
              </a:rPr>
              <a:t>▸ Réseau local : tablettes/téléphones sur le même Wi-Fi</a:t>
            </a:r>
          </a:p>
          <a:p>
            <a:pPr>
              <a:spcAft>
                <a:spcPts val="1100"/>
              </a:spcAft>
            </a:pPr>
            <a:r>
              <a:rPr sz="1600" b="0">
                <a:solidFill>
                  <a:srgbClr val="334155"/>
                </a:solidFill>
                <a:latin typeface="Calibri"/>
              </a:rPr>
              <a:t>▸ Variables sensibles isolées dans un fichier .env (non versionné)</a:t>
            </a:r>
          </a:p>
          <a:p>
            <a:pPr>
              <a:spcAft>
                <a:spcPts val="1100"/>
              </a:spcAft>
            </a:pPr>
            <a:r>
              <a:rPr sz="1600" b="0">
                <a:solidFill>
                  <a:srgbClr val="334155"/>
                </a:solidFill>
                <a:latin typeface="Calibri"/>
              </a:rPr>
              <a:t>▸ Mise à jour : git pull + docker compose up -d --build</a:t>
            </a:r>
          </a:p>
        </p:txBody>
      </p:sp>
      <p:sp>
        <p:nvSpPr>
          <p:cNvPr id="8" name="Rectangle 7"/>
          <p:cNvSpPr/>
          <p:nvPr/>
        </p:nvSpPr>
        <p:spPr>
          <a:xfrm>
            <a:off x="6858000" y="1737360"/>
            <a:ext cx="4663440" cy="38404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1965960"/>
            <a:ext cx="4206240" cy="3474720"/>
          </a:xfrm>
          <a:prstGeom prst="rect">
            <a:avLst/>
          </a:prstGeom>
          <a:noFill/>
        </p:spPr>
        <p:txBody>
          <a:bodyPr wrap="square" anchor="t">
            <a:spAutoFit/>
          </a:bodyPr>
          <a:lstStyle/>
          <a:p>
            <a:pPr algn="l">
              <a:spcAft>
                <a:spcPts val="200"/>
              </a:spcAft>
            </a:pPr>
            <a:r>
              <a:rPr sz="1300" b="1">
                <a:solidFill>
                  <a:srgbClr val="06D6A0"/>
                </a:solidFill>
                <a:latin typeface="Calibri"/>
              </a:rPr>
              <a:t># déploiement sur le Pi</a:t>
            </a:r>
          </a:p>
          <a:p>
            <a:pPr algn="l">
              <a:spcBef>
                <a:spcPts val="800"/>
              </a:spcBef>
              <a:spcAft>
                <a:spcPts val="200"/>
              </a:spcAft>
            </a:pPr>
            <a:r>
              <a:rPr sz="1400" b="0">
                <a:solidFill>
                  <a:srgbClr val="FFFFFF"/>
                </a:solidFill>
                <a:latin typeface="Calibri"/>
              </a:rPr>
              <a:t>git pull origin main</a:t>
            </a:r>
          </a:p>
          <a:p>
            <a:pPr algn="l">
              <a:spcBef>
                <a:spcPts val="400"/>
              </a:spcBef>
              <a:spcAft>
                <a:spcPts val="200"/>
              </a:spcAft>
            </a:pPr>
            <a:r>
              <a:rPr sz="1400" b="0">
                <a:solidFill>
                  <a:srgbClr val="FFFFFF"/>
                </a:solidFill>
                <a:latin typeface="Calibri"/>
              </a:rPr>
              <a:t>docker compose up -d --build</a:t>
            </a:r>
          </a:p>
          <a:p>
            <a:pPr algn="l">
              <a:spcBef>
                <a:spcPts val="400"/>
              </a:spcBef>
              <a:spcAft>
                <a:spcPts val="200"/>
              </a:spcAft>
            </a:pPr>
            <a:r>
              <a:rPr sz="800" b="0">
                <a:solidFill>
                  <a:srgbClr val="FFFFFF"/>
                </a:solidFill>
                <a:latin typeface="Calibri"/>
              </a:rPr>
              <a:t/>
            </a:r>
          </a:p>
          <a:p>
            <a:pPr algn="l">
              <a:spcBef>
                <a:spcPts val="600"/>
              </a:spcBef>
              <a:spcAft>
                <a:spcPts val="200"/>
              </a:spcAft>
            </a:pPr>
            <a:r>
              <a:rPr sz="1300" b="1">
                <a:solidFill>
                  <a:srgbClr val="06D6A0"/>
                </a:solidFill>
                <a:latin typeface="Calibri"/>
              </a:rPr>
              <a:t># 4 conteneurs démarrent :</a:t>
            </a:r>
          </a:p>
          <a:p>
            <a:pPr algn="l">
              <a:spcBef>
                <a:spcPts val="400"/>
              </a:spcBef>
              <a:spcAft>
                <a:spcPts val="200"/>
              </a:spcAft>
            </a:pPr>
            <a:r>
              <a:rPr sz="1300" b="0">
                <a:solidFill>
                  <a:srgbClr val="CBD5E1"/>
                </a:solidFill>
                <a:latin typeface="Calibri"/>
              </a:rPr>
              <a:t>• color-room   :8080</a:t>
            </a:r>
          </a:p>
          <a:p>
            <a:pPr algn="l">
              <a:spcBef>
                <a:spcPts val="200"/>
              </a:spcBef>
              <a:spcAft>
                <a:spcPts val="200"/>
              </a:spcAft>
            </a:pPr>
            <a:r>
              <a:rPr sz="1300" b="0">
                <a:solidFill>
                  <a:srgbClr val="CBD5E1"/>
                </a:solidFill>
                <a:latin typeface="Calibri"/>
              </a:rPr>
              <a:t>• ollama       :11434</a:t>
            </a:r>
          </a:p>
          <a:p>
            <a:pPr algn="l">
              <a:spcBef>
                <a:spcPts val="200"/>
              </a:spcBef>
              <a:spcAft>
                <a:spcPts val="200"/>
              </a:spcAft>
            </a:pPr>
            <a:r>
              <a:rPr sz="1300" b="0">
                <a:solidFill>
                  <a:srgbClr val="CBD5E1"/>
                </a:solidFill>
                <a:latin typeface="Calibri"/>
              </a:rPr>
              <a:t>• portainer    :9000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7</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CE QUE FAIT L'APPLI</a:t>
            </a:r>
          </a:p>
          <a:p>
            <a:pPr algn="l">
              <a:spcAft>
                <a:spcPts val="200"/>
              </a:spcAft>
            </a:pPr>
            <a:r>
              <a:rPr sz="2600" b="1">
                <a:solidFill>
                  <a:srgbClr val="FFFFFF"/>
                </a:solidFill>
                <a:latin typeface="Calibri"/>
              </a:rPr>
              <a:t>Fonctionnalités du projet</a:t>
            </a:r>
          </a:p>
        </p:txBody>
      </p:sp>
      <p:sp>
        <p:nvSpPr>
          <p:cNvPr id="7" name="Rounded Rectangle 6"/>
          <p:cNvSpPr/>
          <p:nvPr/>
        </p:nvSpPr>
        <p:spPr>
          <a:xfrm>
            <a:off x="640080" y="1554480"/>
            <a:ext cx="3566160" cy="2103120"/>
          </a:xfrm>
          <a:prstGeom prst="roundRect">
            <a:avLst/>
          </a:prstGeom>
          <a:solidFill>
            <a:srgbClr val="F1F4FB"/>
          </a:solidFill>
          <a:ln w="19050">
            <a:solidFill>
              <a:srgbClr val="4361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3108960" cy="1737360"/>
          </a:xfrm>
          <a:prstGeom prst="rect">
            <a:avLst/>
          </a:prstGeom>
          <a:noFill/>
        </p:spPr>
        <p:txBody>
          <a:bodyPr wrap="square" anchor="t">
            <a:spAutoFit/>
          </a:bodyPr>
          <a:lstStyle/>
          <a:p>
            <a:pPr algn="l">
              <a:spcAft>
                <a:spcPts val="200"/>
              </a:spcAft>
            </a:pPr>
            <a:r>
              <a:rPr sz="1700" b="1">
                <a:solidFill>
                  <a:srgbClr val="4361EE"/>
                </a:solidFill>
                <a:latin typeface="Calibri"/>
              </a:rPr>
              <a:t>🎮  Jeux intégrés</a:t>
            </a:r>
          </a:p>
          <a:p>
            <a:pPr algn="l">
              <a:spcBef>
                <a:spcPts val="800"/>
              </a:spcBef>
              <a:spcAft>
                <a:spcPts val="200"/>
              </a:spcAft>
            </a:pPr>
            <a:r>
              <a:rPr sz="1300" b="0">
                <a:solidFill>
                  <a:srgbClr val="334155"/>
                </a:solidFill>
                <a:latin typeface="Calibri"/>
              </a:rPr>
              <a:t>Color Speed, Simon, Puissance 4, Mémoire, mesure…</a:t>
            </a:r>
          </a:p>
        </p:txBody>
      </p:sp>
      <p:sp>
        <p:nvSpPr>
          <p:cNvPr id="9" name="Rounded Rectangle 8"/>
          <p:cNvSpPr/>
          <p:nvPr/>
        </p:nvSpPr>
        <p:spPr>
          <a:xfrm>
            <a:off x="4343400" y="1554480"/>
            <a:ext cx="3566160" cy="2103120"/>
          </a:xfrm>
          <a:prstGeom prst="roundRect">
            <a:avLst/>
          </a:prstGeom>
          <a:solidFill>
            <a:srgbClr val="F1F4FB"/>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1737360"/>
          </a:xfrm>
          <a:prstGeom prst="rect">
            <a:avLst/>
          </a:prstGeom>
          <a:noFill/>
        </p:spPr>
        <p:txBody>
          <a:bodyPr wrap="square" anchor="t">
            <a:spAutoFit/>
          </a:bodyPr>
          <a:lstStyle/>
          <a:p>
            <a:pPr algn="l">
              <a:spcAft>
                <a:spcPts val="200"/>
              </a:spcAft>
            </a:pPr>
            <a:r>
              <a:rPr sz="1700" b="1">
                <a:solidFill>
                  <a:srgbClr val="7C3AED"/>
                </a:solidFill>
                <a:latin typeface="Calibri"/>
              </a:rPr>
              <a:t>🧩  Éditeur low-code</a:t>
            </a:r>
          </a:p>
          <a:p>
            <a:pPr algn="l">
              <a:spcBef>
                <a:spcPts val="800"/>
              </a:spcBef>
              <a:spcAft>
                <a:spcPts val="200"/>
              </a:spcAft>
            </a:pPr>
            <a:r>
              <a:rPr sz="1300" b="0">
                <a:solidFill>
                  <a:srgbClr val="334155"/>
                </a:solidFill>
                <a:latin typeface="Calibri"/>
              </a:rPr>
              <a:t>Créer un jeu en reliant des blocs, ou en Python/JS</a:t>
            </a:r>
          </a:p>
        </p:txBody>
      </p:sp>
      <p:sp>
        <p:nvSpPr>
          <p:cNvPr id="11" name="Rounded Rectangle 10"/>
          <p:cNvSpPr/>
          <p:nvPr/>
        </p:nvSpPr>
        <p:spPr>
          <a:xfrm>
            <a:off x="8046720" y="1554480"/>
            <a:ext cx="3566160" cy="2103120"/>
          </a:xfrm>
          <a:prstGeom prst="roundRect">
            <a:avLst/>
          </a:prstGeom>
          <a:solidFill>
            <a:srgbClr val="F1F4FB"/>
          </a:solidFill>
          <a:ln w="1905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737360"/>
            <a:ext cx="3108960" cy="1737360"/>
          </a:xfrm>
          <a:prstGeom prst="rect">
            <a:avLst/>
          </a:prstGeom>
          <a:noFill/>
        </p:spPr>
        <p:txBody>
          <a:bodyPr wrap="square" anchor="t">
            <a:spAutoFit/>
          </a:bodyPr>
          <a:lstStyle/>
          <a:p>
            <a:pPr algn="l">
              <a:spcAft>
                <a:spcPts val="200"/>
              </a:spcAft>
            </a:pPr>
            <a:r>
              <a:rPr sz="1700" b="1">
                <a:solidFill>
                  <a:srgbClr val="EC4899"/>
                </a:solidFill>
                <a:latin typeface="Calibri"/>
              </a:rPr>
              <a:t>🤖  Génération par IA</a:t>
            </a:r>
          </a:p>
          <a:p>
            <a:pPr algn="l">
              <a:spcBef>
                <a:spcPts val="800"/>
              </a:spcBef>
              <a:spcAft>
                <a:spcPts val="200"/>
              </a:spcAft>
            </a:pPr>
            <a:r>
              <a:rPr sz="1300" b="0">
                <a:solidFill>
                  <a:srgbClr val="334155"/>
                </a:solidFill>
                <a:latin typeface="Calibri"/>
              </a:rPr>
              <a:t>Décrire un jeu en une phrase → il est créé</a:t>
            </a:r>
          </a:p>
        </p:txBody>
      </p:sp>
      <p:sp>
        <p:nvSpPr>
          <p:cNvPr id="13" name="Rounded Rectangle 12"/>
          <p:cNvSpPr/>
          <p:nvPr/>
        </p:nvSpPr>
        <p:spPr>
          <a:xfrm>
            <a:off x="640080" y="3840480"/>
            <a:ext cx="3566160" cy="2103120"/>
          </a:xfrm>
          <a:prstGeom prst="roundRect">
            <a:avLst/>
          </a:prstGeom>
          <a:solidFill>
            <a:srgbClr val="F1F4FB"/>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3108960" cy="1737360"/>
          </a:xfrm>
          <a:prstGeom prst="rect">
            <a:avLst/>
          </a:prstGeom>
          <a:noFill/>
        </p:spPr>
        <p:txBody>
          <a:bodyPr wrap="square" anchor="t">
            <a:spAutoFit/>
          </a:bodyPr>
          <a:lstStyle/>
          <a:p>
            <a:pPr algn="l">
              <a:spcAft>
                <a:spcPts val="200"/>
              </a:spcAft>
            </a:pPr>
            <a:r>
              <a:rPr sz="1700" b="1">
                <a:solidFill>
                  <a:srgbClr val="06D6A0"/>
                </a:solidFill>
                <a:latin typeface="Calibri"/>
              </a:rPr>
              <a:t>📱  Multijoueur</a:t>
            </a:r>
          </a:p>
          <a:p>
            <a:pPr algn="l">
              <a:spcBef>
                <a:spcPts val="800"/>
              </a:spcBef>
              <a:spcAft>
                <a:spcPts val="200"/>
              </a:spcAft>
            </a:pPr>
            <a:r>
              <a:rPr sz="1300" b="0">
                <a:solidFill>
                  <a:srgbClr val="334155"/>
                </a:solidFill>
                <a:latin typeface="Calibri"/>
              </a:rPr>
              <a:t>1 joueur = 1 dalle, rejoint via QR code</a:t>
            </a:r>
          </a:p>
        </p:txBody>
      </p:sp>
      <p:sp>
        <p:nvSpPr>
          <p:cNvPr id="15" name="Rounded Rectangle 14"/>
          <p:cNvSpPr/>
          <p:nvPr/>
        </p:nvSpPr>
        <p:spPr>
          <a:xfrm>
            <a:off x="4343400" y="3840480"/>
            <a:ext cx="3566160" cy="2103120"/>
          </a:xfrm>
          <a:prstGeom prst="roundRect">
            <a:avLst/>
          </a:prstGeom>
          <a:solidFill>
            <a:srgbClr val="F1F4FB"/>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023360"/>
            <a:ext cx="3108960" cy="1737360"/>
          </a:xfrm>
          <a:prstGeom prst="rect">
            <a:avLst/>
          </a:prstGeom>
          <a:noFill/>
        </p:spPr>
        <p:txBody>
          <a:bodyPr wrap="square" anchor="t">
            <a:spAutoFit/>
          </a:bodyPr>
          <a:lstStyle/>
          <a:p>
            <a:pPr algn="l">
              <a:spcAft>
                <a:spcPts val="200"/>
              </a:spcAft>
            </a:pPr>
            <a:r>
              <a:rPr sz="1700" b="1">
                <a:solidFill>
                  <a:srgbClr val="F59E0B"/>
                </a:solidFill>
                <a:latin typeface="Calibri"/>
              </a:rPr>
              <a:t>🎨  Mesure CS-160</a:t>
            </a:r>
          </a:p>
          <a:p>
            <a:pPr algn="l">
              <a:spcBef>
                <a:spcPts val="800"/>
              </a:spcBef>
              <a:spcAft>
                <a:spcPts val="200"/>
              </a:spcAft>
            </a:pPr>
            <a:r>
              <a:rPr sz="1300" b="0">
                <a:solidFill>
                  <a:srgbClr val="334155"/>
                </a:solidFill>
                <a:latin typeface="Calibri"/>
              </a:rPr>
              <a:t>Colorimètre réel + diagramme CIE 1931</a:t>
            </a:r>
          </a:p>
        </p:txBody>
      </p:sp>
      <p:sp>
        <p:nvSpPr>
          <p:cNvPr id="17" name="Rounded Rectangle 16"/>
          <p:cNvSpPr/>
          <p:nvPr/>
        </p:nvSpPr>
        <p:spPr>
          <a:xfrm>
            <a:off x="8046720" y="3840480"/>
            <a:ext cx="3566160" cy="2103120"/>
          </a:xfrm>
          <a:prstGeom prst="roundRect">
            <a:avLst/>
          </a:prstGeom>
          <a:solidFill>
            <a:srgbClr val="F1F4FB"/>
          </a:solidFill>
          <a:ln w="1905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023360"/>
            <a:ext cx="3108960" cy="1737360"/>
          </a:xfrm>
          <a:prstGeom prst="rect">
            <a:avLst/>
          </a:prstGeom>
          <a:noFill/>
        </p:spPr>
        <p:txBody>
          <a:bodyPr wrap="square" anchor="t">
            <a:spAutoFit/>
          </a:bodyPr>
          <a:lstStyle/>
          <a:p>
            <a:pPr algn="l">
              <a:spcAft>
                <a:spcPts val="200"/>
              </a:spcAft>
            </a:pPr>
            <a:r>
              <a:rPr sz="1700" b="1">
                <a:solidFill>
                  <a:srgbClr val="334155"/>
                </a:solidFill>
                <a:latin typeface="Calibri"/>
              </a:rPr>
              <a:t>🔐  Administration</a:t>
            </a:r>
          </a:p>
          <a:p>
            <a:pPr algn="l">
              <a:spcBef>
                <a:spcPts val="800"/>
              </a:spcBef>
              <a:spcAft>
                <a:spcPts val="200"/>
              </a:spcAft>
            </a:pPr>
            <a:r>
              <a:rPr sz="1300" b="0">
                <a:solidFill>
                  <a:srgbClr val="334155"/>
                </a:solidFill>
                <a:latin typeface="Calibri"/>
              </a:rPr>
              <a:t>Comptes, classes, scores, niveaux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8</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POINT FORT 1/3</a:t>
            </a:r>
          </a:p>
          <a:p>
            <a:pPr algn="l">
              <a:spcAft>
                <a:spcPts val="200"/>
              </a:spcAft>
            </a:pPr>
            <a:r>
              <a:rPr sz="2600" b="1">
                <a:solidFill>
                  <a:srgbClr val="FFFFFF"/>
                </a:solidFill>
                <a:latin typeface="Calibri"/>
              </a:rPr>
              <a:t>Focus technique — L'éditeur de jeux</a:t>
            </a:r>
          </a:p>
        </p:txBody>
      </p:sp>
      <p:sp>
        <p:nvSpPr>
          <p:cNvPr id="7" name="TextBox 6"/>
          <p:cNvSpPr txBox="1"/>
          <p:nvPr/>
        </p:nvSpPr>
        <p:spPr>
          <a:xfrm>
            <a:off x="640080" y="1554480"/>
            <a:ext cx="6583680" cy="4572000"/>
          </a:xfrm>
          <a:prstGeom prst="rect">
            <a:avLst/>
          </a:prstGeom>
          <a:noFill/>
        </p:spPr>
        <p:txBody>
          <a:bodyPr wrap="square">
            <a:spAutoFit/>
          </a:bodyPr>
          <a:lstStyle/>
          <a:p>
            <a:pPr>
              <a:spcAft>
                <a:spcPts val="1200"/>
              </a:spcAft>
            </a:pPr>
            <a:r>
              <a:rPr sz="1600" b="0">
                <a:solidFill>
                  <a:srgbClr val="334155"/>
                </a:solidFill>
                <a:latin typeface="Calibri"/>
              </a:rPr>
              <a:t>▸ Programmation visuelle par NŒUDS reliés (« blueprint »)</a:t>
            </a:r>
          </a:p>
          <a:p>
            <a:pPr lvl="1">
              <a:spcAft>
                <a:spcPts val="1200"/>
              </a:spcAft>
            </a:pPr>
            <a:r>
              <a:rPr sz="1400" b="0">
                <a:solidFill>
                  <a:srgbClr val="64748B"/>
                </a:solidFill>
                <a:latin typeface="Calibri"/>
              </a:rPr>
              <a:t>– Évènements (clic dalle, timer…) → actions (allumer, score, son)</a:t>
            </a:r>
          </a:p>
          <a:p>
            <a:pPr>
              <a:spcAft>
                <a:spcPts val="1200"/>
              </a:spcAft>
            </a:pPr>
            <a:r>
              <a:rPr sz="1600" b="0">
                <a:solidFill>
                  <a:srgbClr val="334155"/>
                </a:solidFill>
                <a:latin typeface="Calibri"/>
              </a:rPr>
              <a:t>▸ Catalogue de ~190 blocs : logique, maths, rendu, animations, multijoueur</a:t>
            </a:r>
          </a:p>
          <a:p>
            <a:pPr>
              <a:spcAft>
                <a:spcPts val="1200"/>
              </a:spcAft>
            </a:pPr>
            <a:r>
              <a:rPr sz="1600" b="0">
                <a:solidFill>
                  <a:srgbClr val="334155"/>
                </a:solidFill>
                <a:latin typeface="Calibri"/>
              </a:rPr>
              <a:t>▸ Bloc « Script » : code Python OU JavaScript exécuté dans le jeu</a:t>
            </a:r>
          </a:p>
          <a:p>
            <a:pPr>
              <a:spcAft>
                <a:spcPts val="1200"/>
              </a:spcAft>
            </a:pPr>
            <a:r>
              <a:rPr sz="1600" b="0">
                <a:solidFill>
                  <a:srgbClr val="334155"/>
                </a:solidFill>
                <a:latin typeface="Calibri"/>
              </a:rPr>
              <a:t>▸ Aperçu en direct sur la vue 3D + envoi aux vraies dalles</a:t>
            </a:r>
          </a:p>
          <a:p>
            <a:pPr>
              <a:spcAft>
                <a:spcPts val="1200"/>
              </a:spcAft>
            </a:pPr>
            <a:r>
              <a:rPr sz="1600" b="0">
                <a:solidFill>
                  <a:srgbClr val="334155"/>
                </a:solidFill>
                <a:latin typeface="Calibri"/>
              </a:rPr>
              <a:t>▸ Les jeux créés sont sauvegardés en base et jouables par tous</a:t>
            </a:r>
          </a:p>
        </p:txBody>
      </p:sp>
      <p:sp>
        <p:nvSpPr>
          <p:cNvPr id="8" name="Rectangle 7"/>
          <p:cNvSpPr/>
          <p:nvPr/>
        </p:nvSpPr>
        <p:spPr>
          <a:xfrm>
            <a:off x="7498079" y="1737360"/>
            <a:ext cx="4023360" cy="3931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965960"/>
            <a:ext cx="3566160" cy="3657600"/>
          </a:xfrm>
          <a:prstGeom prst="rect">
            <a:avLst/>
          </a:prstGeom>
          <a:noFill/>
        </p:spPr>
        <p:txBody>
          <a:bodyPr wrap="square" anchor="t">
            <a:spAutoFit/>
          </a:bodyPr>
          <a:lstStyle/>
          <a:p>
            <a:pPr algn="l">
              <a:spcAft>
                <a:spcPts val="200"/>
              </a:spcAft>
            </a:pPr>
            <a:r>
              <a:rPr sz="1200" b="1">
                <a:solidFill>
                  <a:srgbClr val="7C3AED"/>
                </a:solidFill>
                <a:latin typeface="Calibri"/>
              </a:rPr>
              <a:t>EXEMPLE DE FLUX</a:t>
            </a:r>
          </a:p>
          <a:p>
            <a:pPr algn="l">
              <a:spcBef>
                <a:spcPts val="1000"/>
              </a:spcBef>
              <a:spcAft>
                <a:spcPts val="200"/>
              </a:spcAft>
            </a:pPr>
            <a:r>
              <a:rPr sz="1500" b="1">
                <a:solidFill>
                  <a:srgbClr val="4361EE"/>
                </a:solidFill>
                <a:latin typeface="Calibri"/>
              </a:rPr>
              <a:t>● Démarrer</a:t>
            </a:r>
          </a:p>
          <a:p>
            <a:pPr algn="l">
              <a:spcBef>
                <a:spcPts val="200"/>
              </a:spcBef>
              <a:spcAft>
                <a:spcPts val="200"/>
              </a:spcAft>
            </a:pPr>
            <a:r>
              <a:rPr sz="1300" b="0">
                <a:solidFill>
                  <a:srgbClr val="64748B"/>
                </a:solidFill>
                <a:latin typeface="Calibri"/>
              </a:rPr>
              <a:t>   ↓</a:t>
            </a:r>
          </a:p>
          <a:p>
            <a:pPr algn="l">
              <a:spcBef>
                <a:spcPts val="200"/>
              </a:spcBef>
              <a:spcAft>
                <a:spcPts val="200"/>
              </a:spcAft>
            </a:pPr>
            <a:r>
              <a:rPr sz="1500" b="1">
                <a:solidFill>
                  <a:srgbClr val="7C3AED"/>
                </a:solidFill>
                <a:latin typeface="Calibri"/>
              </a:rPr>
              <a:t>● Dalle aléatoire</a:t>
            </a:r>
          </a:p>
          <a:p>
            <a:pPr algn="l">
              <a:spcBef>
                <a:spcPts val="200"/>
              </a:spcBef>
              <a:spcAft>
                <a:spcPts val="200"/>
              </a:spcAft>
            </a:pPr>
            <a:r>
              <a:rPr sz="1300" b="0">
                <a:solidFill>
                  <a:srgbClr val="64748B"/>
                </a:solidFill>
                <a:latin typeface="Calibri"/>
              </a:rPr>
              <a:t>   ↓</a:t>
            </a:r>
          </a:p>
          <a:p>
            <a:pPr algn="l">
              <a:spcBef>
                <a:spcPts val="200"/>
              </a:spcBef>
              <a:spcAft>
                <a:spcPts val="200"/>
              </a:spcAft>
            </a:pPr>
            <a:r>
              <a:rPr sz="1500" b="1">
                <a:solidFill>
                  <a:srgbClr val="EC4899"/>
                </a:solidFill>
                <a:latin typeface="Calibri"/>
              </a:rPr>
              <a:t>● Clic joueur ?</a:t>
            </a:r>
          </a:p>
          <a:p>
            <a:pPr algn="l">
              <a:spcBef>
                <a:spcPts val="200"/>
              </a:spcBef>
              <a:spcAft>
                <a:spcPts val="200"/>
              </a:spcAft>
            </a:pPr>
            <a:r>
              <a:rPr sz="1300" b="0">
                <a:solidFill>
                  <a:srgbClr val="64748B"/>
                </a:solidFill>
                <a:latin typeface="Calibri"/>
              </a:rPr>
              <a:t>   ↓</a:t>
            </a:r>
          </a:p>
          <a:p>
            <a:pPr algn="l">
              <a:spcBef>
                <a:spcPts val="200"/>
              </a:spcBef>
              <a:spcAft>
                <a:spcPts val="200"/>
              </a:spcAft>
            </a:pPr>
            <a:r>
              <a:rPr sz="1500" b="1">
                <a:solidFill>
                  <a:srgbClr val="06D6A0"/>
                </a:solidFill>
                <a:latin typeface="Calibri"/>
              </a:rPr>
              <a:t>● +1 point + 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9</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POINT FORT 2/3</a:t>
            </a:r>
          </a:p>
          <a:p>
            <a:pPr algn="l">
              <a:spcAft>
                <a:spcPts val="200"/>
              </a:spcAft>
            </a:pPr>
            <a:r>
              <a:rPr sz="2600" b="1">
                <a:solidFill>
                  <a:srgbClr val="FFFFFF"/>
                </a:solidFill>
                <a:latin typeface="Calibri"/>
              </a:rPr>
              <a:t>Focus technique — Génération par IA</a:t>
            </a:r>
          </a:p>
        </p:txBody>
      </p:sp>
      <p:sp>
        <p:nvSpPr>
          <p:cNvPr id="7" name="TextBox 6"/>
          <p:cNvSpPr txBox="1"/>
          <p:nvPr/>
        </p:nvSpPr>
        <p:spPr>
          <a:xfrm>
            <a:off x="640080" y="1554480"/>
            <a:ext cx="6583680" cy="4572000"/>
          </a:xfrm>
          <a:prstGeom prst="rect">
            <a:avLst/>
          </a:prstGeom>
          <a:noFill/>
        </p:spPr>
        <p:txBody>
          <a:bodyPr wrap="square">
            <a:spAutoFit/>
          </a:bodyPr>
          <a:lstStyle/>
          <a:p>
            <a:pPr>
              <a:spcAft>
                <a:spcPts val="1200"/>
              </a:spcAft>
            </a:pPr>
            <a:r>
              <a:rPr sz="1600" b="0">
                <a:solidFill>
                  <a:srgbClr val="334155"/>
                </a:solidFill>
                <a:latin typeface="Calibri"/>
              </a:rPr>
              <a:t>▸ L'utilisateur décrit le jeu en langage naturel</a:t>
            </a:r>
          </a:p>
          <a:p>
            <a:pPr>
              <a:spcAft>
                <a:spcPts val="1200"/>
              </a:spcAft>
            </a:pPr>
            <a:r>
              <a:rPr sz="1600" b="0">
                <a:solidFill>
                  <a:srgbClr val="334155"/>
                </a:solidFill>
                <a:latin typeface="Calibri"/>
              </a:rPr>
              <a:t>▸ Cascade intelligente : Gemini (cloud) → repli Ollama (local)</a:t>
            </a:r>
          </a:p>
          <a:p>
            <a:pPr lvl="1">
              <a:spcAft>
                <a:spcPts val="1200"/>
              </a:spcAft>
            </a:pPr>
            <a:r>
              <a:rPr sz="1400" b="0">
                <a:solidFill>
                  <a:srgbClr val="64748B"/>
                </a:solidFill>
                <a:latin typeface="Calibri"/>
              </a:rPr>
              <a:t>– Marche hors-ligne grâce au modèle local sur le Pi</a:t>
            </a:r>
          </a:p>
          <a:p>
            <a:pPr>
              <a:spcAft>
                <a:spcPts val="1200"/>
              </a:spcAft>
            </a:pPr>
            <a:r>
              <a:rPr sz="1600" b="0">
                <a:solidFill>
                  <a:srgbClr val="334155"/>
                </a:solidFill>
                <a:latin typeface="Calibri"/>
              </a:rPr>
              <a:t>▸ L'IA renvoie un JSON strict → converti en blocs + interface</a:t>
            </a:r>
          </a:p>
          <a:p>
            <a:pPr>
              <a:spcAft>
                <a:spcPts val="1200"/>
              </a:spcAft>
            </a:pPr>
            <a:r>
              <a:rPr sz="1600" b="0">
                <a:solidFill>
                  <a:srgbClr val="334155"/>
                </a:solidFill>
                <a:latin typeface="Calibri"/>
              </a:rPr>
              <a:t>▸ Garde-fou : refuse les jeux impossibles (Forza, GTA…) avec un message clair</a:t>
            </a:r>
          </a:p>
          <a:p>
            <a:pPr>
              <a:spcAft>
                <a:spcPts val="1200"/>
              </a:spcAft>
            </a:pPr>
            <a:r>
              <a:rPr sz="1600" b="0">
                <a:solidFill>
                  <a:srgbClr val="334155"/>
                </a:solidFill>
                <a:latin typeface="Calibri"/>
              </a:rPr>
              <a:t>▸ Validation/sanitisation systématique de la sortie (sécurité + robustesse)</a:t>
            </a:r>
          </a:p>
        </p:txBody>
      </p:sp>
      <p:sp>
        <p:nvSpPr>
          <p:cNvPr id="8" name="Rectangle 7"/>
          <p:cNvSpPr/>
          <p:nvPr/>
        </p:nvSpPr>
        <p:spPr>
          <a:xfrm>
            <a:off x="7498079" y="1737360"/>
            <a:ext cx="4023360" cy="393192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965960"/>
            <a:ext cx="3566160" cy="3657600"/>
          </a:xfrm>
          <a:prstGeom prst="rect">
            <a:avLst/>
          </a:prstGeom>
          <a:noFill/>
        </p:spPr>
        <p:txBody>
          <a:bodyPr wrap="square" anchor="t">
            <a:spAutoFit/>
          </a:bodyPr>
          <a:lstStyle/>
          <a:p>
            <a:pPr algn="l">
              <a:spcAft>
                <a:spcPts val="200"/>
              </a:spcAft>
            </a:pPr>
            <a:r>
              <a:rPr sz="1200" b="1">
                <a:solidFill>
                  <a:srgbClr val="06D6A0"/>
                </a:solidFill>
                <a:latin typeface="Calibri"/>
              </a:rPr>
              <a:t>CASCADE IA</a:t>
            </a:r>
          </a:p>
          <a:p>
            <a:pPr algn="l">
              <a:spcBef>
                <a:spcPts val="1000"/>
              </a:spcBef>
              <a:spcAft>
                <a:spcPts val="200"/>
              </a:spcAft>
            </a:pPr>
            <a:r>
              <a:rPr sz="1400" b="1">
                <a:solidFill>
                  <a:srgbClr val="FFFFFF"/>
                </a:solidFill>
                <a:latin typeface="Calibri"/>
              </a:rPr>
              <a:t>1. Clé Gemini ?</a:t>
            </a:r>
          </a:p>
          <a:p>
            <a:pPr algn="l">
              <a:spcBef>
                <a:spcPts val="200"/>
              </a:spcBef>
              <a:spcAft>
                <a:spcPts val="200"/>
              </a:spcAft>
            </a:pPr>
            <a:r>
              <a:rPr sz="1200" b="0">
                <a:solidFill>
                  <a:srgbClr val="CBD5E1"/>
                </a:solidFill>
                <a:latin typeface="Calibri"/>
              </a:rPr>
              <a:t>   → oui : Gemini Flash</a:t>
            </a:r>
          </a:p>
          <a:p>
            <a:pPr algn="l">
              <a:spcBef>
                <a:spcPts val="800"/>
              </a:spcBef>
              <a:spcAft>
                <a:spcPts val="200"/>
              </a:spcAft>
            </a:pPr>
            <a:r>
              <a:rPr sz="1400" b="1">
                <a:solidFill>
                  <a:srgbClr val="FFFFFF"/>
                </a:solidFill>
                <a:latin typeface="Calibri"/>
              </a:rPr>
              <a:t>2. Échec / hors-ligne ?</a:t>
            </a:r>
          </a:p>
          <a:p>
            <a:pPr algn="l">
              <a:spcBef>
                <a:spcPts val="200"/>
              </a:spcBef>
              <a:spcAft>
                <a:spcPts val="200"/>
              </a:spcAft>
            </a:pPr>
            <a:r>
              <a:rPr sz="1200" b="0">
                <a:solidFill>
                  <a:srgbClr val="CBD5E1"/>
                </a:solidFill>
                <a:latin typeface="Calibri"/>
              </a:rPr>
              <a:t>   → Ollama (Pi)</a:t>
            </a:r>
          </a:p>
          <a:p>
            <a:pPr algn="l">
              <a:spcBef>
                <a:spcPts val="800"/>
              </a:spcBef>
              <a:spcAft>
                <a:spcPts val="200"/>
              </a:spcAft>
            </a:pPr>
            <a:r>
              <a:rPr sz="1400" b="1">
                <a:solidFill>
                  <a:srgbClr val="FFFFFF"/>
                </a:solidFill>
                <a:latin typeface="Calibri"/>
              </a:rPr>
              <a:t>3. Sortie JSON validée</a:t>
            </a:r>
          </a:p>
          <a:p>
            <a:pPr algn="l">
              <a:spcBef>
                <a:spcPts val="200"/>
              </a:spcBef>
              <a:spcAft>
                <a:spcPts val="200"/>
              </a:spcAft>
            </a:pPr>
            <a:r>
              <a:rPr sz="1200" b="0">
                <a:solidFill>
                  <a:srgbClr val="CBD5E1"/>
                </a:solidFill>
                <a:latin typeface="Calibri"/>
              </a:rPr>
              <a:t>   → blocs + UI générés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10</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POINT FORT 3/3</a:t>
            </a:r>
          </a:p>
          <a:p>
            <a:pPr algn="l">
              <a:spcAft>
                <a:spcPts val="200"/>
              </a:spcAft>
            </a:pPr>
            <a:r>
              <a:rPr sz="2600" b="1">
                <a:solidFill>
                  <a:srgbClr val="FFFFFF"/>
                </a:solidFill>
                <a:latin typeface="Calibri"/>
              </a:rPr>
              <a:t>Focus technique — Mesure colorimétrique</a:t>
            </a:r>
          </a:p>
        </p:txBody>
      </p:sp>
      <p:sp>
        <p:nvSpPr>
          <p:cNvPr id="7" name="TextBox 6"/>
          <p:cNvSpPr txBox="1"/>
          <p:nvPr/>
        </p:nvSpPr>
        <p:spPr>
          <a:xfrm>
            <a:off x="640080" y="1554480"/>
            <a:ext cx="6583680" cy="4572000"/>
          </a:xfrm>
          <a:prstGeom prst="rect">
            <a:avLst/>
          </a:prstGeom>
          <a:noFill/>
        </p:spPr>
        <p:txBody>
          <a:bodyPr wrap="square">
            <a:spAutoFit/>
          </a:bodyPr>
          <a:lstStyle/>
          <a:p>
            <a:pPr>
              <a:spcAft>
                <a:spcPts val="1200"/>
              </a:spcAft>
            </a:pPr>
            <a:r>
              <a:rPr sz="1600" b="0">
                <a:solidFill>
                  <a:srgbClr val="334155"/>
                </a:solidFill>
                <a:latin typeface="Calibri"/>
              </a:rPr>
              <a:t>▸ Colorimètre Konica Minolta CS-160 piloté via une API dédiée</a:t>
            </a:r>
          </a:p>
          <a:p>
            <a:pPr>
              <a:spcAft>
                <a:spcPts val="1200"/>
              </a:spcAft>
            </a:pPr>
            <a:r>
              <a:rPr sz="1600" b="0">
                <a:solidFill>
                  <a:srgbClr val="334155"/>
                </a:solidFill>
                <a:latin typeface="Calibri"/>
              </a:rPr>
              <a:t>▸ Mesure réelle de la lumière émise par les dalles (X, Y, Z / x, y, Lv)</a:t>
            </a:r>
          </a:p>
          <a:p>
            <a:pPr>
              <a:spcAft>
                <a:spcPts val="1200"/>
              </a:spcAft>
            </a:pPr>
            <a:r>
              <a:rPr sz="1600" b="0">
                <a:solidFill>
                  <a:srgbClr val="334155"/>
                </a:solidFill>
                <a:latin typeface="Calibri"/>
              </a:rPr>
              <a:t>▸ Affichage sur le diagramme de chromaticité CIE 1931</a:t>
            </a:r>
          </a:p>
          <a:p>
            <a:pPr>
              <a:spcAft>
                <a:spcPts val="1200"/>
              </a:spcAft>
            </a:pPr>
            <a:r>
              <a:rPr sz="1600" b="0">
                <a:solidFill>
                  <a:srgbClr val="334155"/>
                </a:solidFill>
                <a:latin typeface="Calibri"/>
              </a:rPr>
              <a:t>▸ Jeux pédagogiques basés sur la mesure (reconnaître une couleur, métamérie)</a:t>
            </a:r>
          </a:p>
          <a:p>
            <a:pPr>
              <a:spcAft>
                <a:spcPts val="1200"/>
              </a:spcAft>
            </a:pPr>
            <a:r>
              <a:rPr sz="1600" b="0">
                <a:solidFill>
                  <a:srgbClr val="334155"/>
                </a:solidFill>
                <a:latin typeface="Calibri"/>
              </a:rPr>
              <a:t>▸ Calcul d'écart de couleur (ΔE) pour scorer la précision du joueur</a:t>
            </a:r>
          </a:p>
          <a:p>
            <a:pPr>
              <a:spcAft>
                <a:spcPts val="1200"/>
              </a:spcAft>
            </a:pPr>
            <a:r>
              <a:rPr sz="1600" b="0">
                <a:solidFill>
                  <a:srgbClr val="334155"/>
                </a:solidFill>
                <a:latin typeface="Calibri"/>
              </a:rPr>
              <a:t>▸ Lien direct entre le virtuel (jeu) et le réel (physique mesurée)</a:t>
            </a:r>
          </a:p>
        </p:txBody>
      </p:sp>
      <p:sp>
        <p:nvSpPr>
          <p:cNvPr id="8" name="Rectangle 7"/>
          <p:cNvSpPr/>
          <p:nvPr/>
        </p:nvSpPr>
        <p:spPr>
          <a:xfrm>
            <a:off x="7498079" y="1737360"/>
            <a:ext cx="4023360" cy="3931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965960"/>
            <a:ext cx="3566160" cy="3657600"/>
          </a:xfrm>
          <a:prstGeom prst="rect">
            <a:avLst/>
          </a:prstGeom>
          <a:noFill/>
        </p:spPr>
        <p:txBody>
          <a:bodyPr wrap="square" anchor="t">
            <a:spAutoFit/>
          </a:bodyPr>
          <a:lstStyle/>
          <a:p>
            <a:pPr algn="l">
              <a:spcAft>
                <a:spcPts val="200"/>
              </a:spcAft>
            </a:pPr>
            <a:r>
              <a:rPr sz="1200" b="1">
                <a:solidFill>
                  <a:srgbClr val="7C3AED"/>
                </a:solidFill>
                <a:latin typeface="Calibri"/>
              </a:rPr>
              <a:t>CHAÎNE DE MESURE</a:t>
            </a:r>
          </a:p>
          <a:p>
            <a:pPr algn="l">
              <a:spcBef>
                <a:spcPts val="1200"/>
              </a:spcBef>
              <a:spcAft>
                <a:spcPts val="200"/>
              </a:spcAft>
            </a:pPr>
            <a:r>
              <a:rPr sz="1500" b="1">
                <a:solidFill>
                  <a:srgbClr val="4361EE"/>
                </a:solidFill>
                <a:latin typeface="Calibri"/>
              </a:rPr>
              <a:t>Dalle allumée</a:t>
            </a:r>
          </a:p>
          <a:p>
            <a:pPr algn="l">
              <a:spcBef>
                <a:spcPts val="200"/>
              </a:spcBef>
              <a:spcAft>
                <a:spcPts val="200"/>
              </a:spcAft>
            </a:pPr>
            <a:r>
              <a:rPr sz="1200" b="0">
                <a:solidFill>
                  <a:srgbClr val="64748B"/>
                </a:solidFill>
                <a:latin typeface="Calibri"/>
              </a:rPr>
              <a:t>   ↓ émet de la lumière</a:t>
            </a:r>
          </a:p>
          <a:p>
            <a:pPr algn="l">
              <a:spcBef>
                <a:spcPts val="800"/>
              </a:spcBef>
              <a:spcAft>
                <a:spcPts val="200"/>
              </a:spcAft>
            </a:pPr>
            <a:r>
              <a:rPr sz="1500" b="1">
                <a:solidFill>
                  <a:srgbClr val="7C3AED"/>
                </a:solidFill>
                <a:latin typeface="Calibri"/>
              </a:rPr>
              <a:t>CS-160 mesure</a:t>
            </a:r>
          </a:p>
          <a:p>
            <a:pPr algn="l">
              <a:spcBef>
                <a:spcPts val="200"/>
              </a:spcBef>
              <a:spcAft>
                <a:spcPts val="200"/>
              </a:spcAft>
            </a:pPr>
            <a:r>
              <a:rPr sz="1200" b="0">
                <a:solidFill>
                  <a:srgbClr val="64748B"/>
                </a:solidFill>
                <a:latin typeface="Calibri"/>
              </a:rPr>
              <a:t>   ↓ x, y, Lv</a:t>
            </a:r>
          </a:p>
          <a:p>
            <a:pPr algn="l">
              <a:spcBef>
                <a:spcPts val="800"/>
              </a:spcBef>
              <a:spcAft>
                <a:spcPts val="200"/>
              </a:spcAft>
            </a:pPr>
            <a:r>
              <a:rPr sz="1500" b="1">
                <a:solidFill>
                  <a:srgbClr val="EC4899"/>
                </a:solidFill>
                <a:latin typeface="Calibri"/>
              </a:rPr>
              <a:t>Diagramme CIE</a:t>
            </a:r>
          </a:p>
          <a:p>
            <a:pPr algn="l">
              <a:spcBef>
                <a:spcPts val="200"/>
              </a:spcBef>
              <a:spcAft>
                <a:spcPts val="200"/>
              </a:spcAft>
            </a:pPr>
            <a:r>
              <a:rPr sz="1200" b="0">
                <a:solidFill>
                  <a:srgbClr val="64748B"/>
                </a:solidFill>
                <a:latin typeface="Calibri"/>
              </a:rPr>
              <a:t>   ↓ ΔE</a:t>
            </a:r>
          </a:p>
          <a:p>
            <a:pPr algn="l">
              <a:spcBef>
                <a:spcPts val="800"/>
              </a:spcBef>
              <a:spcAft>
                <a:spcPts val="200"/>
              </a:spcAft>
            </a:pPr>
            <a:r>
              <a:rPr sz="1500" b="1">
                <a:solidFill>
                  <a:srgbClr val="06D6A0"/>
                </a:solidFill>
                <a:latin typeface="Calibri"/>
              </a:rPr>
              <a:t>Score du joueur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11</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BONNES PRATIQUES</a:t>
            </a:r>
          </a:p>
          <a:p>
            <a:pPr algn="l">
              <a:spcAft>
                <a:spcPts val="200"/>
              </a:spcAft>
            </a:pPr>
            <a:r>
              <a:rPr sz="2600" b="1">
                <a:solidFill>
                  <a:srgbClr val="FFFFFF"/>
                </a:solidFill>
                <a:latin typeface="Calibri"/>
              </a:rPr>
              <a:t>Sécurité</a:t>
            </a:r>
          </a:p>
        </p:txBody>
      </p:sp>
      <p:sp>
        <p:nvSpPr>
          <p:cNvPr id="7" name="TextBox 6"/>
          <p:cNvSpPr txBox="1"/>
          <p:nvPr/>
        </p:nvSpPr>
        <p:spPr>
          <a:xfrm>
            <a:off x="640080" y="1554480"/>
            <a:ext cx="10881360" cy="4572000"/>
          </a:xfrm>
          <a:prstGeom prst="rect">
            <a:avLst/>
          </a:prstGeom>
          <a:noFill/>
        </p:spPr>
        <p:txBody>
          <a:bodyPr wrap="square">
            <a:spAutoFit/>
          </a:bodyPr>
          <a:lstStyle/>
          <a:p>
            <a:pPr>
              <a:spcAft>
                <a:spcPts val="1300"/>
              </a:spcAft>
            </a:pPr>
            <a:r>
              <a:rPr sz="1600" b="0">
                <a:solidFill>
                  <a:srgbClr val="334155"/>
                </a:solidFill>
                <a:latin typeface="Calibri"/>
              </a:rPr>
              <a:t>▸ Mots de passe hachés (PBKDF2-SHA512, 100 000 itérations, sel aléatoire) — jamais en clair</a:t>
            </a:r>
          </a:p>
          <a:p>
            <a:pPr>
              <a:spcAft>
                <a:spcPts val="1300"/>
              </a:spcAft>
            </a:pPr>
            <a:r>
              <a:rPr sz="1600" b="0">
                <a:solidFill>
                  <a:srgbClr val="334155"/>
                </a:solidFill>
                <a:latin typeface="Calibri"/>
              </a:rPr>
              <a:t>▸ Sessions par cookie httpOnly (30 jours), rôles utilisateur (élève / enseignant / admin)</a:t>
            </a:r>
          </a:p>
          <a:p>
            <a:pPr>
              <a:spcAft>
                <a:spcPts val="1300"/>
              </a:spcAft>
            </a:pPr>
            <a:r>
              <a:rPr sz="1600" b="0">
                <a:solidFill>
                  <a:srgbClr val="334155"/>
                </a:solidFill>
                <a:latin typeface="Calibri"/>
              </a:rPr>
              <a:t>▸ Secrets (clé API, mot de passe admin) dans .env — exclu de Git via .gitignore</a:t>
            </a:r>
          </a:p>
          <a:p>
            <a:pPr>
              <a:spcAft>
                <a:spcPts val="1300"/>
              </a:spcAft>
            </a:pPr>
            <a:r>
              <a:rPr sz="1600" b="0">
                <a:solidFill>
                  <a:srgbClr val="334155"/>
                </a:solidFill>
                <a:latin typeface="Calibri"/>
              </a:rPr>
              <a:t>▸ Transactions SQL atomiques (ACID) pour éviter les états incohérents</a:t>
            </a:r>
          </a:p>
          <a:p>
            <a:pPr>
              <a:spcAft>
                <a:spcPts val="1300"/>
              </a:spcAft>
            </a:pPr>
            <a:r>
              <a:rPr sz="1600" b="0">
                <a:solidFill>
                  <a:srgbClr val="334155"/>
                </a:solidFill>
                <a:latin typeface="Calibri"/>
              </a:rPr>
              <a:t>▸ Réseau local isolé : pas d'exposition sur Internet, l'IA peut tourner 100 % hors-ligne</a:t>
            </a:r>
          </a:p>
          <a:p>
            <a:pPr>
              <a:spcAft>
                <a:spcPts val="1300"/>
              </a:spcAft>
            </a:pPr>
            <a:r>
              <a:rPr sz="1600" b="0">
                <a:solidFill>
                  <a:srgbClr val="334155"/>
                </a:solidFill>
                <a:latin typeface="Calibri"/>
              </a:rPr>
              <a:t>▸ RETOUR D'EXPÉRIENCE : un secret committé par erreur → purge de l'historique Git (git filter-repo) + rotation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12</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MÉTHODE &amp; OUTILS</a:t>
            </a:r>
          </a:p>
          <a:p>
            <a:pPr algn="l">
              <a:spcAft>
                <a:spcPts val="200"/>
              </a:spcAft>
            </a:pPr>
            <a:r>
              <a:rPr sz="2600" b="1">
                <a:solidFill>
                  <a:srgbClr val="FFFFFF"/>
                </a:solidFill>
                <a:latin typeface="Calibri"/>
              </a:rPr>
              <a:t>Gestion de projet</a:t>
            </a:r>
          </a:p>
        </p:txBody>
      </p:sp>
      <p:sp>
        <p:nvSpPr>
          <p:cNvPr id="7" name="TextBox 6"/>
          <p:cNvSpPr txBox="1"/>
          <p:nvPr/>
        </p:nvSpPr>
        <p:spPr>
          <a:xfrm>
            <a:off x="640080" y="1554480"/>
            <a:ext cx="5669280" cy="4572000"/>
          </a:xfrm>
          <a:prstGeom prst="rect">
            <a:avLst/>
          </a:prstGeom>
          <a:noFill/>
        </p:spPr>
        <p:txBody>
          <a:bodyPr wrap="square">
            <a:spAutoFit/>
          </a:bodyPr>
          <a:lstStyle/>
          <a:p>
            <a:pPr>
              <a:spcAft>
                <a:spcPts val="1300"/>
              </a:spcAft>
            </a:pPr>
            <a:r>
              <a:rPr sz="1600" b="0">
                <a:solidFill>
                  <a:srgbClr val="334155"/>
                </a:solidFill>
                <a:latin typeface="Calibri"/>
              </a:rPr>
              <a:t>▸ Versioning Git + GitHub (branches de travail, commits clairs)</a:t>
            </a:r>
          </a:p>
          <a:p>
            <a:pPr>
              <a:spcAft>
                <a:spcPts val="1300"/>
              </a:spcAft>
            </a:pPr>
            <a:r>
              <a:rPr sz="1600" b="0">
                <a:solidFill>
                  <a:srgbClr val="334155"/>
                </a:solidFill>
                <a:latin typeface="Calibri"/>
              </a:rPr>
              <a:t>▸ Développement incrémental, fonctionnalité par fonctionnalité</a:t>
            </a:r>
          </a:p>
          <a:p>
            <a:pPr>
              <a:spcAft>
                <a:spcPts val="1300"/>
              </a:spcAft>
            </a:pPr>
            <a:r>
              <a:rPr sz="1600" b="0">
                <a:solidFill>
                  <a:srgbClr val="334155"/>
                </a:solidFill>
                <a:latin typeface="Calibri"/>
              </a:rPr>
              <a:t>▸ Tests à chaque étape : typage (tsc) + build de production</a:t>
            </a:r>
          </a:p>
          <a:p>
            <a:pPr>
              <a:spcAft>
                <a:spcPts val="1300"/>
              </a:spcAft>
            </a:pPr>
            <a:r>
              <a:rPr sz="1600" b="0">
                <a:solidFill>
                  <a:srgbClr val="334155"/>
                </a:solidFill>
                <a:latin typeface="Calibri"/>
              </a:rPr>
              <a:t>▸ Documentation : 15 diagrammes UML + guide technique</a:t>
            </a:r>
          </a:p>
          <a:p>
            <a:pPr>
              <a:spcAft>
                <a:spcPts val="1300"/>
              </a:spcAft>
            </a:pPr>
            <a:r>
              <a:rPr sz="1600" b="0">
                <a:solidFill>
                  <a:srgbClr val="334155"/>
                </a:solidFill>
                <a:latin typeface="Calibri"/>
              </a:rPr>
              <a:t>▸ Conteneurisation pour des déploiements fiables et répétables</a:t>
            </a:r>
          </a:p>
        </p:txBody>
      </p:sp>
      <p:sp>
        <p:nvSpPr>
          <p:cNvPr id="8" name="Rectangle 7"/>
          <p:cNvSpPr/>
          <p:nvPr/>
        </p:nvSpPr>
        <p:spPr>
          <a:xfrm>
            <a:off x="6583680" y="1737360"/>
            <a:ext cx="4937760"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965960"/>
            <a:ext cx="4480560" cy="3566160"/>
          </a:xfrm>
          <a:prstGeom prst="rect">
            <a:avLst/>
          </a:prstGeom>
          <a:noFill/>
        </p:spPr>
        <p:txBody>
          <a:bodyPr wrap="square" anchor="t">
            <a:spAutoFit/>
          </a:bodyPr>
          <a:lstStyle/>
          <a:p>
            <a:pPr algn="l">
              <a:spcAft>
                <a:spcPts val="200"/>
              </a:spcAft>
            </a:pPr>
            <a:r>
              <a:rPr sz="1200" b="1">
                <a:solidFill>
                  <a:srgbClr val="7C3AED"/>
                </a:solidFill>
                <a:latin typeface="Calibri"/>
              </a:rPr>
              <a:t>OUTILS UTILISÉS</a:t>
            </a:r>
          </a:p>
          <a:p>
            <a:pPr algn="l">
              <a:spcBef>
                <a:spcPts val="1000"/>
              </a:spcBef>
              <a:spcAft>
                <a:spcPts val="200"/>
              </a:spcAft>
            </a:pPr>
            <a:r>
              <a:rPr sz="1400" b="0">
                <a:solidFill>
                  <a:srgbClr val="334155"/>
                </a:solidFill>
                <a:latin typeface="Calibri"/>
              </a:rPr>
              <a:t>Code      ·  VS Code / TypeScript</a:t>
            </a:r>
          </a:p>
          <a:p>
            <a:pPr algn="l">
              <a:spcBef>
                <a:spcPts val="600"/>
              </a:spcBef>
              <a:spcAft>
                <a:spcPts val="200"/>
              </a:spcAft>
            </a:pPr>
            <a:r>
              <a:rPr sz="1400" b="0">
                <a:solidFill>
                  <a:srgbClr val="334155"/>
                </a:solidFill>
                <a:latin typeface="Calibri"/>
              </a:rPr>
              <a:t>Versions  ·  Git + GitHub</a:t>
            </a:r>
          </a:p>
          <a:p>
            <a:pPr algn="l">
              <a:spcBef>
                <a:spcPts val="600"/>
              </a:spcBef>
              <a:spcAft>
                <a:spcPts val="200"/>
              </a:spcAft>
            </a:pPr>
            <a:r>
              <a:rPr sz="1400" b="0">
                <a:solidFill>
                  <a:srgbClr val="334155"/>
                </a:solidFill>
                <a:latin typeface="Calibri"/>
              </a:rPr>
              <a:t>Conteneurs·  Docker Compose</a:t>
            </a:r>
          </a:p>
          <a:p>
            <a:pPr algn="l">
              <a:spcBef>
                <a:spcPts val="600"/>
              </a:spcBef>
              <a:spcAft>
                <a:spcPts val="200"/>
              </a:spcAft>
            </a:pPr>
            <a:r>
              <a:rPr sz="1400" b="0">
                <a:solidFill>
                  <a:srgbClr val="334155"/>
                </a:solidFill>
                <a:latin typeface="Calibri"/>
              </a:rPr>
              <a:t>Supervision· Portainer</a:t>
            </a:r>
          </a:p>
          <a:p>
            <a:pPr algn="l">
              <a:spcBef>
                <a:spcPts val="600"/>
              </a:spcBef>
              <a:spcAft>
                <a:spcPts val="200"/>
              </a:spcAft>
            </a:pPr>
            <a:r>
              <a:rPr sz="1400" b="0">
                <a:solidFill>
                  <a:srgbClr val="334155"/>
                </a:solidFill>
                <a:latin typeface="Calibri"/>
              </a:rPr>
              <a:t>Modélisation· UML (PlantUML)</a:t>
            </a:r>
          </a:p>
          <a:p>
            <a:pPr algn="l">
              <a:spcBef>
                <a:spcPts val="600"/>
              </a:spcBef>
              <a:spcAft>
                <a:spcPts val="200"/>
              </a:spcAft>
            </a:pPr>
            <a:r>
              <a:rPr sz="1400" b="0">
                <a:solidFill>
                  <a:srgbClr val="334155"/>
                </a:solidFill>
                <a:latin typeface="Calibri"/>
              </a:rPr>
              <a:t>Cible     ·  Raspberry Pi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13</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DÉMARCHE D'INGÉNIEUR</a:t>
            </a:r>
          </a:p>
          <a:p>
            <a:pPr algn="l">
              <a:spcAft>
                <a:spcPts val="200"/>
              </a:spcAft>
            </a:pPr>
            <a:r>
              <a:rPr sz="2600" b="1">
                <a:solidFill>
                  <a:srgbClr val="FFFFFF"/>
                </a:solidFill>
                <a:latin typeface="Calibri"/>
              </a:rPr>
              <a:t>Difficultés rencontrées &amp; solutions</a:t>
            </a:r>
          </a:p>
        </p:txBody>
      </p:sp>
      <p:sp>
        <p:nvSpPr>
          <p:cNvPr id="7" name="Rectangle 6"/>
          <p:cNvSpPr/>
          <p:nvPr/>
        </p:nvSpPr>
        <p:spPr>
          <a:xfrm>
            <a:off x="640080" y="1600200"/>
            <a:ext cx="5212080" cy="91440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30200"/>
            <a:ext cx="4846320" cy="822960"/>
          </a:xfrm>
          <a:prstGeom prst="rect">
            <a:avLst/>
          </a:prstGeom>
          <a:noFill/>
        </p:spPr>
        <p:txBody>
          <a:bodyPr wrap="square" anchor="ctr">
            <a:spAutoFit/>
          </a:bodyPr>
          <a:lstStyle/>
          <a:p>
            <a:pPr algn="l">
              <a:spcAft>
                <a:spcPts val="200"/>
              </a:spcAft>
            </a:pPr>
            <a:r>
              <a:rPr sz="1400" b="1">
                <a:solidFill>
                  <a:srgbClr val="B91C1C"/>
                </a:solidFill>
                <a:latin typeface="Calibri"/>
              </a:rPr>
              <a:t>⚠ Lag de la vue 3D sur tablette</a:t>
            </a:r>
          </a:p>
        </p:txBody>
      </p:sp>
      <p:sp>
        <p:nvSpPr>
          <p:cNvPr id="9" name="Right Arrow 8"/>
          <p:cNvSpPr/>
          <p:nvPr/>
        </p:nvSpPr>
        <p:spPr>
          <a:xfrm>
            <a:off x="5897880" y="1892808"/>
            <a:ext cx="365760" cy="329184"/>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600200"/>
            <a:ext cx="5166360" cy="914400"/>
          </a:xfrm>
          <a:prstGeom prst="rect">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30200"/>
            <a:ext cx="4846320" cy="822960"/>
          </a:xfrm>
          <a:prstGeom prst="rect">
            <a:avLst/>
          </a:prstGeom>
          <a:noFill/>
        </p:spPr>
        <p:txBody>
          <a:bodyPr wrap="square" anchor="ctr">
            <a:spAutoFit/>
          </a:bodyPr>
          <a:lstStyle/>
          <a:p>
            <a:pPr algn="l">
              <a:spcAft>
                <a:spcPts val="200"/>
              </a:spcAft>
            </a:pPr>
            <a:r>
              <a:rPr sz="1300" b="1">
                <a:solidFill>
                  <a:srgbClr val="15803D"/>
                </a:solidFill>
                <a:latin typeface="Calibri"/>
              </a:rPr>
              <a:t>✓ Textures lourdes supprimées, pixel ratio plafonné, snapshots dédupliqués</a:t>
            </a:r>
          </a:p>
        </p:txBody>
      </p:sp>
      <p:sp>
        <p:nvSpPr>
          <p:cNvPr id="12" name="Rectangle 11"/>
          <p:cNvSpPr/>
          <p:nvPr/>
        </p:nvSpPr>
        <p:spPr>
          <a:xfrm>
            <a:off x="640080" y="2651760"/>
            <a:ext cx="5212080" cy="91440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681760"/>
            <a:ext cx="4846320" cy="822960"/>
          </a:xfrm>
          <a:prstGeom prst="rect">
            <a:avLst/>
          </a:prstGeom>
          <a:noFill/>
        </p:spPr>
        <p:txBody>
          <a:bodyPr wrap="square" anchor="ctr">
            <a:spAutoFit/>
          </a:bodyPr>
          <a:lstStyle/>
          <a:p>
            <a:pPr algn="l">
              <a:spcAft>
                <a:spcPts val="200"/>
              </a:spcAft>
            </a:pPr>
            <a:r>
              <a:rPr sz="1400" b="1">
                <a:solidFill>
                  <a:srgbClr val="B91C1C"/>
                </a:solidFill>
                <a:latin typeface="Calibri"/>
              </a:rPr>
              <a:t>⚠ Contextes WebGL bloqués (crash)</a:t>
            </a:r>
          </a:p>
        </p:txBody>
      </p:sp>
      <p:sp>
        <p:nvSpPr>
          <p:cNvPr id="14" name="Right Arrow 13"/>
          <p:cNvSpPr/>
          <p:nvPr/>
        </p:nvSpPr>
        <p:spPr>
          <a:xfrm>
            <a:off x="5897880" y="2944368"/>
            <a:ext cx="365760" cy="329184"/>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2651760"/>
            <a:ext cx="5166360" cy="914400"/>
          </a:xfrm>
          <a:prstGeom prst="rect">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681760"/>
            <a:ext cx="4846320" cy="822960"/>
          </a:xfrm>
          <a:prstGeom prst="rect">
            <a:avLst/>
          </a:prstGeom>
          <a:noFill/>
        </p:spPr>
        <p:txBody>
          <a:bodyPr wrap="square" anchor="ctr">
            <a:spAutoFit/>
          </a:bodyPr>
          <a:lstStyle/>
          <a:p>
            <a:pPr algn="l">
              <a:spcAft>
                <a:spcPts val="200"/>
              </a:spcAft>
            </a:pPr>
            <a:r>
              <a:rPr sz="1300" b="1">
                <a:solidFill>
                  <a:srgbClr val="15803D"/>
                </a:solidFill>
                <a:latin typeface="Calibri"/>
              </a:rPr>
              <a:t>✓ Libération explicite du contexte (forceContextLoss) + repli gracieux</a:t>
            </a:r>
          </a:p>
        </p:txBody>
      </p:sp>
      <p:sp>
        <p:nvSpPr>
          <p:cNvPr id="17" name="Rectangle 16"/>
          <p:cNvSpPr/>
          <p:nvPr/>
        </p:nvSpPr>
        <p:spPr>
          <a:xfrm>
            <a:off x="640080" y="3703320"/>
            <a:ext cx="5212080" cy="91440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733320"/>
            <a:ext cx="4846320" cy="822960"/>
          </a:xfrm>
          <a:prstGeom prst="rect">
            <a:avLst/>
          </a:prstGeom>
          <a:noFill/>
        </p:spPr>
        <p:txBody>
          <a:bodyPr wrap="square" anchor="ctr">
            <a:spAutoFit/>
          </a:bodyPr>
          <a:lstStyle/>
          <a:p>
            <a:pPr algn="l">
              <a:spcAft>
                <a:spcPts val="200"/>
              </a:spcAft>
            </a:pPr>
            <a:r>
              <a:rPr sz="1400" b="1">
                <a:solidFill>
                  <a:srgbClr val="B91C1C"/>
                </a:solidFill>
                <a:latin typeface="Calibri"/>
              </a:rPr>
              <a:t>⚠ Son d'un jeu joué « à l'infini »</a:t>
            </a:r>
          </a:p>
        </p:txBody>
      </p:sp>
      <p:sp>
        <p:nvSpPr>
          <p:cNvPr id="19" name="Right Arrow 18"/>
          <p:cNvSpPr/>
          <p:nvPr/>
        </p:nvSpPr>
        <p:spPr>
          <a:xfrm>
            <a:off x="5897880" y="3995928"/>
            <a:ext cx="365760" cy="329184"/>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5080" y="3703320"/>
            <a:ext cx="5166360" cy="914400"/>
          </a:xfrm>
          <a:prstGeom prst="rect">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733320"/>
            <a:ext cx="4846320" cy="822960"/>
          </a:xfrm>
          <a:prstGeom prst="rect">
            <a:avLst/>
          </a:prstGeom>
          <a:noFill/>
        </p:spPr>
        <p:txBody>
          <a:bodyPr wrap="square" anchor="ctr">
            <a:spAutoFit/>
          </a:bodyPr>
          <a:lstStyle/>
          <a:p>
            <a:pPr algn="l">
              <a:spcAft>
                <a:spcPts val="200"/>
              </a:spcAft>
            </a:pPr>
            <a:r>
              <a:rPr sz="1300" b="1">
                <a:solidFill>
                  <a:srgbClr val="15803D"/>
                </a:solidFill>
                <a:latin typeface="Calibri"/>
              </a:rPr>
              <a:t>✓ Bug d'unité ms/secondes corrigé dans la génération audio</a:t>
            </a:r>
          </a:p>
        </p:txBody>
      </p:sp>
      <p:sp>
        <p:nvSpPr>
          <p:cNvPr id="22" name="Rectangle 21"/>
          <p:cNvSpPr/>
          <p:nvPr/>
        </p:nvSpPr>
        <p:spPr>
          <a:xfrm>
            <a:off x="640080" y="4754880"/>
            <a:ext cx="5212080" cy="91440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84880"/>
            <a:ext cx="4846320" cy="822960"/>
          </a:xfrm>
          <a:prstGeom prst="rect">
            <a:avLst/>
          </a:prstGeom>
          <a:noFill/>
        </p:spPr>
        <p:txBody>
          <a:bodyPr wrap="square" anchor="ctr">
            <a:spAutoFit/>
          </a:bodyPr>
          <a:lstStyle/>
          <a:p>
            <a:pPr algn="l">
              <a:spcAft>
                <a:spcPts val="200"/>
              </a:spcAft>
            </a:pPr>
            <a:r>
              <a:rPr sz="1400" b="1">
                <a:solidFill>
                  <a:srgbClr val="B91C1C"/>
                </a:solidFill>
                <a:latin typeface="Calibri"/>
              </a:rPr>
              <a:t>⚠ Tetris injouable sur 6×7</a:t>
            </a:r>
          </a:p>
        </p:txBody>
      </p:sp>
      <p:sp>
        <p:nvSpPr>
          <p:cNvPr id="24" name="Right Arrow 23"/>
          <p:cNvSpPr/>
          <p:nvPr/>
        </p:nvSpPr>
        <p:spPr>
          <a:xfrm>
            <a:off x="5897880" y="5047488"/>
            <a:ext cx="365760" cy="329184"/>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754880"/>
            <a:ext cx="5166360" cy="914400"/>
          </a:xfrm>
          <a:prstGeom prst="rect">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4784880"/>
            <a:ext cx="4846320" cy="822960"/>
          </a:xfrm>
          <a:prstGeom prst="rect">
            <a:avLst/>
          </a:prstGeom>
          <a:noFill/>
        </p:spPr>
        <p:txBody>
          <a:bodyPr wrap="square" anchor="ctr">
            <a:spAutoFit/>
          </a:bodyPr>
          <a:lstStyle/>
          <a:p>
            <a:pPr algn="l">
              <a:spcAft>
                <a:spcPts val="200"/>
              </a:spcAft>
            </a:pPr>
            <a:r>
              <a:rPr sz="1300" b="1">
                <a:solidFill>
                  <a:srgbClr val="15803D"/>
                </a:solidFill>
                <a:latin typeface="Calibri"/>
              </a:rPr>
              <a:t>✓ Refonte en jeu de combinaison de couleurs, pièces de 1-2 cases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11480" y="292608"/>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14</a:t>
            </a:r>
          </a:p>
        </p:txBody>
      </p:sp>
      <p:sp>
        <p:nvSpPr>
          <p:cNvPr id="6" name="TextBox 5"/>
          <p:cNvSpPr txBox="1"/>
          <p:nvPr/>
        </p:nvSpPr>
        <p:spPr>
          <a:xfrm>
            <a:off x="1143000" y="182880"/>
            <a:ext cx="10515600" cy="868680"/>
          </a:xfrm>
          <a:prstGeom prst="rect">
            <a:avLst/>
          </a:prstGeom>
          <a:noFill/>
        </p:spPr>
        <p:txBody>
          <a:bodyPr wrap="square" anchor="t">
            <a:spAutoFit/>
          </a:bodyPr>
          <a:lstStyle/>
          <a:p>
            <a:pPr algn="l">
              <a:spcAft>
                <a:spcPts val="200"/>
              </a:spcAft>
            </a:pPr>
            <a:r>
              <a:rPr sz="1200" b="1">
                <a:solidFill>
                  <a:srgbClr val="06D6A0"/>
                </a:solidFill>
                <a:latin typeface="Calibri"/>
              </a:rPr>
              <a:t>CONCLUSION TECHNIQUE</a:t>
            </a:r>
          </a:p>
          <a:p>
            <a:pPr algn="l">
              <a:spcAft>
                <a:spcPts val="200"/>
              </a:spcAft>
            </a:pPr>
            <a:r>
              <a:rPr sz="2600" b="1">
                <a:solidFill>
                  <a:srgbClr val="FFFFFF"/>
                </a:solidFill>
                <a:latin typeface="Calibri"/>
              </a:rPr>
              <a:t>Bilan &amp; perspectives</a:t>
            </a:r>
          </a:p>
        </p:txBody>
      </p:sp>
      <p:sp>
        <p:nvSpPr>
          <p:cNvPr id="7" name="TextBox 6"/>
          <p:cNvSpPr txBox="1"/>
          <p:nvPr/>
        </p:nvSpPr>
        <p:spPr>
          <a:xfrm>
            <a:off x="640080" y="1463040"/>
            <a:ext cx="5486400" cy="457200"/>
          </a:xfrm>
          <a:prstGeom prst="rect">
            <a:avLst/>
          </a:prstGeom>
          <a:noFill/>
        </p:spPr>
        <p:txBody>
          <a:bodyPr wrap="square" anchor="t">
            <a:spAutoFit/>
          </a:bodyPr>
          <a:lstStyle/>
          <a:p>
            <a:pPr algn="l">
              <a:spcAft>
                <a:spcPts val="200"/>
              </a:spcAft>
            </a:pPr>
            <a:r>
              <a:rPr sz="1800" b="1">
                <a:solidFill>
                  <a:srgbClr val="06D6A0"/>
                </a:solidFill>
                <a:latin typeface="Calibri"/>
              </a:rPr>
              <a:t>✓ Objectifs atteints</a:t>
            </a:r>
          </a:p>
        </p:txBody>
      </p:sp>
      <p:sp>
        <p:nvSpPr>
          <p:cNvPr id="8" name="TextBox 7"/>
          <p:cNvSpPr txBox="1"/>
          <p:nvPr/>
        </p:nvSpPr>
        <p:spPr>
          <a:xfrm>
            <a:off x="640080" y="1965960"/>
            <a:ext cx="5486400" cy="4114800"/>
          </a:xfrm>
          <a:prstGeom prst="rect">
            <a:avLst/>
          </a:prstGeom>
          <a:noFill/>
        </p:spPr>
        <p:txBody>
          <a:bodyPr wrap="square">
            <a:spAutoFit/>
          </a:bodyPr>
          <a:lstStyle/>
          <a:p>
            <a:pPr>
              <a:spcAft>
                <a:spcPts val="1100"/>
              </a:spcAft>
            </a:pPr>
            <a:r>
              <a:rPr sz="1600" b="0">
                <a:solidFill>
                  <a:srgbClr val="334155"/>
                </a:solidFill>
                <a:latin typeface="Calibri"/>
              </a:rPr>
              <a:t>▸ Pilotage temps réel des 42 dalles</a:t>
            </a:r>
          </a:p>
          <a:p>
            <a:pPr>
              <a:spcAft>
                <a:spcPts val="1100"/>
              </a:spcAft>
            </a:pPr>
            <a:r>
              <a:rPr sz="1600" b="0">
                <a:solidFill>
                  <a:srgbClr val="334155"/>
                </a:solidFill>
                <a:latin typeface="Calibri"/>
              </a:rPr>
              <a:t>▸ Mesure réelle au colorimètre + CIE</a:t>
            </a:r>
          </a:p>
          <a:p>
            <a:pPr>
              <a:spcAft>
                <a:spcPts val="1100"/>
              </a:spcAft>
            </a:pPr>
            <a:r>
              <a:rPr sz="1600" b="0">
                <a:solidFill>
                  <a:srgbClr val="334155"/>
                </a:solidFill>
                <a:latin typeface="Calibri"/>
              </a:rPr>
              <a:t>▸ Éditeur + génération IA fonctionnels</a:t>
            </a:r>
          </a:p>
          <a:p>
            <a:pPr>
              <a:spcAft>
                <a:spcPts val="1100"/>
              </a:spcAft>
            </a:pPr>
            <a:r>
              <a:rPr sz="1600" b="0">
                <a:solidFill>
                  <a:srgbClr val="334155"/>
                </a:solidFill>
                <a:latin typeface="Calibri"/>
              </a:rPr>
              <a:t>▸ Multijoueur en réseau local</a:t>
            </a:r>
          </a:p>
          <a:p>
            <a:pPr>
              <a:spcAft>
                <a:spcPts val="1100"/>
              </a:spcAft>
            </a:pPr>
            <a:r>
              <a:rPr sz="1600" b="0">
                <a:solidFill>
                  <a:srgbClr val="334155"/>
                </a:solidFill>
                <a:latin typeface="Calibri"/>
              </a:rPr>
              <a:t>▸ Déploiement automatisé sur Pi</a:t>
            </a:r>
          </a:p>
        </p:txBody>
      </p:sp>
      <p:sp>
        <p:nvSpPr>
          <p:cNvPr id="9" name="TextBox 8"/>
          <p:cNvSpPr txBox="1"/>
          <p:nvPr/>
        </p:nvSpPr>
        <p:spPr>
          <a:xfrm>
            <a:off x="6309360" y="1463040"/>
            <a:ext cx="5486400" cy="457200"/>
          </a:xfrm>
          <a:prstGeom prst="rect">
            <a:avLst/>
          </a:prstGeom>
          <a:noFill/>
        </p:spPr>
        <p:txBody>
          <a:bodyPr wrap="square" anchor="t">
            <a:spAutoFit/>
          </a:bodyPr>
          <a:lstStyle/>
          <a:p>
            <a:pPr algn="l">
              <a:spcAft>
                <a:spcPts val="200"/>
              </a:spcAft>
            </a:pPr>
            <a:r>
              <a:rPr sz="1800" b="1">
                <a:solidFill>
                  <a:srgbClr val="7C3AED"/>
                </a:solidFill>
                <a:latin typeface="Calibri"/>
              </a:rPr>
              <a:t>→ Perspectives</a:t>
            </a:r>
          </a:p>
        </p:txBody>
      </p:sp>
      <p:sp>
        <p:nvSpPr>
          <p:cNvPr id="10" name="TextBox 9"/>
          <p:cNvSpPr txBox="1"/>
          <p:nvPr/>
        </p:nvSpPr>
        <p:spPr>
          <a:xfrm>
            <a:off x="6309360" y="1965960"/>
            <a:ext cx="5394960" cy="4114800"/>
          </a:xfrm>
          <a:prstGeom prst="rect">
            <a:avLst/>
          </a:prstGeom>
          <a:noFill/>
        </p:spPr>
        <p:txBody>
          <a:bodyPr wrap="square">
            <a:spAutoFit/>
          </a:bodyPr>
          <a:lstStyle/>
          <a:p>
            <a:pPr>
              <a:spcAft>
                <a:spcPts val="1100"/>
              </a:spcAft>
            </a:pPr>
            <a:r>
              <a:rPr sz="1600" b="0">
                <a:solidFill>
                  <a:srgbClr val="334155"/>
                </a:solidFill>
                <a:latin typeface="Calibri"/>
              </a:rPr>
              <a:t>▸ Vrai système de salons multijoueurs (codes)</a:t>
            </a:r>
          </a:p>
          <a:p>
            <a:pPr>
              <a:spcAft>
                <a:spcPts val="1100"/>
              </a:spcAft>
            </a:pPr>
            <a:r>
              <a:rPr sz="1600" b="0">
                <a:solidFill>
                  <a:srgbClr val="334155"/>
                </a:solidFill>
                <a:latin typeface="Calibri"/>
              </a:rPr>
              <a:t>▸ Streaming de la génération IA (temps réel)</a:t>
            </a:r>
          </a:p>
          <a:p>
            <a:pPr>
              <a:spcAft>
                <a:spcPts val="1100"/>
              </a:spcAft>
            </a:pPr>
            <a:r>
              <a:rPr sz="1600" b="0">
                <a:solidFill>
                  <a:srgbClr val="334155"/>
                </a:solidFill>
                <a:latin typeface="Calibri"/>
              </a:rPr>
              <a:t>▸ Plus de jeux pédagogiques et de tutoriels</a:t>
            </a:r>
          </a:p>
          <a:p>
            <a:pPr>
              <a:spcAft>
                <a:spcPts val="1100"/>
              </a:spcAft>
            </a:pPr>
            <a:r>
              <a:rPr sz="1600" b="0">
                <a:solidFill>
                  <a:srgbClr val="334155"/>
                </a:solidFill>
                <a:latin typeface="Calibri"/>
              </a:rPr>
              <a:t>▸ Tableau de bord enseignant enrichi</a:t>
            </a:r>
          </a:p>
          <a:p>
            <a:pPr>
              <a:spcAft>
                <a:spcPts val="1100"/>
              </a:spcAft>
            </a:pPr>
            <a:r>
              <a:rPr sz="1600" b="0">
                <a:solidFill>
                  <a:srgbClr val="334155"/>
                </a:solidFill>
                <a:latin typeface="Calibri"/>
              </a:rPr>
              <a:t>▸ Tests automatisés (CI/CD)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50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828800"/>
          </a:xfrm>
          <a:prstGeom prst="rect">
            <a:avLst/>
          </a:prstGeom>
          <a:noFill/>
        </p:spPr>
        <p:txBody>
          <a:bodyPr wrap="square" anchor="t">
            <a:spAutoFit/>
          </a:bodyPr>
          <a:lstStyle/>
          <a:p>
            <a:pPr algn="ctr">
              <a:spcAft>
                <a:spcPts val="200"/>
              </a:spcAft>
            </a:pPr>
            <a:r>
              <a:rPr sz="1600" b="1">
                <a:solidFill>
                  <a:srgbClr val="06D6A0"/>
                </a:solidFill>
                <a:latin typeface="Calibri"/>
              </a:rPr>
              <a:t>PLACE À LA</a:t>
            </a:r>
          </a:p>
          <a:p>
            <a:pPr algn="ctr">
              <a:spcBef>
                <a:spcPts val="600"/>
              </a:spcBef>
              <a:spcAft>
                <a:spcPts val="200"/>
              </a:spcAft>
            </a:pPr>
            <a:r>
              <a:rPr sz="5000" b="1">
                <a:solidFill>
                  <a:srgbClr val="FFFFFF"/>
                </a:solidFill>
                <a:latin typeface="Calibri"/>
              </a:rPr>
              <a:t>Démonstration</a:t>
            </a:r>
          </a:p>
        </p:txBody>
      </p:sp>
      <p:sp>
        <p:nvSpPr>
          <p:cNvPr id="5" name="TextBox 4"/>
          <p:cNvSpPr txBox="1"/>
          <p:nvPr/>
        </p:nvSpPr>
        <p:spPr>
          <a:xfrm>
            <a:off x="914400" y="3657600"/>
            <a:ext cx="10332720" cy="2286000"/>
          </a:xfrm>
          <a:prstGeom prst="rect">
            <a:avLst/>
          </a:prstGeom>
          <a:noFill/>
        </p:spPr>
        <p:txBody>
          <a:bodyPr wrap="square" anchor="t">
            <a:spAutoFit/>
          </a:bodyPr>
          <a:lstStyle/>
          <a:p>
            <a:pPr algn="ctr">
              <a:spcAft>
                <a:spcPts val="200"/>
              </a:spcAft>
            </a:pPr>
            <a:r>
              <a:rPr sz="1600" b="0">
                <a:solidFill>
                  <a:srgbClr val="CBD5E1"/>
                </a:solidFill>
                <a:latin typeface="Calibri"/>
              </a:rPr>
              <a:t>1. Lancer un jeu sur les dalles  ·  2. Créer un jeu (éditeur)</a:t>
            </a:r>
          </a:p>
          <a:p>
            <a:pPr algn="ctr">
              <a:spcBef>
                <a:spcPts val="600"/>
              </a:spcBef>
              <a:spcAft>
                <a:spcPts val="200"/>
              </a:spcAft>
            </a:pPr>
            <a:r>
              <a:rPr sz="1600" b="0">
                <a:solidFill>
                  <a:srgbClr val="CBD5E1"/>
                </a:solidFill>
                <a:latin typeface="Calibri"/>
              </a:rPr>
              <a:t>3. Générer un jeu avec l'IA  ·  4. Multijoueur (QR + téléphone)</a:t>
            </a:r>
          </a:p>
          <a:p>
            <a:pPr algn="ctr">
              <a:spcBef>
                <a:spcPts val="600"/>
              </a:spcBef>
              <a:spcAft>
                <a:spcPts val="200"/>
              </a:spcAft>
            </a:pPr>
            <a:r>
              <a:rPr sz="1600" b="0">
                <a:solidFill>
                  <a:srgbClr val="CBD5E1"/>
                </a:solidFill>
                <a:latin typeface="Calibri"/>
              </a:rPr>
              <a:t>5. Mesure CS-160 + diagramme CIE  ·  6. Portainer / Docker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12191695" cy="73152"/>
          </a:xfrm>
          <a:prstGeom prst="rect">
            <a:avLst/>
          </a:prstGeom>
          <a:solidFill>
            <a:srgbClr val="436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901952"/>
            <a:ext cx="12191695"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975104"/>
            <a:ext cx="12191695" cy="7315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0320"/>
            <a:ext cx="10332720" cy="1828800"/>
          </a:xfrm>
          <a:prstGeom prst="rect">
            <a:avLst/>
          </a:prstGeom>
          <a:noFill/>
        </p:spPr>
        <p:txBody>
          <a:bodyPr wrap="square" anchor="t">
            <a:spAutoFit/>
          </a:bodyPr>
          <a:lstStyle/>
          <a:p>
            <a:pPr algn="ctr">
              <a:spcAft>
                <a:spcPts val="200"/>
              </a:spcAft>
            </a:pPr>
            <a:r>
              <a:rPr sz="4400" b="1">
                <a:solidFill>
                  <a:srgbClr val="FFFFFF"/>
                </a:solidFill>
                <a:latin typeface="Calibri"/>
              </a:rPr>
              <a:t>Merci de votre attention</a:t>
            </a:r>
          </a:p>
          <a:p>
            <a:pPr algn="ctr">
              <a:spcBef>
                <a:spcPts val="1400"/>
              </a:spcBef>
              <a:spcAft>
                <a:spcPts val="200"/>
              </a:spcAft>
            </a:pPr>
            <a:r>
              <a:rPr sz="2200" b="1">
                <a:solidFill>
                  <a:srgbClr val="06D6A0"/>
                </a:solidFill>
                <a:latin typeface="Calibri"/>
              </a:rPr>
              <a:t>Avez-vous des questions ?</a:t>
            </a:r>
          </a:p>
        </p:txBody>
      </p:sp>
      <p:sp>
        <p:nvSpPr>
          <p:cNvPr id="7" name="TextBox 6"/>
          <p:cNvSpPr txBox="1"/>
          <p:nvPr/>
        </p:nvSpPr>
        <p:spPr>
          <a:xfrm>
            <a:off x="914400" y="5852160"/>
            <a:ext cx="10332720" cy="548640"/>
          </a:xfrm>
          <a:prstGeom prst="rect">
            <a:avLst/>
          </a:prstGeom>
          <a:noFill/>
        </p:spPr>
        <p:txBody>
          <a:bodyPr wrap="square" anchor="t">
            <a:spAutoFit/>
          </a:bodyPr>
          <a:lstStyle/>
          <a:p>
            <a:pPr algn="ctr">
              <a:spcAft>
                <a:spcPts val="200"/>
              </a:spcAft>
            </a:pPr>
            <a:r>
              <a:rPr sz="1300" b="0">
                <a:solidFill>
                  <a:srgbClr val="64748B"/>
                </a:solidFill>
                <a:latin typeface="Calibri"/>
              </a:rPr>
              <a:t>ColorRoom — BTS CIEL option IR — Session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