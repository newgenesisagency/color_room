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m'appelle [...], 2e annee de BTS CIEL option Informatique et Reseaux. Je presente ColorRoom : une application qui transforme une salle de 42 dalles LED en plateforme de jeux educatifs sur la couleur. 20 min de presentation, puis demonstration, puis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 deroule : contexte, objectifs, cahier des charges, architecture et reseau, choix techniques, fonctionnalites, les points forts (editeur, IA, mesure), securite, gestion de projet, et bilan.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ColorRoom est une installation physique de 42 dalles LED commandees une par une. Le commanditaire voulait des jeux educatifs sur la couleur. Le materiel etait la, sans logiciel ludique : c'est l'objet de mon projet.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Quelques chiffres : 42 dalles, 4 conteneurs Docker, environ 190 blocs dans l'editeur, 2 moteurs d'IA cloud et local, 6 jeux integres.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problematique : piloter ET mesurer la lumiere, avec des jeux creables facilement, sur un systeme autonome. J'en tire 5 objectifs concrets.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Cote fonctionnel : jeux, editeur, multijoueur, mesure, admin. Cote contraintes : tenir sur un Pi, marcher hors ligne, utiliser l'API Supervision imposee et le SDK du CS-160.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 global : l'utilisateur ouvre l'app dans un navigateur ; l'app, en Next.js et conteneurisee, tourne sur le Pi ; pour allumer les dalles elle parle a l'API Supervision en HTTP. A cote : SQLite, le colorimetre CS-160 en USB, et l'IA cloud ou locale.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choix est justifie : Next.js + TypeScript pour un code type et un projet unique ; SQLite embarquee ; Docker pour un deploiement reproductible ; Three.js pour la 3D ; Ollama pour une IA locale.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classique : pourquoi pas Node-RED et du JS pur ? Node-RED est genial pour prototyper de l'IoT par flux, mais limite des qu'on veut une UI riche (3D, editeur, multijoueur), et ses flux JSON sont durs a versionner. Le JS pur n'a pas de typage : les bugs sortent a l'execution. D'ou React (composants), Next.js (front+back), Node.js (un seul langage) et TypeScript (bugs attrapes a la compilation, refacto sure). Le tout versionnable et testable.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deploiement est gere par Docker Compose : 4 services (app 8080, Ollama, Portainer). Les telephones rejoignent par le Wi-Fi local. Les secrets sont dans un .env hors Git. Mettre a jour = git pull puis docker compose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fonctionnalites : jeux prets a jouer, editeur low-code (ou Python/JS), generation par IA, multijoueur (une dalle par telephone via QR), mesure reelle au colorimetre avec diagramme CIE, et administration des comptes.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coeur technique : l'editeur, de la programmation visuelle par blocs relies, comme dans Unreal. On part d'un evenement et on enchaine des actions. Environ 190 blocs. Un bloc Script permet d'ecrire du Python ou du JS. Tout s'affiche en direct sur la 3D et les vraies dalles.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L'IA : on decrit un jeu en une phrase, elle le construit. Cascade : Gemini en cloud si une cle existe, sinon repli automatique sur Ollama en local sur le Pi, donc hors ligne. La sortie est du JSON strict, valide et nettoye. Un garde-fou refuse poliment les jeux irrealisables.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mesure, tres metier lumiere : le CS-160 mesure reellement la lumiere emise. On l'affiche sur le diagramme CIE 1931, le standard de la colorimetrie. Certains jeux notent le joueur selon l'ecart de couleur delta E. C'est ce qui relie le virtuel au reel.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multijoueur : chaque joueur ouvre la page sur son telephone, scanne un QR ou tape l'adresse locale, recoit une dalle et choisit sa couleur, qui s'allume en temps reel. L'animateur peut jouer aussi depuis la tablette. Tout reste sur le Wi-Fi local.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securite, importante en CIEL : mots de passe haches PBKDF2 jamais en clair, sessions par cookie et roles, secrets dans un .env hors Git, transactions atomiques. Retour d'experience : j'ai purge de l'historique Git un secret committe par erreur, ce qui montre que je connais les bonnes pratiques.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Cote gestion : tout est versionne sur Git et GitHub avec branches et commits clairs. Developpement incremental, teste a chaque etape (types et build). Documente avec 15 diagrammes UML et un guide. Tout est conteneurise.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projet, c'est resoudre des problemes : la 3D ramait (textures allegees, rendu reduit) ; des crashs WebGL (liberation explicite du contexte) ; un son sans fin (confusion ms/secondes corrigee) ; le Tetris injouable sur 6x7 (transforme en jeu de combinaison de couleurs). C'est la demarche d'ingenieur : diagnostiquer puis corriger.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Bilan : les 5 objectifs sont atteints. Pour la suite : salons multijoueurs avec codes, streaming de l'IA en temps reel, plus de jeux, un tableau de bord enseignant, et de l'integration continue.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ordre conseille : 1) Color Speed sur les dalles, 2) creer un jeu dans l'editeur, 3) en generer un avec l'IA, 4) multijoueur avec QR et telephone, 5) mesure CS-160 sur le diagramme CIE, 6) Portainer pour montrer les conteneurs. Prevois une video de secours au cas ou le materiel bug.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Je suis a votre disposition pour vos questions. Questions probables : pourquoi Next.js plutot que Node-RED, comment securises-tu le reseau, comment ca marche hors ligne, que se passe-t-il si une dalle tombe en panne, combien d'utilisateurs simultanes.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png"/><Relationship Id="rId7" Type="http://schemas.openxmlformats.org/officeDocument/2006/relationships/image" Target="../media/image14.png"/><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15.png"/><Relationship Id="rId7" Type="http://schemas.openxmlformats.org/officeDocument/2006/relationships/image" Target="../media/image9.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10.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1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19.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ed_grid.png"/>
          <p:cNvPicPr>
            <a:picLocks noChangeAspect="1"/>
          </p:cNvPicPr>
          <p:nvPr/>
        </p:nvPicPr>
        <p:blipFill>
          <a:blip r:embed="rId2"/>
          <a:stretch>
            <a:fillRect/>
          </a:stretch>
        </p:blipFill>
        <p:spPr>
          <a:xfrm>
            <a:off x="8275320" y="0"/>
            <a:ext cx="3931920" cy="6858000"/>
          </a:xfrm>
          <a:prstGeom prst="rect">
            <a:avLst/>
          </a:prstGeom>
        </p:spPr>
      </p:pic>
      <p:sp>
        <p:nvSpPr>
          <p:cNvPr id="4" name="Rectangle 3"/>
          <p:cNvSpPr/>
          <p:nvPr/>
        </p:nvSpPr>
        <p:spPr>
          <a:xfrm>
            <a:off x="7863840" y="0"/>
            <a:ext cx="457200"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2743200"/>
            <a:ext cx="8229600" cy="82296"/>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2825496"/>
            <a:ext cx="822960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2907792"/>
            <a:ext cx="8229600" cy="8229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143000"/>
            <a:ext cx="7315200" cy="1463040"/>
          </a:xfrm>
          <a:prstGeom prst="rect">
            <a:avLst/>
          </a:prstGeom>
          <a:noFill/>
        </p:spPr>
        <p:txBody>
          <a:bodyPr wrap="square" anchor="t">
            <a:spAutoFit/>
          </a:bodyPr>
          <a:lstStyle/>
          <a:p>
            <a:pPr algn="l">
              <a:spcAft>
                <a:spcPts val="200"/>
              </a:spcAft>
            </a:pPr>
            <a:r>
              <a:rPr sz="1300" b="1">
                <a:solidFill>
                  <a:srgbClr val="06D6A0"/>
                </a:solidFill>
                <a:latin typeface="Calibri"/>
              </a:rPr>
              <a:t>PROJET BTS CIEL  ·  OPTION INFORMATIQUE &amp; RÉSEAUX</a:t>
            </a:r>
          </a:p>
          <a:p>
            <a:pPr algn="l">
              <a:spcBef>
                <a:spcPts val="600"/>
              </a:spcBef>
              <a:spcAft>
                <a:spcPts val="200"/>
              </a:spcAft>
            </a:pPr>
            <a:r>
              <a:rPr sz="5800" b="1">
                <a:solidFill>
                  <a:srgbClr val="FFFFFF"/>
                </a:solidFill>
                <a:latin typeface="Calibri"/>
              </a:rPr>
              <a:t>ColorRoom</a:t>
            </a:r>
          </a:p>
        </p:txBody>
      </p:sp>
      <p:sp>
        <p:nvSpPr>
          <p:cNvPr id="9" name="TextBox 8"/>
          <p:cNvSpPr txBox="1"/>
          <p:nvPr/>
        </p:nvSpPr>
        <p:spPr>
          <a:xfrm>
            <a:off x="822960" y="3154680"/>
            <a:ext cx="7315200" cy="1280160"/>
          </a:xfrm>
          <a:prstGeom prst="rect">
            <a:avLst/>
          </a:prstGeom>
          <a:noFill/>
        </p:spPr>
        <p:txBody>
          <a:bodyPr wrap="square" anchor="t">
            <a:spAutoFit/>
          </a:bodyPr>
          <a:lstStyle/>
          <a:p>
            <a:pPr algn="l">
              <a:spcAft>
                <a:spcPts val="200"/>
              </a:spcAft>
            </a:pPr>
            <a:r>
              <a:rPr sz="2000" b="0">
                <a:solidFill>
                  <a:srgbClr val="CBD5E1"/>
                </a:solidFill>
                <a:latin typeface="Calibri"/>
              </a:rPr>
              <a:t>Serious games interactifs sur 42 dalles LED pilotées en réseau</a:t>
            </a:r>
          </a:p>
          <a:p>
            <a:pPr algn="l">
              <a:spcBef>
                <a:spcPts val="600"/>
              </a:spcBef>
              <a:spcAft>
                <a:spcPts val="200"/>
              </a:spcAft>
            </a:pPr>
            <a:r>
              <a:rPr sz="1500" b="0">
                <a:solidFill>
                  <a:srgbClr val="64748B"/>
                </a:solidFill>
                <a:latin typeface="Calibri"/>
              </a:rPr>
              <a:t>Application web embarquée sur Raspberry Pi  ·  pilotage et mesure de la lumière</a:t>
            </a:r>
          </a:p>
        </p:txBody>
      </p:sp>
      <p:sp>
        <p:nvSpPr>
          <p:cNvPr id="10" name="TextBox 9"/>
          <p:cNvSpPr txBox="1"/>
          <p:nvPr/>
        </p:nvSpPr>
        <p:spPr>
          <a:xfrm>
            <a:off x="822960" y="5029200"/>
            <a:ext cx="7315200" cy="1371600"/>
          </a:xfrm>
          <a:prstGeom prst="rect">
            <a:avLst/>
          </a:prstGeom>
          <a:noFill/>
        </p:spPr>
        <p:txBody>
          <a:bodyPr wrap="square" anchor="t">
            <a:spAutoFit/>
          </a:bodyPr>
          <a:lstStyle/>
          <a:p>
            <a:pPr algn="l">
              <a:spcAft>
                <a:spcPts val="200"/>
              </a:spcAft>
            </a:pPr>
            <a:r>
              <a:rPr sz="1600" b="1">
                <a:solidFill>
                  <a:srgbClr val="FFFFFF"/>
                </a:solidFill>
                <a:latin typeface="Calibri"/>
              </a:rPr>
              <a:t>Présenté par : [Ton Prénom NOM]</a:t>
            </a:r>
          </a:p>
          <a:p>
            <a:pPr algn="l">
              <a:spcBef>
                <a:spcPts val="400"/>
              </a:spcBef>
              <a:spcAft>
                <a:spcPts val="200"/>
              </a:spcAft>
            </a:pPr>
            <a:r>
              <a:rPr sz="1400" b="0">
                <a:solidFill>
                  <a:srgbClr val="64748B"/>
                </a:solidFill>
                <a:latin typeface="Calibri"/>
              </a:rPr>
              <a:t>Session 2026  ·  Lycée Édouard Branly</a:t>
            </a:r>
          </a:p>
          <a:p>
            <a:pPr algn="l">
              <a:spcBef>
                <a:spcPts val="200"/>
              </a:spcBef>
              <a:spcAft>
                <a:spcPts val="200"/>
              </a:spcAft>
            </a:pPr>
            <a:r>
              <a:rPr sz="1300" b="0">
                <a:solidFill>
                  <a:srgbClr val="64748B"/>
                </a:solidFill>
                <a:latin typeface="Calibri"/>
              </a:rPr>
              <a:t>Partenaires : LUMEN Campus Lumière  ·  ENTPE / LTDS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10058400" cy="914400"/>
          </a:xfrm>
          <a:prstGeom prst="rect">
            <a:avLst/>
          </a:prstGeom>
          <a:noFill/>
        </p:spPr>
        <p:txBody>
          <a:bodyPr wrap="square" anchor="t">
            <a:spAutoFit/>
          </a:bodyPr>
          <a:lstStyle/>
          <a:p>
            <a:pPr algn="l">
              <a:spcAft>
                <a:spcPts val="200"/>
              </a:spcAft>
            </a:pPr>
            <a:r>
              <a:rPr sz="3400" b="1">
                <a:solidFill>
                  <a:srgbClr val="0F172A"/>
                </a:solidFill>
                <a:latin typeface="Calibri"/>
              </a:rPr>
              <a:t>Sommaire</a:t>
            </a:r>
          </a:p>
        </p:txBody>
      </p:sp>
      <p:pic>
        <p:nvPicPr>
          <p:cNvPr id="5" name="Picture 4" descr="ic_play.png"/>
          <p:cNvPicPr>
            <a:picLocks noChangeAspect="1"/>
          </p:cNvPicPr>
          <p:nvPr/>
        </p:nvPicPr>
        <p:blipFill>
          <a:blip r:embed="rId2"/>
          <a:stretch>
            <a:fillRect/>
          </a:stretch>
        </p:blipFill>
        <p:spPr>
          <a:xfrm>
            <a:off x="822960" y="1554480"/>
            <a:ext cx="566928" cy="566928"/>
          </a:xfrm>
          <a:prstGeom prst="rect">
            <a:avLst/>
          </a:prstGeom>
        </p:spPr>
      </p:pic>
      <p:sp>
        <p:nvSpPr>
          <p:cNvPr id="6" name="TextBox 5"/>
          <p:cNvSpPr txBox="1"/>
          <p:nvPr/>
        </p:nvSpPr>
        <p:spPr>
          <a:xfrm>
            <a:off x="1554480" y="160020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1.  Contexte et commanditaire</a:t>
            </a:r>
          </a:p>
        </p:txBody>
      </p:sp>
      <p:pic>
        <p:nvPicPr>
          <p:cNvPr id="7" name="Picture 6" descr="ic_target.png"/>
          <p:cNvPicPr>
            <a:picLocks noChangeAspect="1"/>
          </p:cNvPicPr>
          <p:nvPr/>
        </p:nvPicPr>
        <p:blipFill>
          <a:blip r:embed="rId3"/>
          <a:stretch>
            <a:fillRect/>
          </a:stretch>
        </p:blipFill>
        <p:spPr>
          <a:xfrm>
            <a:off x="6492240" y="1554480"/>
            <a:ext cx="566928" cy="566928"/>
          </a:xfrm>
          <a:prstGeom prst="rect">
            <a:avLst/>
          </a:prstGeom>
        </p:spPr>
      </p:pic>
      <p:sp>
        <p:nvSpPr>
          <p:cNvPr id="8" name="TextBox 7"/>
          <p:cNvSpPr txBox="1"/>
          <p:nvPr/>
        </p:nvSpPr>
        <p:spPr>
          <a:xfrm>
            <a:off x="7223760" y="160020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2.  Problématique et objectifs</a:t>
            </a:r>
          </a:p>
        </p:txBody>
      </p:sp>
      <p:pic>
        <p:nvPicPr>
          <p:cNvPr id="9" name="Picture 8" descr="ic_gear.png"/>
          <p:cNvPicPr>
            <a:picLocks noChangeAspect="1"/>
          </p:cNvPicPr>
          <p:nvPr/>
        </p:nvPicPr>
        <p:blipFill>
          <a:blip r:embed="rId4"/>
          <a:stretch>
            <a:fillRect/>
          </a:stretch>
        </p:blipFill>
        <p:spPr>
          <a:xfrm>
            <a:off x="822960" y="2514600"/>
            <a:ext cx="566928" cy="566928"/>
          </a:xfrm>
          <a:prstGeom prst="rect">
            <a:avLst/>
          </a:prstGeom>
        </p:spPr>
      </p:pic>
      <p:sp>
        <p:nvSpPr>
          <p:cNvPr id="10" name="TextBox 9"/>
          <p:cNvSpPr txBox="1"/>
          <p:nvPr/>
        </p:nvSpPr>
        <p:spPr>
          <a:xfrm>
            <a:off x="1554480" y="256032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3.  Cahier des charges</a:t>
            </a:r>
          </a:p>
        </p:txBody>
      </p:sp>
      <p:pic>
        <p:nvPicPr>
          <p:cNvPr id="11" name="Picture 10" descr="ic_network.png"/>
          <p:cNvPicPr>
            <a:picLocks noChangeAspect="1"/>
          </p:cNvPicPr>
          <p:nvPr/>
        </p:nvPicPr>
        <p:blipFill>
          <a:blip r:embed="rId5"/>
          <a:stretch>
            <a:fillRect/>
          </a:stretch>
        </p:blipFill>
        <p:spPr>
          <a:xfrm>
            <a:off x="6492240" y="2514600"/>
            <a:ext cx="566928" cy="566928"/>
          </a:xfrm>
          <a:prstGeom prst="rect">
            <a:avLst/>
          </a:prstGeom>
        </p:spPr>
      </p:pic>
      <p:sp>
        <p:nvSpPr>
          <p:cNvPr id="12" name="TextBox 11"/>
          <p:cNvSpPr txBox="1"/>
          <p:nvPr/>
        </p:nvSpPr>
        <p:spPr>
          <a:xfrm>
            <a:off x="7223760" y="256032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4.  Architecture et réseau</a:t>
            </a:r>
          </a:p>
        </p:txBody>
      </p:sp>
      <p:pic>
        <p:nvPicPr>
          <p:cNvPr id="13" name="Picture 12" descr="ic_code.png"/>
          <p:cNvPicPr>
            <a:picLocks noChangeAspect="1"/>
          </p:cNvPicPr>
          <p:nvPr/>
        </p:nvPicPr>
        <p:blipFill>
          <a:blip r:embed="rId6"/>
          <a:stretch>
            <a:fillRect/>
          </a:stretch>
        </p:blipFill>
        <p:spPr>
          <a:xfrm>
            <a:off x="822960" y="3474720"/>
            <a:ext cx="566928" cy="566928"/>
          </a:xfrm>
          <a:prstGeom prst="rect">
            <a:avLst/>
          </a:prstGeom>
        </p:spPr>
      </p:pic>
      <p:sp>
        <p:nvSpPr>
          <p:cNvPr id="14" name="TextBox 13"/>
          <p:cNvSpPr txBox="1"/>
          <p:nvPr/>
        </p:nvSpPr>
        <p:spPr>
          <a:xfrm>
            <a:off x="1554480" y="352044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5.  Choix techniques et stack</a:t>
            </a:r>
          </a:p>
        </p:txBody>
      </p:sp>
      <p:pic>
        <p:nvPicPr>
          <p:cNvPr id="15" name="Picture 14" descr="ic_puzzle.png"/>
          <p:cNvPicPr>
            <a:picLocks noChangeAspect="1"/>
          </p:cNvPicPr>
          <p:nvPr/>
        </p:nvPicPr>
        <p:blipFill>
          <a:blip r:embed="rId7"/>
          <a:stretch>
            <a:fillRect/>
          </a:stretch>
        </p:blipFill>
        <p:spPr>
          <a:xfrm>
            <a:off x="6492240" y="3474720"/>
            <a:ext cx="566928" cy="566928"/>
          </a:xfrm>
          <a:prstGeom prst="rect">
            <a:avLst/>
          </a:prstGeom>
        </p:spPr>
      </p:pic>
      <p:sp>
        <p:nvSpPr>
          <p:cNvPr id="16" name="TextBox 15"/>
          <p:cNvSpPr txBox="1"/>
          <p:nvPr/>
        </p:nvSpPr>
        <p:spPr>
          <a:xfrm>
            <a:off x="7223760" y="352044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6.  Fonctionnalités du projet</a:t>
            </a:r>
          </a:p>
        </p:txBody>
      </p:sp>
      <p:pic>
        <p:nvPicPr>
          <p:cNvPr id="17" name="Picture 16" descr="ic_robot.png"/>
          <p:cNvPicPr>
            <a:picLocks noChangeAspect="1"/>
          </p:cNvPicPr>
          <p:nvPr/>
        </p:nvPicPr>
        <p:blipFill>
          <a:blip r:embed="rId8"/>
          <a:stretch>
            <a:fillRect/>
          </a:stretch>
        </p:blipFill>
        <p:spPr>
          <a:xfrm>
            <a:off x="822960" y="4434840"/>
            <a:ext cx="566928" cy="566928"/>
          </a:xfrm>
          <a:prstGeom prst="rect">
            <a:avLst/>
          </a:prstGeom>
        </p:spPr>
      </p:pic>
      <p:sp>
        <p:nvSpPr>
          <p:cNvPr id="18" name="TextBox 17"/>
          <p:cNvSpPr txBox="1"/>
          <p:nvPr/>
        </p:nvSpPr>
        <p:spPr>
          <a:xfrm>
            <a:off x="1554480" y="448056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7.  Éditeur, IA et mesure</a:t>
            </a:r>
          </a:p>
        </p:txBody>
      </p:sp>
      <p:pic>
        <p:nvPicPr>
          <p:cNvPr id="19" name="Picture 18" descr="ic_lock.png"/>
          <p:cNvPicPr>
            <a:picLocks noChangeAspect="1"/>
          </p:cNvPicPr>
          <p:nvPr/>
        </p:nvPicPr>
        <p:blipFill>
          <a:blip r:embed="rId9"/>
          <a:stretch>
            <a:fillRect/>
          </a:stretch>
        </p:blipFill>
        <p:spPr>
          <a:xfrm>
            <a:off x="6492240" y="4434840"/>
            <a:ext cx="566928" cy="566928"/>
          </a:xfrm>
          <a:prstGeom prst="rect">
            <a:avLst/>
          </a:prstGeom>
        </p:spPr>
      </p:pic>
      <p:sp>
        <p:nvSpPr>
          <p:cNvPr id="20" name="TextBox 19"/>
          <p:cNvSpPr txBox="1"/>
          <p:nvPr/>
        </p:nvSpPr>
        <p:spPr>
          <a:xfrm>
            <a:off x="7223760" y="448056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8.  Sécurité</a:t>
            </a:r>
          </a:p>
        </p:txBody>
      </p:sp>
      <p:pic>
        <p:nvPicPr>
          <p:cNvPr id="21" name="Picture 20" descr="ic_doc.png"/>
          <p:cNvPicPr>
            <a:picLocks noChangeAspect="1"/>
          </p:cNvPicPr>
          <p:nvPr/>
        </p:nvPicPr>
        <p:blipFill>
          <a:blip r:embed="rId10"/>
          <a:stretch>
            <a:fillRect/>
          </a:stretch>
        </p:blipFill>
        <p:spPr>
          <a:xfrm>
            <a:off x="822960" y="5394960"/>
            <a:ext cx="566928" cy="566928"/>
          </a:xfrm>
          <a:prstGeom prst="rect">
            <a:avLst/>
          </a:prstGeom>
        </p:spPr>
      </p:pic>
      <p:sp>
        <p:nvSpPr>
          <p:cNvPr id="22" name="TextBox 21"/>
          <p:cNvSpPr txBox="1"/>
          <p:nvPr/>
        </p:nvSpPr>
        <p:spPr>
          <a:xfrm>
            <a:off x="1554480" y="544068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9.  Gestion de projet</a:t>
            </a:r>
          </a:p>
        </p:txBody>
      </p:sp>
      <p:pic>
        <p:nvPicPr>
          <p:cNvPr id="23" name="Picture 22" descr="ic_chart.png"/>
          <p:cNvPicPr>
            <a:picLocks noChangeAspect="1"/>
          </p:cNvPicPr>
          <p:nvPr/>
        </p:nvPicPr>
        <p:blipFill>
          <a:blip r:embed="rId11"/>
          <a:stretch>
            <a:fillRect/>
          </a:stretch>
        </p:blipFill>
        <p:spPr>
          <a:xfrm>
            <a:off x="6492240" y="5394960"/>
            <a:ext cx="566928" cy="566928"/>
          </a:xfrm>
          <a:prstGeom prst="rect">
            <a:avLst/>
          </a:prstGeom>
        </p:spPr>
      </p:pic>
      <p:sp>
        <p:nvSpPr>
          <p:cNvPr id="24" name="TextBox 23"/>
          <p:cNvSpPr txBox="1"/>
          <p:nvPr/>
        </p:nvSpPr>
        <p:spPr>
          <a:xfrm>
            <a:off x="7223760" y="5440680"/>
            <a:ext cx="4754880" cy="548640"/>
          </a:xfrm>
          <a:prstGeom prst="rect">
            <a:avLst/>
          </a:prstGeom>
          <a:noFill/>
        </p:spPr>
        <p:txBody>
          <a:bodyPr wrap="square" anchor="ctr">
            <a:spAutoFit/>
          </a:bodyPr>
          <a:lstStyle/>
          <a:p>
            <a:pPr algn="l">
              <a:spcAft>
                <a:spcPts val="200"/>
              </a:spcAft>
            </a:pPr>
            <a:r>
              <a:rPr sz="1800" b="1">
                <a:solidFill>
                  <a:srgbClr val="334155"/>
                </a:solidFill>
                <a:latin typeface="Calibri"/>
              </a:rPr>
              <a:t>10.  Bilan et perspectives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LE PROJET</a:t>
            </a:r>
          </a:p>
          <a:p>
            <a:pPr algn="l">
              <a:spcAft>
                <a:spcPts val="200"/>
              </a:spcAft>
            </a:pPr>
            <a:r>
              <a:rPr sz="2500" b="1">
                <a:solidFill>
                  <a:srgbClr val="FFFFFF"/>
                </a:solidFill>
                <a:latin typeface="Calibri"/>
              </a:rPr>
              <a:t>Contexte et commanditaire</a:t>
            </a:r>
          </a:p>
        </p:txBody>
      </p:sp>
      <p:pic>
        <p:nvPicPr>
          <p:cNvPr id="7" name="Picture 6" descr="ic_play.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6583680" cy="4572000"/>
          </a:xfrm>
          <a:prstGeom prst="rect">
            <a:avLst/>
          </a:prstGeom>
          <a:noFill/>
        </p:spPr>
        <p:txBody>
          <a:bodyPr wrap="square">
            <a:spAutoFit/>
          </a:bodyPr>
          <a:lstStyle/>
          <a:p>
            <a:pPr>
              <a:spcAft>
                <a:spcPts val="1400"/>
              </a:spcAft>
            </a:pPr>
            <a:r>
              <a:rPr sz="1700">
                <a:solidFill>
                  <a:srgbClr val="334155"/>
                </a:solidFill>
                <a:latin typeface="Calibri"/>
              </a:rPr>
              <a:t>▸ La ColorRoom : une salle équipée de 42 dalles LED RVB pilotables une par une</a:t>
            </a:r>
          </a:p>
          <a:p>
            <a:pPr>
              <a:spcAft>
                <a:spcPts val="1400"/>
              </a:spcAft>
            </a:pPr>
            <a:r>
              <a:rPr sz="1700">
                <a:solidFill>
                  <a:srgbClr val="334155"/>
                </a:solidFill>
                <a:latin typeface="Calibri"/>
              </a:rPr>
              <a:t>▸ Commanditaire : LUMEN Campus Lumière (Lyon), avec l'ENTPE et le laboratoire LTDS</a:t>
            </a:r>
          </a:p>
          <a:p>
            <a:pPr>
              <a:spcAft>
                <a:spcPts val="1400"/>
              </a:spcAft>
            </a:pPr>
            <a:r>
              <a:rPr sz="1700">
                <a:solidFill>
                  <a:srgbClr val="334155"/>
                </a:solidFill>
                <a:latin typeface="Calibri"/>
              </a:rPr>
              <a:t>▸ But : des serious games pour sensibiliser à la couleur, la lumière et la perception</a:t>
            </a:r>
          </a:p>
          <a:p>
            <a:pPr lvl="1">
              <a:spcAft>
                <a:spcPts val="1400"/>
              </a:spcAft>
            </a:pPr>
            <a:r>
              <a:rPr sz="1500">
                <a:solidFill>
                  <a:srgbClr val="64748B"/>
                </a:solidFill>
                <a:latin typeface="Calibri"/>
              </a:rPr>
              <a:t>•  Public : étudiants, visiteurs, démonstrations pédagogiques</a:t>
            </a:r>
          </a:p>
          <a:p>
            <a:pPr>
              <a:spcAft>
                <a:spcPts val="1400"/>
              </a:spcAft>
            </a:pPr>
            <a:r>
              <a:rPr sz="1700">
                <a:solidFill>
                  <a:srgbClr val="334155"/>
                </a:solidFill>
                <a:latin typeface="Calibri"/>
              </a:rPr>
              <a:t>▸ Le matériel existait : il fallait le logiciel pour l'animer et le rendre utile</a:t>
            </a:r>
          </a:p>
        </p:txBody>
      </p:sp>
      <p:pic>
        <p:nvPicPr>
          <p:cNvPr id="9" name="Picture 8" descr="led_grid.png"/>
          <p:cNvPicPr>
            <a:picLocks noChangeAspect="1"/>
          </p:cNvPicPr>
          <p:nvPr/>
        </p:nvPicPr>
        <p:blipFill>
          <a:blip r:embed="rId3"/>
          <a:stretch>
            <a:fillRect/>
          </a:stretch>
        </p:blipFill>
        <p:spPr>
          <a:xfrm>
            <a:off x="7635240" y="1600200"/>
            <a:ext cx="3931920" cy="49377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20040"/>
            <a:ext cx="10058400" cy="822960"/>
          </a:xfrm>
          <a:prstGeom prst="rect">
            <a:avLst/>
          </a:prstGeom>
          <a:noFill/>
        </p:spPr>
        <p:txBody>
          <a:bodyPr wrap="square" anchor="t">
            <a:spAutoFit/>
          </a:bodyPr>
          <a:lstStyle/>
          <a:p>
            <a:pPr algn="l">
              <a:spcAft>
                <a:spcPts val="200"/>
              </a:spcAft>
            </a:pPr>
            <a:r>
              <a:rPr sz="1200" b="1">
                <a:solidFill>
                  <a:srgbClr val="06D6A0"/>
                </a:solidFill>
                <a:latin typeface="Calibri"/>
              </a:rPr>
              <a:t>EN BREF</a:t>
            </a:r>
          </a:p>
          <a:p>
            <a:pPr algn="l">
              <a:spcAft>
                <a:spcPts val="200"/>
              </a:spcAft>
            </a:pPr>
            <a:r>
              <a:rPr sz="2500" b="1">
                <a:solidFill>
                  <a:srgbClr val="FFFFFF"/>
                </a:solidFill>
                <a:latin typeface="Calibri"/>
              </a:rPr>
              <a:t>Chiffres clés du projet</a:t>
            </a:r>
          </a:p>
        </p:txBody>
      </p:sp>
      <p:sp>
        <p:nvSpPr>
          <p:cNvPr id="5" name="Rounded Rectangle 4"/>
          <p:cNvSpPr/>
          <p:nvPr/>
        </p:nvSpPr>
        <p:spPr>
          <a:xfrm>
            <a:off x="640080" y="1554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c_cube.png"/>
          <p:cNvPicPr>
            <a:picLocks noChangeAspect="1"/>
          </p:cNvPicPr>
          <p:nvPr/>
        </p:nvPicPr>
        <p:blipFill>
          <a:blip r:embed="rId2"/>
          <a:stretch>
            <a:fillRect/>
          </a:stretch>
        </p:blipFill>
        <p:spPr>
          <a:xfrm>
            <a:off x="868680" y="1874520"/>
            <a:ext cx="868680" cy="868680"/>
          </a:xfrm>
          <a:prstGeom prst="rect">
            <a:avLst/>
          </a:prstGeom>
        </p:spPr>
      </p:pic>
      <p:sp>
        <p:nvSpPr>
          <p:cNvPr id="7" name="TextBox 6"/>
          <p:cNvSpPr txBox="1"/>
          <p:nvPr/>
        </p:nvSpPr>
        <p:spPr>
          <a:xfrm>
            <a:off x="1874520" y="1783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42</a:t>
            </a:r>
          </a:p>
          <a:p>
            <a:pPr algn="l">
              <a:spcBef>
                <a:spcPts val="200"/>
              </a:spcBef>
              <a:spcAft>
                <a:spcPts val="200"/>
              </a:spcAft>
            </a:pPr>
            <a:r>
              <a:rPr sz="1300" b="0">
                <a:solidFill>
                  <a:srgbClr val="CBD5E1"/>
                </a:solidFill>
                <a:latin typeface="Calibri"/>
              </a:rPr>
              <a:t>dalles LED RVB</a:t>
            </a:r>
          </a:p>
        </p:txBody>
      </p:sp>
      <p:sp>
        <p:nvSpPr>
          <p:cNvPr id="8" name="Rounded Rectangle 7"/>
          <p:cNvSpPr/>
          <p:nvPr/>
        </p:nvSpPr>
        <p:spPr>
          <a:xfrm>
            <a:off x="4343400" y="1554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ontainer.png"/>
          <p:cNvPicPr>
            <a:picLocks noChangeAspect="1"/>
          </p:cNvPicPr>
          <p:nvPr/>
        </p:nvPicPr>
        <p:blipFill>
          <a:blip r:embed="rId3"/>
          <a:stretch>
            <a:fillRect/>
          </a:stretch>
        </p:blipFill>
        <p:spPr>
          <a:xfrm>
            <a:off x="4572000" y="1874520"/>
            <a:ext cx="868680" cy="868680"/>
          </a:xfrm>
          <a:prstGeom prst="rect">
            <a:avLst/>
          </a:prstGeom>
        </p:spPr>
      </p:pic>
      <p:sp>
        <p:nvSpPr>
          <p:cNvPr id="10" name="TextBox 9"/>
          <p:cNvSpPr txBox="1"/>
          <p:nvPr/>
        </p:nvSpPr>
        <p:spPr>
          <a:xfrm>
            <a:off x="5577840" y="1783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4</a:t>
            </a:r>
          </a:p>
          <a:p>
            <a:pPr algn="l">
              <a:spcBef>
                <a:spcPts val="200"/>
              </a:spcBef>
              <a:spcAft>
                <a:spcPts val="200"/>
              </a:spcAft>
            </a:pPr>
            <a:r>
              <a:rPr sz="1300" b="0">
                <a:solidFill>
                  <a:srgbClr val="CBD5E1"/>
                </a:solidFill>
                <a:latin typeface="Calibri"/>
              </a:rPr>
              <a:t>conteneurs Docker</a:t>
            </a:r>
          </a:p>
        </p:txBody>
      </p:sp>
      <p:sp>
        <p:nvSpPr>
          <p:cNvPr id="11" name="Rounded Rectangle 10"/>
          <p:cNvSpPr/>
          <p:nvPr/>
        </p:nvSpPr>
        <p:spPr>
          <a:xfrm>
            <a:off x="8046720" y="1554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_puzzle.png"/>
          <p:cNvPicPr>
            <a:picLocks noChangeAspect="1"/>
          </p:cNvPicPr>
          <p:nvPr/>
        </p:nvPicPr>
        <p:blipFill>
          <a:blip r:embed="rId4"/>
          <a:stretch>
            <a:fillRect/>
          </a:stretch>
        </p:blipFill>
        <p:spPr>
          <a:xfrm>
            <a:off x="8275320" y="1874520"/>
            <a:ext cx="868680" cy="868680"/>
          </a:xfrm>
          <a:prstGeom prst="rect">
            <a:avLst/>
          </a:prstGeom>
        </p:spPr>
      </p:pic>
      <p:sp>
        <p:nvSpPr>
          <p:cNvPr id="13" name="TextBox 12"/>
          <p:cNvSpPr txBox="1"/>
          <p:nvPr/>
        </p:nvSpPr>
        <p:spPr>
          <a:xfrm>
            <a:off x="9281160" y="1783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190</a:t>
            </a:r>
          </a:p>
          <a:p>
            <a:pPr algn="l">
              <a:spcBef>
                <a:spcPts val="200"/>
              </a:spcBef>
              <a:spcAft>
                <a:spcPts val="200"/>
              </a:spcAft>
            </a:pPr>
            <a:r>
              <a:rPr sz="1300" b="0">
                <a:solidFill>
                  <a:srgbClr val="CBD5E1"/>
                </a:solidFill>
                <a:latin typeface="Calibri"/>
              </a:rPr>
              <a:t>blocs dans l'éditeur</a:t>
            </a:r>
          </a:p>
        </p:txBody>
      </p:sp>
      <p:sp>
        <p:nvSpPr>
          <p:cNvPr id="14" name="Rounded Rectangle 13"/>
          <p:cNvSpPr/>
          <p:nvPr/>
        </p:nvSpPr>
        <p:spPr>
          <a:xfrm>
            <a:off x="640080" y="3840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robot.png"/>
          <p:cNvPicPr>
            <a:picLocks noChangeAspect="1"/>
          </p:cNvPicPr>
          <p:nvPr/>
        </p:nvPicPr>
        <p:blipFill>
          <a:blip r:embed="rId5"/>
          <a:stretch>
            <a:fillRect/>
          </a:stretch>
        </p:blipFill>
        <p:spPr>
          <a:xfrm>
            <a:off x="868680" y="4160520"/>
            <a:ext cx="868680" cy="868680"/>
          </a:xfrm>
          <a:prstGeom prst="rect">
            <a:avLst/>
          </a:prstGeom>
        </p:spPr>
      </p:pic>
      <p:sp>
        <p:nvSpPr>
          <p:cNvPr id="16" name="TextBox 15"/>
          <p:cNvSpPr txBox="1"/>
          <p:nvPr/>
        </p:nvSpPr>
        <p:spPr>
          <a:xfrm>
            <a:off x="1874520" y="4069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2</a:t>
            </a:r>
          </a:p>
          <a:p>
            <a:pPr algn="l">
              <a:spcBef>
                <a:spcPts val="200"/>
              </a:spcBef>
              <a:spcAft>
                <a:spcPts val="200"/>
              </a:spcAft>
            </a:pPr>
            <a:r>
              <a:rPr sz="1300" b="0">
                <a:solidFill>
                  <a:srgbClr val="CBD5E1"/>
                </a:solidFill>
                <a:latin typeface="Calibri"/>
              </a:rPr>
              <a:t>moteurs d'IA (cloud + local)</a:t>
            </a:r>
          </a:p>
        </p:txBody>
      </p:sp>
      <p:sp>
        <p:nvSpPr>
          <p:cNvPr id="17" name="Rounded Rectangle 16"/>
          <p:cNvSpPr/>
          <p:nvPr/>
        </p:nvSpPr>
        <p:spPr>
          <a:xfrm>
            <a:off x="4343400" y="3840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play.png"/>
          <p:cNvPicPr>
            <a:picLocks noChangeAspect="1"/>
          </p:cNvPicPr>
          <p:nvPr/>
        </p:nvPicPr>
        <p:blipFill>
          <a:blip r:embed="rId6"/>
          <a:stretch>
            <a:fillRect/>
          </a:stretch>
        </p:blipFill>
        <p:spPr>
          <a:xfrm>
            <a:off x="4572000" y="4160520"/>
            <a:ext cx="868680" cy="868680"/>
          </a:xfrm>
          <a:prstGeom prst="rect">
            <a:avLst/>
          </a:prstGeom>
        </p:spPr>
      </p:pic>
      <p:sp>
        <p:nvSpPr>
          <p:cNvPr id="19" name="TextBox 18"/>
          <p:cNvSpPr txBox="1"/>
          <p:nvPr/>
        </p:nvSpPr>
        <p:spPr>
          <a:xfrm>
            <a:off x="5577840" y="4069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6</a:t>
            </a:r>
          </a:p>
          <a:p>
            <a:pPr algn="l">
              <a:spcBef>
                <a:spcPts val="200"/>
              </a:spcBef>
              <a:spcAft>
                <a:spcPts val="200"/>
              </a:spcAft>
            </a:pPr>
            <a:r>
              <a:rPr sz="1300" b="0">
                <a:solidFill>
                  <a:srgbClr val="CBD5E1"/>
                </a:solidFill>
                <a:latin typeface="Calibri"/>
              </a:rPr>
              <a:t>jeux intégrés</a:t>
            </a:r>
          </a:p>
        </p:txBody>
      </p:sp>
      <p:sp>
        <p:nvSpPr>
          <p:cNvPr id="20" name="Rounded Rectangle 19"/>
          <p:cNvSpPr/>
          <p:nvPr/>
        </p:nvSpPr>
        <p:spPr>
          <a:xfrm>
            <a:off x="8046720" y="3840480"/>
            <a:ext cx="3474720" cy="2057400"/>
          </a:xfrm>
          <a:prstGeom prst="roundRect">
            <a:avLst/>
          </a:prstGeom>
          <a:solidFill>
            <a:srgbClr val="172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check.png"/>
          <p:cNvPicPr>
            <a:picLocks noChangeAspect="1"/>
          </p:cNvPicPr>
          <p:nvPr/>
        </p:nvPicPr>
        <p:blipFill>
          <a:blip r:embed="rId7"/>
          <a:stretch>
            <a:fillRect/>
          </a:stretch>
        </p:blipFill>
        <p:spPr>
          <a:xfrm>
            <a:off x="8275320" y="4160520"/>
            <a:ext cx="868680" cy="868680"/>
          </a:xfrm>
          <a:prstGeom prst="rect">
            <a:avLst/>
          </a:prstGeom>
        </p:spPr>
      </p:pic>
      <p:sp>
        <p:nvSpPr>
          <p:cNvPr id="22" name="TextBox 21"/>
          <p:cNvSpPr txBox="1"/>
          <p:nvPr/>
        </p:nvSpPr>
        <p:spPr>
          <a:xfrm>
            <a:off x="9281160" y="4069080"/>
            <a:ext cx="2103120" cy="1645920"/>
          </a:xfrm>
          <a:prstGeom prst="rect">
            <a:avLst/>
          </a:prstGeom>
          <a:noFill/>
        </p:spPr>
        <p:txBody>
          <a:bodyPr wrap="square" anchor="t">
            <a:spAutoFit/>
          </a:bodyPr>
          <a:lstStyle/>
          <a:p>
            <a:pPr algn="l">
              <a:spcAft>
                <a:spcPts val="200"/>
              </a:spcAft>
            </a:pPr>
            <a:r>
              <a:rPr sz="4000" b="1">
                <a:solidFill>
                  <a:srgbClr val="FFFFFF"/>
                </a:solidFill>
                <a:latin typeface="Calibri"/>
              </a:rPr>
              <a:t>0</a:t>
            </a:r>
          </a:p>
          <a:p>
            <a:pPr algn="l">
              <a:spcBef>
                <a:spcPts val="200"/>
              </a:spcBef>
              <a:spcAft>
                <a:spcPts val="200"/>
              </a:spcAft>
            </a:pPr>
            <a:r>
              <a:rPr sz="1300" b="0">
                <a:solidFill>
                  <a:srgbClr val="CBD5E1"/>
                </a:solidFill>
                <a:latin typeface="Calibri"/>
              </a:rPr>
              <a:t>tiret long dans ce deck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2</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LE BESOIN</a:t>
            </a:r>
          </a:p>
          <a:p>
            <a:pPr algn="l">
              <a:spcAft>
                <a:spcPts val="200"/>
              </a:spcAft>
            </a:pPr>
            <a:r>
              <a:rPr sz="2500" b="1">
                <a:solidFill>
                  <a:srgbClr val="FFFFFF"/>
                </a:solidFill>
                <a:latin typeface="Calibri"/>
              </a:rPr>
              <a:t>Problématique et objectifs</a:t>
            </a:r>
          </a:p>
        </p:txBody>
      </p:sp>
      <p:pic>
        <p:nvPicPr>
          <p:cNvPr id="7" name="Picture 6" descr="ic_target.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640080" y="1463040"/>
            <a:ext cx="10881360" cy="10515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424160" cy="914400"/>
          </a:xfrm>
          <a:prstGeom prst="rect">
            <a:avLst/>
          </a:prstGeom>
          <a:noFill/>
        </p:spPr>
        <p:txBody>
          <a:bodyPr wrap="square" anchor="t">
            <a:spAutoFit/>
          </a:bodyPr>
          <a:lstStyle/>
          <a:p>
            <a:pPr algn="l">
              <a:spcAft>
                <a:spcPts val="200"/>
              </a:spcAft>
            </a:pPr>
            <a:r>
              <a:rPr sz="1700" b="1">
                <a:solidFill>
                  <a:srgbClr val="FFFFFF"/>
                </a:solidFill>
                <a:latin typeface="Calibri"/>
              </a:rPr>
              <a:t>Comment piloter et mesurer la lumière de 42 dalles LED, tout en proposant</a:t>
            </a:r>
          </a:p>
          <a:p>
            <a:pPr algn="l">
              <a:spcBef>
                <a:spcPts val="200"/>
              </a:spcBef>
              <a:spcAft>
                <a:spcPts val="200"/>
              </a:spcAft>
            </a:pPr>
            <a:r>
              <a:rPr sz="1700" b="1">
                <a:solidFill>
                  <a:srgbClr val="FFFFFF"/>
                </a:solidFill>
                <a:latin typeface="Calibri"/>
              </a:rPr>
              <a:t>des jeux éducatifs créables facilement, sur un système autonome et hors ligne ?</a:t>
            </a:r>
          </a:p>
        </p:txBody>
      </p:sp>
      <p:pic>
        <p:nvPicPr>
          <p:cNvPr id="10" name="Picture 9" descr="ic_network.png"/>
          <p:cNvPicPr>
            <a:picLocks noChangeAspect="1"/>
          </p:cNvPicPr>
          <p:nvPr/>
        </p:nvPicPr>
        <p:blipFill>
          <a:blip r:embed="rId3"/>
          <a:stretch>
            <a:fillRect/>
          </a:stretch>
        </p:blipFill>
        <p:spPr>
          <a:xfrm>
            <a:off x="731520" y="2788920"/>
            <a:ext cx="548640" cy="548640"/>
          </a:xfrm>
          <a:prstGeom prst="rect">
            <a:avLst/>
          </a:prstGeom>
        </p:spPr>
      </p:pic>
      <p:sp>
        <p:nvSpPr>
          <p:cNvPr id="11" name="TextBox 10"/>
          <p:cNvSpPr txBox="1"/>
          <p:nvPr/>
        </p:nvSpPr>
        <p:spPr>
          <a:xfrm>
            <a:off x="1463040" y="2807208"/>
            <a:ext cx="10058400" cy="548640"/>
          </a:xfrm>
          <a:prstGeom prst="rect">
            <a:avLst/>
          </a:prstGeom>
          <a:noFill/>
        </p:spPr>
        <p:txBody>
          <a:bodyPr wrap="square" anchor="ctr">
            <a:spAutoFit/>
          </a:bodyPr>
          <a:lstStyle/>
          <a:p>
            <a:pPr algn="l">
              <a:spcAft>
                <a:spcPts val="200"/>
              </a:spcAft>
            </a:pPr>
            <a:r>
              <a:rPr sz="1600" b="0">
                <a:solidFill>
                  <a:srgbClr val="334155"/>
                </a:solidFill>
                <a:latin typeface="Calibri"/>
              </a:rPr>
              <a:t>Piloter les dalles en temps réel via le réseau (couleur, intensité)</a:t>
            </a:r>
          </a:p>
        </p:txBody>
      </p:sp>
      <p:pic>
        <p:nvPicPr>
          <p:cNvPr id="12" name="Picture 11" descr="ic_palette.png"/>
          <p:cNvPicPr>
            <a:picLocks noChangeAspect="1"/>
          </p:cNvPicPr>
          <p:nvPr/>
        </p:nvPicPr>
        <p:blipFill>
          <a:blip r:embed="rId4"/>
          <a:stretch>
            <a:fillRect/>
          </a:stretch>
        </p:blipFill>
        <p:spPr>
          <a:xfrm>
            <a:off x="731520" y="3502152"/>
            <a:ext cx="548640" cy="548640"/>
          </a:xfrm>
          <a:prstGeom prst="rect">
            <a:avLst/>
          </a:prstGeom>
        </p:spPr>
      </p:pic>
      <p:sp>
        <p:nvSpPr>
          <p:cNvPr id="13" name="TextBox 12"/>
          <p:cNvSpPr txBox="1"/>
          <p:nvPr/>
        </p:nvSpPr>
        <p:spPr>
          <a:xfrm>
            <a:off x="1463040" y="3520440"/>
            <a:ext cx="10058400" cy="548640"/>
          </a:xfrm>
          <a:prstGeom prst="rect">
            <a:avLst/>
          </a:prstGeom>
          <a:noFill/>
        </p:spPr>
        <p:txBody>
          <a:bodyPr wrap="square" anchor="ctr">
            <a:spAutoFit/>
          </a:bodyPr>
          <a:lstStyle/>
          <a:p>
            <a:pPr algn="l">
              <a:spcAft>
                <a:spcPts val="200"/>
              </a:spcAft>
            </a:pPr>
            <a:r>
              <a:rPr sz="1600" b="0">
                <a:solidFill>
                  <a:srgbClr val="334155"/>
                </a:solidFill>
                <a:latin typeface="Calibri"/>
              </a:rPr>
              <a:t>Mesurer réellement la lumière émise (colorimètre Konica CS-160)</a:t>
            </a:r>
          </a:p>
        </p:txBody>
      </p:sp>
      <p:pic>
        <p:nvPicPr>
          <p:cNvPr id="14" name="Picture 13" descr="ic_puzzle.png"/>
          <p:cNvPicPr>
            <a:picLocks noChangeAspect="1"/>
          </p:cNvPicPr>
          <p:nvPr/>
        </p:nvPicPr>
        <p:blipFill>
          <a:blip r:embed="rId5"/>
          <a:stretch>
            <a:fillRect/>
          </a:stretch>
        </p:blipFill>
        <p:spPr>
          <a:xfrm>
            <a:off x="731520" y="4215384"/>
            <a:ext cx="548640" cy="548640"/>
          </a:xfrm>
          <a:prstGeom prst="rect">
            <a:avLst/>
          </a:prstGeom>
        </p:spPr>
      </p:pic>
      <p:sp>
        <p:nvSpPr>
          <p:cNvPr id="15" name="TextBox 14"/>
          <p:cNvSpPr txBox="1"/>
          <p:nvPr/>
        </p:nvSpPr>
        <p:spPr>
          <a:xfrm>
            <a:off x="1463040" y="4233672"/>
            <a:ext cx="10058400" cy="548640"/>
          </a:xfrm>
          <a:prstGeom prst="rect">
            <a:avLst/>
          </a:prstGeom>
          <a:noFill/>
        </p:spPr>
        <p:txBody>
          <a:bodyPr wrap="square" anchor="ctr">
            <a:spAutoFit/>
          </a:bodyPr>
          <a:lstStyle/>
          <a:p>
            <a:pPr algn="l">
              <a:spcAft>
                <a:spcPts val="200"/>
              </a:spcAft>
            </a:pPr>
            <a:r>
              <a:rPr sz="1600" b="0">
                <a:solidFill>
                  <a:srgbClr val="334155"/>
                </a:solidFill>
                <a:latin typeface="Calibri"/>
              </a:rPr>
              <a:t>Offrir des jeux et un éditeur pour en créer sans coder</a:t>
            </a:r>
          </a:p>
        </p:txBody>
      </p:sp>
      <p:pic>
        <p:nvPicPr>
          <p:cNvPr id="16" name="Picture 15" descr="ic_container.png"/>
          <p:cNvPicPr>
            <a:picLocks noChangeAspect="1"/>
          </p:cNvPicPr>
          <p:nvPr/>
        </p:nvPicPr>
        <p:blipFill>
          <a:blip r:embed="rId6"/>
          <a:stretch>
            <a:fillRect/>
          </a:stretch>
        </p:blipFill>
        <p:spPr>
          <a:xfrm>
            <a:off x="731520" y="4928616"/>
            <a:ext cx="548640" cy="548640"/>
          </a:xfrm>
          <a:prstGeom prst="rect">
            <a:avLst/>
          </a:prstGeom>
        </p:spPr>
      </p:pic>
      <p:sp>
        <p:nvSpPr>
          <p:cNvPr id="17" name="TextBox 16"/>
          <p:cNvSpPr txBox="1"/>
          <p:nvPr/>
        </p:nvSpPr>
        <p:spPr>
          <a:xfrm>
            <a:off x="1463040" y="4946904"/>
            <a:ext cx="10058400" cy="548640"/>
          </a:xfrm>
          <a:prstGeom prst="rect">
            <a:avLst/>
          </a:prstGeom>
          <a:noFill/>
        </p:spPr>
        <p:txBody>
          <a:bodyPr wrap="square" anchor="ctr">
            <a:spAutoFit/>
          </a:bodyPr>
          <a:lstStyle/>
          <a:p>
            <a:pPr algn="l">
              <a:spcAft>
                <a:spcPts val="200"/>
              </a:spcAft>
            </a:pPr>
            <a:r>
              <a:rPr sz="1600" b="0">
                <a:solidFill>
                  <a:srgbClr val="334155"/>
                </a:solidFill>
                <a:latin typeface="Calibri"/>
              </a:rPr>
              <a:t>Fonctionner 100 % en local sur Raspberry Pi</a:t>
            </a:r>
          </a:p>
        </p:txBody>
      </p:sp>
      <p:pic>
        <p:nvPicPr>
          <p:cNvPr id="18" name="Picture 17" descr="ic_phone.png"/>
          <p:cNvPicPr>
            <a:picLocks noChangeAspect="1"/>
          </p:cNvPicPr>
          <p:nvPr/>
        </p:nvPicPr>
        <p:blipFill>
          <a:blip r:embed="rId7"/>
          <a:stretch>
            <a:fillRect/>
          </a:stretch>
        </p:blipFill>
        <p:spPr>
          <a:xfrm>
            <a:off x="731520" y="5641848"/>
            <a:ext cx="548640" cy="548640"/>
          </a:xfrm>
          <a:prstGeom prst="rect">
            <a:avLst/>
          </a:prstGeom>
        </p:spPr>
      </p:pic>
      <p:sp>
        <p:nvSpPr>
          <p:cNvPr id="19" name="TextBox 18"/>
          <p:cNvSpPr txBox="1"/>
          <p:nvPr/>
        </p:nvSpPr>
        <p:spPr>
          <a:xfrm>
            <a:off x="1463040" y="5660136"/>
            <a:ext cx="10058400" cy="548640"/>
          </a:xfrm>
          <a:prstGeom prst="rect">
            <a:avLst/>
          </a:prstGeom>
          <a:noFill/>
        </p:spPr>
        <p:txBody>
          <a:bodyPr wrap="square" anchor="ctr">
            <a:spAutoFit/>
          </a:bodyPr>
          <a:lstStyle/>
          <a:p>
            <a:pPr algn="l">
              <a:spcAft>
                <a:spcPts val="200"/>
              </a:spcAft>
            </a:pPr>
            <a:r>
              <a:rPr sz="1600" b="0">
                <a:solidFill>
                  <a:srgbClr val="334155"/>
                </a:solidFill>
                <a:latin typeface="Calibri"/>
              </a:rPr>
              <a:t>Multijoueur : chaque joueur pilote une dalle depuis son téléphone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3</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CADRE TECHNIQUE</a:t>
            </a:r>
          </a:p>
          <a:p>
            <a:pPr algn="l">
              <a:spcAft>
                <a:spcPts val="200"/>
              </a:spcAft>
            </a:pPr>
            <a:r>
              <a:rPr sz="2500" b="1">
                <a:solidFill>
                  <a:srgbClr val="FFFFFF"/>
                </a:solidFill>
                <a:latin typeface="Calibri"/>
              </a:rPr>
              <a:t>Cahier des charges et contraintes</a:t>
            </a:r>
          </a:p>
        </p:txBody>
      </p:sp>
      <p:pic>
        <p:nvPicPr>
          <p:cNvPr id="7" name="Picture 6" descr="ic_gear.png"/>
          <p:cNvPicPr>
            <a:picLocks noChangeAspect="1"/>
          </p:cNvPicPr>
          <p:nvPr/>
        </p:nvPicPr>
        <p:blipFill>
          <a:blip r:embed="rId2"/>
          <a:stretch>
            <a:fillRect/>
          </a:stretch>
        </p:blipFill>
        <p:spPr>
          <a:xfrm>
            <a:off x="11018520" y="301752"/>
            <a:ext cx="713232" cy="713232"/>
          </a:xfrm>
          <a:prstGeom prst="rect">
            <a:avLst/>
          </a:prstGeom>
        </p:spPr>
      </p:pic>
      <p:pic>
        <p:nvPicPr>
          <p:cNvPr id="8" name="Picture 7" descr="ic_puzzle.png"/>
          <p:cNvPicPr>
            <a:picLocks noChangeAspect="1"/>
          </p:cNvPicPr>
          <p:nvPr/>
        </p:nvPicPr>
        <p:blipFill>
          <a:blip r:embed="rId3"/>
          <a:stretch>
            <a:fillRect/>
          </a:stretch>
        </p:blipFill>
        <p:spPr>
          <a:xfrm>
            <a:off x="640080" y="1417320"/>
            <a:ext cx="502920" cy="502920"/>
          </a:xfrm>
          <a:prstGeom prst="rect">
            <a:avLst/>
          </a:prstGeom>
        </p:spPr>
      </p:pic>
      <p:sp>
        <p:nvSpPr>
          <p:cNvPr id="9" name="TextBox 8"/>
          <p:cNvSpPr txBox="1"/>
          <p:nvPr/>
        </p:nvSpPr>
        <p:spPr>
          <a:xfrm>
            <a:off x="1234440" y="1463040"/>
            <a:ext cx="4572000" cy="457200"/>
          </a:xfrm>
          <a:prstGeom prst="rect">
            <a:avLst/>
          </a:prstGeom>
          <a:noFill/>
        </p:spPr>
        <p:txBody>
          <a:bodyPr wrap="square" anchor="ctr">
            <a:spAutoFit/>
          </a:bodyPr>
          <a:lstStyle/>
          <a:p>
            <a:pPr algn="l">
              <a:spcAft>
                <a:spcPts val="200"/>
              </a:spcAft>
            </a:pPr>
            <a:r>
              <a:rPr sz="1800" b="1">
                <a:solidFill>
                  <a:srgbClr val="7C3AED"/>
                </a:solidFill>
                <a:latin typeface="Calibri"/>
              </a:rPr>
              <a:t>Exigences fonctionnelles</a:t>
            </a:r>
          </a:p>
        </p:txBody>
      </p:sp>
      <p:sp>
        <p:nvSpPr>
          <p:cNvPr id="10" name="TextBox 9"/>
          <p:cNvSpPr txBox="1"/>
          <p:nvPr/>
        </p:nvSpPr>
        <p:spPr>
          <a:xfrm>
            <a:off x="640080" y="2103120"/>
            <a:ext cx="5486400" cy="4114800"/>
          </a:xfrm>
          <a:prstGeom prst="rect">
            <a:avLst/>
          </a:prstGeom>
          <a:noFill/>
        </p:spPr>
        <p:txBody>
          <a:bodyPr wrap="square">
            <a:spAutoFit/>
          </a:bodyPr>
          <a:lstStyle/>
          <a:p>
            <a:pPr>
              <a:spcAft>
                <a:spcPts val="1200"/>
              </a:spcAft>
            </a:pPr>
            <a:r>
              <a:rPr sz="1500">
                <a:solidFill>
                  <a:srgbClr val="334155"/>
                </a:solidFill>
                <a:latin typeface="Calibri"/>
              </a:rPr>
              <a:t>▸ Jeux jouables sur les dalles et la tablette</a:t>
            </a:r>
          </a:p>
          <a:p>
            <a:pPr>
              <a:spcAft>
                <a:spcPts val="1200"/>
              </a:spcAft>
            </a:pPr>
            <a:r>
              <a:rPr sz="1500">
                <a:solidFill>
                  <a:srgbClr val="334155"/>
                </a:solidFill>
                <a:latin typeface="Calibri"/>
              </a:rPr>
              <a:t>▸ Éditeur low-code (blocs) + Python / JS</a:t>
            </a:r>
          </a:p>
          <a:p>
            <a:pPr>
              <a:spcAft>
                <a:spcPts val="1200"/>
              </a:spcAft>
            </a:pPr>
            <a:r>
              <a:rPr sz="1500">
                <a:solidFill>
                  <a:srgbClr val="334155"/>
                </a:solidFill>
                <a:latin typeface="Calibri"/>
              </a:rPr>
              <a:t>▸ Mode multijoueur en réseau local</a:t>
            </a:r>
          </a:p>
          <a:p>
            <a:pPr>
              <a:spcAft>
                <a:spcPts val="1200"/>
              </a:spcAft>
            </a:pPr>
            <a:r>
              <a:rPr sz="1500">
                <a:solidFill>
                  <a:srgbClr val="334155"/>
                </a:solidFill>
                <a:latin typeface="Calibri"/>
              </a:rPr>
              <a:t>▸ Mesure colorimétrique et diagramme CIE</a:t>
            </a:r>
          </a:p>
          <a:p>
            <a:pPr>
              <a:spcAft>
                <a:spcPts val="1200"/>
              </a:spcAft>
            </a:pPr>
            <a:r>
              <a:rPr sz="1500">
                <a:solidFill>
                  <a:srgbClr val="334155"/>
                </a:solidFill>
                <a:latin typeface="Calibri"/>
              </a:rPr>
              <a:t>▸ Administration (comptes, classes, scores)</a:t>
            </a:r>
          </a:p>
        </p:txBody>
      </p:sp>
      <p:pic>
        <p:nvPicPr>
          <p:cNvPr id="11" name="Picture 10" descr="ic_lock.png"/>
          <p:cNvPicPr>
            <a:picLocks noChangeAspect="1"/>
          </p:cNvPicPr>
          <p:nvPr/>
        </p:nvPicPr>
        <p:blipFill>
          <a:blip r:embed="rId4"/>
          <a:stretch>
            <a:fillRect/>
          </a:stretch>
        </p:blipFill>
        <p:spPr>
          <a:xfrm>
            <a:off x="6309360" y="1417320"/>
            <a:ext cx="502920" cy="502920"/>
          </a:xfrm>
          <a:prstGeom prst="rect">
            <a:avLst/>
          </a:prstGeom>
        </p:spPr>
      </p:pic>
      <p:sp>
        <p:nvSpPr>
          <p:cNvPr id="12" name="TextBox 11"/>
          <p:cNvSpPr txBox="1"/>
          <p:nvPr/>
        </p:nvSpPr>
        <p:spPr>
          <a:xfrm>
            <a:off x="6903720" y="1463040"/>
            <a:ext cx="4572000" cy="457200"/>
          </a:xfrm>
          <a:prstGeom prst="rect">
            <a:avLst/>
          </a:prstGeom>
          <a:noFill/>
        </p:spPr>
        <p:txBody>
          <a:bodyPr wrap="square" anchor="ctr">
            <a:spAutoFit/>
          </a:bodyPr>
          <a:lstStyle/>
          <a:p>
            <a:pPr algn="l">
              <a:spcAft>
                <a:spcPts val="200"/>
              </a:spcAft>
            </a:pPr>
            <a:r>
              <a:rPr sz="1800" b="1">
                <a:solidFill>
                  <a:srgbClr val="EC4899"/>
                </a:solidFill>
                <a:latin typeface="Calibri"/>
              </a:rPr>
              <a:t>Contraintes techniques</a:t>
            </a:r>
          </a:p>
        </p:txBody>
      </p:sp>
      <p:sp>
        <p:nvSpPr>
          <p:cNvPr id="13" name="TextBox 12"/>
          <p:cNvSpPr txBox="1"/>
          <p:nvPr/>
        </p:nvSpPr>
        <p:spPr>
          <a:xfrm>
            <a:off x="6309360" y="2103120"/>
            <a:ext cx="5394960" cy="4114800"/>
          </a:xfrm>
          <a:prstGeom prst="rect">
            <a:avLst/>
          </a:prstGeom>
          <a:noFill/>
        </p:spPr>
        <p:txBody>
          <a:bodyPr wrap="square">
            <a:spAutoFit/>
          </a:bodyPr>
          <a:lstStyle/>
          <a:p>
            <a:pPr>
              <a:spcAft>
                <a:spcPts val="1200"/>
              </a:spcAft>
            </a:pPr>
            <a:r>
              <a:rPr sz="1500">
                <a:solidFill>
                  <a:srgbClr val="334155"/>
                </a:solidFill>
                <a:latin typeface="Calibri"/>
              </a:rPr>
              <a:t>▸ Cible : Raspberry Pi (ressources limitées)</a:t>
            </a:r>
          </a:p>
          <a:p>
            <a:pPr>
              <a:spcAft>
                <a:spcPts val="1200"/>
              </a:spcAft>
            </a:pPr>
            <a:r>
              <a:rPr sz="1500">
                <a:solidFill>
                  <a:srgbClr val="334155"/>
                </a:solidFill>
                <a:latin typeface="Calibri"/>
              </a:rPr>
              <a:t>▸ Fonctionnement hors ligne possible</a:t>
            </a:r>
          </a:p>
          <a:p>
            <a:pPr>
              <a:spcAft>
                <a:spcPts val="1200"/>
              </a:spcAft>
            </a:pPr>
            <a:r>
              <a:rPr sz="1500">
                <a:solidFill>
                  <a:srgbClr val="334155"/>
                </a:solidFill>
                <a:latin typeface="Calibri"/>
              </a:rPr>
              <a:t>▸ API Supervision imposée pour les dalles</a:t>
            </a:r>
          </a:p>
          <a:p>
            <a:pPr>
              <a:spcAft>
                <a:spcPts val="1200"/>
              </a:spcAft>
            </a:pPr>
            <a:r>
              <a:rPr sz="1500">
                <a:solidFill>
                  <a:srgbClr val="334155"/>
                </a:solidFill>
                <a:latin typeface="Calibri"/>
              </a:rPr>
              <a:t>▸ Colorimètre Konica Minolta CS-160 (SDK)</a:t>
            </a:r>
          </a:p>
          <a:p>
            <a:pPr>
              <a:spcAft>
                <a:spcPts val="1200"/>
              </a:spcAft>
            </a:pPr>
            <a:r>
              <a:rPr sz="1500">
                <a:solidFill>
                  <a:srgbClr val="334155"/>
                </a:solidFill>
                <a:latin typeface="Calibri"/>
              </a:rPr>
              <a:t>▸ Déploiement reproductible et maintenable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4</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VUE D'ENSEMBLE</a:t>
            </a:r>
          </a:p>
          <a:p>
            <a:pPr algn="l">
              <a:spcAft>
                <a:spcPts val="200"/>
              </a:spcAft>
            </a:pPr>
            <a:r>
              <a:rPr sz="2500" b="1">
                <a:solidFill>
                  <a:srgbClr val="FFFFFF"/>
                </a:solidFill>
                <a:latin typeface="Calibri"/>
              </a:rPr>
              <a:t>Architecture générale</a:t>
            </a:r>
          </a:p>
        </p:txBody>
      </p:sp>
      <p:pic>
        <p:nvPicPr>
          <p:cNvPr id="7" name="Picture 6" descr="ic_network.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548640" y="2194560"/>
            <a:ext cx="2377440" cy="1280160"/>
          </a:xfrm>
          <a:prstGeom prst="round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Tablette / PC</a:t>
            </a:r>
          </a:p>
          <a:p>
            <a:pPr algn="ctr"/>
            <a:r>
              <a:rPr sz="1000">
                <a:solidFill>
                  <a:srgbClr val="CBD5E1"/>
                </a:solidFill>
              </a:rPr>
              <a:t>Navigateur</a:t>
            </a:r>
          </a:p>
        </p:txBody>
      </p:sp>
      <p:sp>
        <p:nvSpPr>
          <p:cNvPr id="9" name="Right Arrow 8"/>
          <p:cNvSpPr/>
          <p:nvPr/>
        </p:nvSpPr>
        <p:spPr>
          <a:xfrm>
            <a:off x="3017520" y="2606040"/>
            <a:ext cx="548640" cy="4114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703320" y="2194560"/>
            <a:ext cx="2743200" cy="128016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App ColorRoom</a:t>
            </a:r>
          </a:p>
          <a:p>
            <a:pPr algn="ctr"/>
            <a:r>
              <a:rPr sz="1000">
                <a:solidFill>
                  <a:srgbClr val="CBD5E1"/>
                </a:solidFill>
              </a:rPr>
              <a:t>Next.js · Docker · Pi</a:t>
            </a:r>
          </a:p>
        </p:txBody>
      </p:sp>
      <p:sp>
        <p:nvSpPr>
          <p:cNvPr id="11" name="Right Arrow 10"/>
          <p:cNvSpPr/>
          <p:nvPr/>
        </p:nvSpPr>
        <p:spPr>
          <a:xfrm>
            <a:off x="6583680" y="2606040"/>
            <a:ext cx="548640" cy="4114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69480" y="2194560"/>
            <a:ext cx="2194560" cy="1280160"/>
          </a:xfrm>
          <a:prstGeom prst="round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API Supervision</a:t>
            </a:r>
          </a:p>
          <a:p>
            <a:pPr algn="ctr"/>
            <a:r>
              <a:rPr sz="1000">
                <a:solidFill>
                  <a:srgbClr val="CBD5E1"/>
                </a:solidFill>
              </a:rPr>
              <a:t>HTTP local</a:t>
            </a:r>
          </a:p>
        </p:txBody>
      </p:sp>
      <p:sp>
        <p:nvSpPr>
          <p:cNvPr id="13" name="Right Arrow 12"/>
          <p:cNvSpPr/>
          <p:nvPr/>
        </p:nvSpPr>
        <p:spPr>
          <a:xfrm>
            <a:off x="9601200" y="2606040"/>
            <a:ext cx="548640" cy="411480"/>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241280" y="2194560"/>
            <a:ext cx="1463040" cy="1280160"/>
          </a:xfrm>
          <a:prstGeom prst="roundRect">
            <a:avLst/>
          </a:prstGeom>
          <a:solidFill>
            <a:srgbClr val="06D6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42 dalles</a:t>
            </a:r>
          </a:p>
          <a:p>
            <a:pPr algn="ctr"/>
            <a:r>
              <a:rPr sz="1000">
                <a:solidFill>
                  <a:srgbClr val="CBD5E1"/>
                </a:solidFill>
              </a:rPr>
              <a:t>LED RVB</a:t>
            </a:r>
          </a:p>
        </p:txBody>
      </p:sp>
      <p:sp>
        <p:nvSpPr>
          <p:cNvPr id="15" name="Rounded Rectangle 14"/>
          <p:cNvSpPr/>
          <p:nvPr/>
        </p:nvSpPr>
        <p:spPr>
          <a:xfrm>
            <a:off x="548640" y="4069080"/>
            <a:ext cx="2377440" cy="100584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SQLite</a:t>
            </a:r>
          </a:p>
          <a:p>
            <a:pPr algn="ctr"/>
            <a:r>
              <a:rPr sz="1000">
                <a:solidFill>
                  <a:srgbClr val="CBD5E1"/>
                </a:solidFill>
              </a:rPr>
              <a:t>jeux · scores · users</a:t>
            </a:r>
          </a:p>
        </p:txBody>
      </p:sp>
      <p:sp>
        <p:nvSpPr>
          <p:cNvPr id="16" name="Rounded Rectangle 15"/>
          <p:cNvSpPr/>
          <p:nvPr/>
        </p:nvSpPr>
        <p:spPr>
          <a:xfrm>
            <a:off x="3703320" y="4069080"/>
            <a:ext cx="2743200" cy="1005840"/>
          </a:xfrm>
          <a:prstGeom prst="round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IA</a:t>
            </a:r>
          </a:p>
          <a:p>
            <a:pPr algn="ctr"/>
            <a:r>
              <a:rPr sz="1000">
                <a:solidFill>
                  <a:srgbClr val="CBD5E1"/>
                </a:solidFill>
              </a:rPr>
              <a:t>Gemini ou Ollama</a:t>
            </a:r>
          </a:p>
        </p:txBody>
      </p:sp>
      <p:sp>
        <p:nvSpPr>
          <p:cNvPr id="17" name="Rounded Rectangle 16"/>
          <p:cNvSpPr/>
          <p:nvPr/>
        </p:nvSpPr>
        <p:spPr>
          <a:xfrm>
            <a:off x="7269480" y="4069080"/>
            <a:ext cx="2194560" cy="1005840"/>
          </a:xfrm>
          <a:prstGeom prst="round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rPr>
              <a:t>CS-160</a:t>
            </a:r>
          </a:p>
          <a:p>
            <a:pPr algn="ctr"/>
            <a:r>
              <a:rPr sz="1000">
                <a:solidFill>
                  <a:srgbClr val="CBD5E1"/>
                </a:solidFill>
              </a:rPr>
              <a:t>colorimètre USB</a:t>
            </a:r>
          </a:p>
        </p:txBody>
      </p:sp>
      <p:sp>
        <p:nvSpPr>
          <p:cNvPr id="18" name="TextBox 17"/>
          <p:cNvSpPr txBox="1"/>
          <p:nvPr/>
        </p:nvSpPr>
        <p:spPr>
          <a:xfrm>
            <a:off x="548640" y="5349240"/>
            <a:ext cx="10972800" cy="914400"/>
          </a:xfrm>
          <a:prstGeom prst="rect">
            <a:avLst/>
          </a:prstGeom>
          <a:noFill/>
        </p:spPr>
        <p:txBody>
          <a:bodyPr wrap="square" anchor="t">
            <a:spAutoFit/>
          </a:bodyPr>
          <a:lstStyle/>
          <a:p>
            <a:pPr algn="l">
              <a:spcAft>
                <a:spcPts val="200"/>
              </a:spcAft>
            </a:pPr>
            <a:r>
              <a:rPr sz="1400" b="0">
                <a:solidFill>
                  <a:srgbClr val="64748B"/>
                </a:solidFill>
                <a:latin typeface="Calibri"/>
              </a:rPr>
              <a:t>Tout est conteneurisé (Docker Compose) et tourne en local sur le Pi. L'IA cloud (Gemini) est optionnelle : le local (Ollama) prend le relais hors ligne.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5</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LA STACK</a:t>
            </a:r>
          </a:p>
          <a:p>
            <a:pPr algn="l">
              <a:spcAft>
                <a:spcPts val="200"/>
              </a:spcAft>
            </a:pPr>
            <a:r>
              <a:rPr sz="2500" b="1">
                <a:solidFill>
                  <a:srgbClr val="FFFFFF"/>
                </a:solidFill>
                <a:latin typeface="Calibri"/>
              </a:rPr>
              <a:t>Choix techniques justifiés</a:t>
            </a:r>
          </a:p>
        </p:txBody>
      </p:sp>
      <p:pic>
        <p:nvPicPr>
          <p:cNvPr id="7" name="Picture 6" descr="ic_code.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640080" y="1508760"/>
            <a:ext cx="10881360" cy="8412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cube.png"/>
          <p:cNvPicPr>
            <a:picLocks noChangeAspect="1"/>
          </p:cNvPicPr>
          <p:nvPr/>
        </p:nvPicPr>
        <p:blipFill>
          <a:blip r:embed="rId3"/>
          <a:stretch>
            <a:fillRect/>
          </a:stretch>
        </p:blipFill>
        <p:spPr>
          <a:xfrm>
            <a:off x="822960" y="1655064"/>
            <a:ext cx="548640" cy="548640"/>
          </a:xfrm>
          <a:prstGeom prst="rect">
            <a:avLst/>
          </a:prstGeom>
        </p:spPr>
      </p:pic>
      <p:sp>
        <p:nvSpPr>
          <p:cNvPr id="10" name="TextBox 9"/>
          <p:cNvSpPr txBox="1"/>
          <p:nvPr/>
        </p:nvSpPr>
        <p:spPr>
          <a:xfrm>
            <a:off x="1554480" y="1508760"/>
            <a:ext cx="3566160" cy="841248"/>
          </a:xfrm>
          <a:prstGeom prst="rect">
            <a:avLst/>
          </a:prstGeom>
          <a:noFill/>
        </p:spPr>
        <p:txBody>
          <a:bodyPr wrap="square" anchor="ctr">
            <a:spAutoFit/>
          </a:bodyPr>
          <a:lstStyle/>
          <a:p>
            <a:pPr algn="l">
              <a:spcAft>
                <a:spcPts val="200"/>
              </a:spcAft>
            </a:pPr>
            <a:r>
              <a:rPr sz="1500" b="1">
                <a:solidFill>
                  <a:srgbClr val="7C3AED"/>
                </a:solidFill>
                <a:latin typeface="Calibri"/>
              </a:rPr>
              <a:t>Next.js / React + TypeScript</a:t>
            </a:r>
          </a:p>
        </p:txBody>
      </p:sp>
      <p:sp>
        <p:nvSpPr>
          <p:cNvPr id="11" name="TextBox 10"/>
          <p:cNvSpPr txBox="1"/>
          <p:nvPr/>
        </p:nvSpPr>
        <p:spPr>
          <a:xfrm>
            <a:off x="5120640" y="1508760"/>
            <a:ext cx="6217920" cy="841248"/>
          </a:xfrm>
          <a:prstGeom prst="rect">
            <a:avLst/>
          </a:prstGeom>
          <a:noFill/>
        </p:spPr>
        <p:txBody>
          <a:bodyPr wrap="square" anchor="ctr">
            <a:spAutoFit/>
          </a:bodyPr>
          <a:lstStyle/>
          <a:p>
            <a:pPr algn="l">
              <a:spcAft>
                <a:spcPts val="200"/>
              </a:spcAft>
            </a:pPr>
            <a:r>
              <a:rPr sz="1400" b="0">
                <a:solidFill>
                  <a:srgbClr val="334155"/>
                </a:solidFill>
                <a:latin typeface="Calibri"/>
              </a:rPr>
              <a:t>Front et back dans un seul projet, typage strict, moins de bugs</a:t>
            </a:r>
          </a:p>
        </p:txBody>
      </p:sp>
      <p:sp>
        <p:nvSpPr>
          <p:cNvPr id="12" name="Rounded Rectangle 11"/>
          <p:cNvSpPr/>
          <p:nvPr/>
        </p:nvSpPr>
        <p:spPr>
          <a:xfrm>
            <a:off x="640080" y="2423160"/>
            <a:ext cx="10881360" cy="841248"/>
          </a:xfrm>
          <a:prstGeom prst="roundRect">
            <a:avLst/>
          </a:prstGeom>
          <a:solidFill>
            <a:srgbClr val="E9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container.png"/>
          <p:cNvPicPr>
            <a:picLocks noChangeAspect="1"/>
          </p:cNvPicPr>
          <p:nvPr/>
        </p:nvPicPr>
        <p:blipFill>
          <a:blip r:embed="rId4"/>
          <a:stretch>
            <a:fillRect/>
          </a:stretch>
        </p:blipFill>
        <p:spPr>
          <a:xfrm>
            <a:off x="822960" y="2569464"/>
            <a:ext cx="548640" cy="548640"/>
          </a:xfrm>
          <a:prstGeom prst="rect">
            <a:avLst/>
          </a:prstGeom>
        </p:spPr>
      </p:pic>
      <p:sp>
        <p:nvSpPr>
          <p:cNvPr id="14" name="TextBox 13"/>
          <p:cNvSpPr txBox="1"/>
          <p:nvPr/>
        </p:nvSpPr>
        <p:spPr>
          <a:xfrm>
            <a:off x="1554480" y="2423160"/>
            <a:ext cx="3566160" cy="841248"/>
          </a:xfrm>
          <a:prstGeom prst="rect">
            <a:avLst/>
          </a:prstGeom>
          <a:noFill/>
        </p:spPr>
        <p:txBody>
          <a:bodyPr wrap="square" anchor="ctr">
            <a:spAutoFit/>
          </a:bodyPr>
          <a:lstStyle/>
          <a:p>
            <a:pPr algn="l">
              <a:spcAft>
                <a:spcPts val="200"/>
              </a:spcAft>
            </a:pPr>
            <a:r>
              <a:rPr sz="1500" b="1">
                <a:solidFill>
                  <a:srgbClr val="7C3AED"/>
                </a:solidFill>
                <a:latin typeface="Calibri"/>
              </a:rPr>
              <a:t>SQLite (better-sqlite3)</a:t>
            </a:r>
          </a:p>
        </p:txBody>
      </p:sp>
      <p:sp>
        <p:nvSpPr>
          <p:cNvPr id="15" name="TextBox 14"/>
          <p:cNvSpPr txBox="1"/>
          <p:nvPr/>
        </p:nvSpPr>
        <p:spPr>
          <a:xfrm>
            <a:off x="5120640" y="2423160"/>
            <a:ext cx="6217920" cy="841248"/>
          </a:xfrm>
          <a:prstGeom prst="rect">
            <a:avLst/>
          </a:prstGeom>
          <a:noFill/>
        </p:spPr>
        <p:txBody>
          <a:bodyPr wrap="square" anchor="ctr">
            <a:spAutoFit/>
          </a:bodyPr>
          <a:lstStyle/>
          <a:p>
            <a:pPr algn="l">
              <a:spcAft>
                <a:spcPts val="200"/>
              </a:spcAft>
            </a:pPr>
            <a:r>
              <a:rPr sz="1400" b="0">
                <a:solidFill>
                  <a:srgbClr val="334155"/>
                </a:solidFill>
                <a:latin typeface="Calibri"/>
              </a:rPr>
              <a:t>Base embarquée, zéro serveur à installer, idéale sur Pi</a:t>
            </a:r>
          </a:p>
        </p:txBody>
      </p:sp>
      <p:sp>
        <p:nvSpPr>
          <p:cNvPr id="16" name="Rounded Rectangle 15"/>
          <p:cNvSpPr/>
          <p:nvPr/>
        </p:nvSpPr>
        <p:spPr>
          <a:xfrm>
            <a:off x="640080" y="3337560"/>
            <a:ext cx="10881360" cy="8412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ic_gear.png"/>
          <p:cNvPicPr>
            <a:picLocks noChangeAspect="1"/>
          </p:cNvPicPr>
          <p:nvPr/>
        </p:nvPicPr>
        <p:blipFill>
          <a:blip r:embed="rId5"/>
          <a:stretch>
            <a:fillRect/>
          </a:stretch>
        </p:blipFill>
        <p:spPr>
          <a:xfrm>
            <a:off x="822960" y="3483864"/>
            <a:ext cx="548640" cy="548640"/>
          </a:xfrm>
          <a:prstGeom prst="rect">
            <a:avLst/>
          </a:prstGeom>
        </p:spPr>
      </p:pic>
      <p:sp>
        <p:nvSpPr>
          <p:cNvPr id="18" name="TextBox 17"/>
          <p:cNvSpPr txBox="1"/>
          <p:nvPr/>
        </p:nvSpPr>
        <p:spPr>
          <a:xfrm>
            <a:off x="1554480" y="3337560"/>
            <a:ext cx="3566160" cy="841248"/>
          </a:xfrm>
          <a:prstGeom prst="rect">
            <a:avLst/>
          </a:prstGeom>
          <a:noFill/>
        </p:spPr>
        <p:txBody>
          <a:bodyPr wrap="square" anchor="ctr">
            <a:spAutoFit/>
          </a:bodyPr>
          <a:lstStyle/>
          <a:p>
            <a:pPr algn="l">
              <a:spcAft>
                <a:spcPts val="200"/>
              </a:spcAft>
            </a:pPr>
            <a:r>
              <a:rPr sz="1500" b="1">
                <a:solidFill>
                  <a:srgbClr val="7C3AED"/>
                </a:solidFill>
                <a:latin typeface="Calibri"/>
              </a:rPr>
              <a:t>Docker Compose</a:t>
            </a:r>
          </a:p>
        </p:txBody>
      </p:sp>
      <p:sp>
        <p:nvSpPr>
          <p:cNvPr id="19" name="TextBox 18"/>
          <p:cNvSpPr txBox="1"/>
          <p:nvPr/>
        </p:nvSpPr>
        <p:spPr>
          <a:xfrm>
            <a:off x="5120640" y="3337560"/>
            <a:ext cx="6217920" cy="841248"/>
          </a:xfrm>
          <a:prstGeom prst="rect">
            <a:avLst/>
          </a:prstGeom>
          <a:noFill/>
        </p:spPr>
        <p:txBody>
          <a:bodyPr wrap="square" anchor="ctr">
            <a:spAutoFit/>
          </a:bodyPr>
          <a:lstStyle/>
          <a:p>
            <a:pPr algn="l">
              <a:spcAft>
                <a:spcPts val="200"/>
              </a:spcAft>
            </a:pPr>
            <a:r>
              <a:rPr sz="1400" b="0">
                <a:solidFill>
                  <a:srgbClr val="334155"/>
                </a:solidFill>
                <a:latin typeface="Calibri"/>
              </a:rPr>
              <a:t>Déploiement reproductible : une commande lance toute la stack</a:t>
            </a:r>
          </a:p>
        </p:txBody>
      </p:sp>
      <p:sp>
        <p:nvSpPr>
          <p:cNvPr id="20" name="Rounded Rectangle 19"/>
          <p:cNvSpPr/>
          <p:nvPr/>
        </p:nvSpPr>
        <p:spPr>
          <a:xfrm>
            <a:off x="640080" y="4251960"/>
            <a:ext cx="10881360" cy="841248"/>
          </a:xfrm>
          <a:prstGeom prst="roundRect">
            <a:avLst/>
          </a:prstGeom>
          <a:solidFill>
            <a:srgbClr val="E9E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cube.png"/>
          <p:cNvPicPr>
            <a:picLocks noChangeAspect="1"/>
          </p:cNvPicPr>
          <p:nvPr/>
        </p:nvPicPr>
        <p:blipFill>
          <a:blip r:embed="rId3"/>
          <a:stretch>
            <a:fillRect/>
          </a:stretch>
        </p:blipFill>
        <p:spPr>
          <a:xfrm>
            <a:off x="822960" y="4398264"/>
            <a:ext cx="548640" cy="548640"/>
          </a:xfrm>
          <a:prstGeom prst="rect">
            <a:avLst/>
          </a:prstGeom>
        </p:spPr>
      </p:pic>
      <p:sp>
        <p:nvSpPr>
          <p:cNvPr id="22" name="TextBox 21"/>
          <p:cNvSpPr txBox="1"/>
          <p:nvPr/>
        </p:nvSpPr>
        <p:spPr>
          <a:xfrm>
            <a:off x="1554480" y="4251960"/>
            <a:ext cx="3566160" cy="841248"/>
          </a:xfrm>
          <a:prstGeom prst="rect">
            <a:avLst/>
          </a:prstGeom>
          <a:noFill/>
        </p:spPr>
        <p:txBody>
          <a:bodyPr wrap="square" anchor="ctr">
            <a:spAutoFit/>
          </a:bodyPr>
          <a:lstStyle/>
          <a:p>
            <a:pPr algn="l">
              <a:spcAft>
                <a:spcPts val="200"/>
              </a:spcAft>
            </a:pPr>
            <a:r>
              <a:rPr sz="1500" b="1">
                <a:solidFill>
                  <a:srgbClr val="7C3AED"/>
                </a:solidFill>
                <a:latin typeface="Calibri"/>
              </a:rPr>
              <a:t>Three.js</a:t>
            </a:r>
          </a:p>
        </p:txBody>
      </p:sp>
      <p:sp>
        <p:nvSpPr>
          <p:cNvPr id="23" name="TextBox 22"/>
          <p:cNvSpPr txBox="1"/>
          <p:nvPr/>
        </p:nvSpPr>
        <p:spPr>
          <a:xfrm>
            <a:off x="5120640" y="4251960"/>
            <a:ext cx="6217920" cy="841248"/>
          </a:xfrm>
          <a:prstGeom prst="rect">
            <a:avLst/>
          </a:prstGeom>
          <a:noFill/>
        </p:spPr>
        <p:txBody>
          <a:bodyPr wrap="square" anchor="ctr">
            <a:spAutoFit/>
          </a:bodyPr>
          <a:lstStyle/>
          <a:p>
            <a:pPr algn="l">
              <a:spcAft>
                <a:spcPts val="200"/>
              </a:spcAft>
            </a:pPr>
            <a:r>
              <a:rPr sz="1400" b="0">
                <a:solidFill>
                  <a:srgbClr val="334155"/>
                </a:solidFill>
                <a:latin typeface="Calibri"/>
              </a:rPr>
              <a:t>Vue 3D de la salle en temps réel dans le navigateur</a:t>
            </a:r>
          </a:p>
        </p:txBody>
      </p:sp>
      <p:sp>
        <p:nvSpPr>
          <p:cNvPr id="24" name="Rounded Rectangle 23"/>
          <p:cNvSpPr/>
          <p:nvPr/>
        </p:nvSpPr>
        <p:spPr>
          <a:xfrm>
            <a:off x="640080" y="5166360"/>
            <a:ext cx="10881360" cy="84124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robot.png"/>
          <p:cNvPicPr>
            <a:picLocks noChangeAspect="1"/>
          </p:cNvPicPr>
          <p:nvPr/>
        </p:nvPicPr>
        <p:blipFill>
          <a:blip r:embed="rId6"/>
          <a:stretch>
            <a:fillRect/>
          </a:stretch>
        </p:blipFill>
        <p:spPr>
          <a:xfrm>
            <a:off x="822960" y="5312664"/>
            <a:ext cx="548640" cy="548640"/>
          </a:xfrm>
          <a:prstGeom prst="rect">
            <a:avLst/>
          </a:prstGeom>
        </p:spPr>
      </p:pic>
      <p:sp>
        <p:nvSpPr>
          <p:cNvPr id="26" name="TextBox 25"/>
          <p:cNvSpPr txBox="1"/>
          <p:nvPr/>
        </p:nvSpPr>
        <p:spPr>
          <a:xfrm>
            <a:off x="1554480" y="5166360"/>
            <a:ext cx="3566160" cy="841248"/>
          </a:xfrm>
          <a:prstGeom prst="rect">
            <a:avLst/>
          </a:prstGeom>
          <a:noFill/>
        </p:spPr>
        <p:txBody>
          <a:bodyPr wrap="square" anchor="ctr">
            <a:spAutoFit/>
          </a:bodyPr>
          <a:lstStyle/>
          <a:p>
            <a:pPr algn="l">
              <a:spcAft>
                <a:spcPts val="200"/>
              </a:spcAft>
            </a:pPr>
            <a:r>
              <a:rPr sz="1500" b="1">
                <a:solidFill>
                  <a:srgbClr val="7C3AED"/>
                </a:solidFill>
                <a:latin typeface="Calibri"/>
              </a:rPr>
              <a:t>Ollama (IA locale)</a:t>
            </a:r>
          </a:p>
        </p:txBody>
      </p:sp>
      <p:sp>
        <p:nvSpPr>
          <p:cNvPr id="27" name="TextBox 26"/>
          <p:cNvSpPr txBox="1"/>
          <p:nvPr/>
        </p:nvSpPr>
        <p:spPr>
          <a:xfrm>
            <a:off x="5120640" y="5166360"/>
            <a:ext cx="6217920" cy="841248"/>
          </a:xfrm>
          <a:prstGeom prst="rect">
            <a:avLst/>
          </a:prstGeom>
          <a:noFill/>
        </p:spPr>
        <p:txBody>
          <a:bodyPr wrap="square" anchor="ctr">
            <a:spAutoFit/>
          </a:bodyPr>
          <a:lstStyle/>
          <a:p>
            <a:pPr algn="l">
              <a:spcAft>
                <a:spcPts val="200"/>
              </a:spcAft>
            </a:pPr>
            <a:r>
              <a:rPr sz="1400" b="0">
                <a:solidFill>
                  <a:srgbClr val="334155"/>
                </a:solidFill>
                <a:latin typeface="Calibri"/>
              </a:rPr>
              <a:t>Génération de jeux 100 % hors ligne, données privées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5</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REACT / NEXT.JS / NODE / TS  vs  JS PUR + NODE-RED</a:t>
            </a:r>
          </a:p>
          <a:p>
            <a:pPr algn="l">
              <a:spcAft>
                <a:spcPts val="200"/>
              </a:spcAft>
            </a:pPr>
            <a:r>
              <a:rPr sz="2500" b="1">
                <a:solidFill>
                  <a:srgbClr val="FFFFFF"/>
                </a:solidFill>
                <a:latin typeface="Calibri"/>
              </a:rPr>
              <a:t>Pourquoi cette stack ?</a:t>
            </a:r>
          </a:p>
        </p:txBody>
      </p:sp>
      <p:pic>
        <p:nvPicPr>
          <p:cNvPr id="7" name="Picture 6" descr="ic_code.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640080" y="1463040"/>
            <a:ext cx="5349240" cy="548640"/>
          </a:xfrm>
          <a:prstGeom prst="roundRect">
            <a:avLst/>
          </a:prstGeom>
          <a:solidFill>
            <a:srgbClr val="3341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17904"/>
            <a:ext cx="4937760" cy="457200"/>
          </a:xfrm>
          <a:prstGeom prst="rect">
            <a:avLst/>
          </a:prstGeom>
          <a:noFill/>
        </p:spPr>
        <p:txBody>
          <a:bodyPr wrap="square" anchor="ctr">
            <a:spAutoFit/>
          </a:bodyPr>
          <a:lstStyle/>
          <a:p>
            <a:pPr algn="l">
              <a:spcAft>
                <a:spcPts val="200"/>
              </a:spcAft>
            </a:pPr>
            <a:r>
              <a:rPr sz="1500" b="1">
                <a:solidFill>
                  <a:srgbClr val="FFFFFF"/>
                </a:solidFill>
                <a:latin typeface="Calibri"/>
              </a:rPr>
              <a:t>Approche initiale : Node-RED + JS pur</a:t>
            </a:r>
          </a:p>
        </p:txBody>
      </p:sp>
      <p:sp>
        <p:nvSpPr>
          <p:cNvPr id="10" name="TextBox 9"/>
          <p:cNvSpPr txBox="1"/>
          <p:nvPr/>
        </p:nvSpPr>
        <p:spPr>
          <a:xfrm>
            <a:off x="731520" y="2148840"/>
            <a:ext cx="5212080" cy="4023360"/>
          </a:xfrm>
          <a:prstGeom prst="rect">
            <a:avLst/>
          </a:prstGeom>
          <a:noFill/>
        </p:spPr>
        <p:txBody>
          <a:bodyPr wrap="square">
            <a:spAutoFit/>
          </a:bodyPr>
          <a:lstStyle/>
          <a:p>
            <a:pPr>
              <a:spcAft>
                <a:spcPts val="1000"/>
              </a:spcAft>
            </a:pPr>
            <a:r>
              <a:rPr sz="1350">
                <a:solidFill>
                  <a:srgbClr val="334155"/>
                </a:solidFill>
                <a:latin typeface="Calibri"/>
              </a:rPr>
              <a:t>▸ Node-RED : top pour prototyper l'IoT, mais limité pour une vraie UI riche (3D, éditeur)</a:t>
            </a:r>
          </a:p>
          <a:p>
            <a:pPr>
              <a:spcAft>
                <a:spcPts val="1000"/>
              </a:spcAft>
            </a:pPr>
            <a:r>
              <a:rPr sz="1350">
                <a:solidFill>
                  <a:srgbClr val="334155"/>
                </a:solidFill>
                <a:latin typeface="Calibri"/>
              </a:rPr>
              <a:t>▸ Flux en JSON difficiles à versionner et relire dans Git</a:t>
            </a:r>
          </a:p>
          <a:p>
            <a:pPr>
              <a:spcAft>
                <a:spcPts val="1000"/>
              </a:spcAft>
            </a:pPr>
            <a:r>
              <a:rPr sz="1350">
                <a:solidFill>
                  <a:srgbClr val="334155"/>
                </a:solidFill>
                <a:latin typeface="Calibri"/>
              </a:rPr>
              <a:t>▸ JS pur : aucun typage, erreurs vues seulement à l'exécution</a:t>
            </a:r>
          </a:p>
          <a:p>
            <a:pPr>
              <a:spcAft>
                <a:spcPts val="1000"/>
              </a:spcAft>
            </a:pPr>
            <a:r>
              <a:rPr sz="1350">
                <a:solidFill>
                  <a:srgbClr val="334155"/>
                </a:solidFill>
                <a:latin typeface="Calibri"/>
              </a:rPr>
              <a:t>▸ Refactorisation risquée, autocomplétion faible</a:t>
            </a:r>
          </a:p>
          <a:p>
            <a:pPr>
              <a:spcAft>
                <a:spcPts val="1000"/>
              </a:spcAft>
            </a:pPr>
            <a:r>
              <a:rPr sz="1350">
                <a:solidFill>
                  <a:srgbClr val="334155"/>
                </a:solidFill>
                <a:latin typeface="Calibri"/>
              </a:rPr>
              <a:t>▸ Complexité vite ingérable sur un gros projet</a:t>
            </a:r>
          </a:p>
        </p:txBody>
      </p:sp>
      <p:sp>
        <p:nvSpPr>
          <p:cNvPr id="11" name="Rounded Rectangle 10"/>
          <p:cNvSpPr/>
          <p:nvPr/>
        </p:nvSpPr>
        <p:spPr>
          <a:xfrm>
            <a:off x="6172200" y="1463040"/>
            <a:ext cx="5349240" cy="548640"/>
          </a:xfrm>
          <a:prstGeom prst="round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17904"/>
            <a:ext cx="4937760" cy="457200"/>
          </a:xfrm>
          <a:prstGeom prst="rect">
            <a:avLst/>
          </a:prstGeom>
          <a:noFill/>
        </p:spPr>
        <p:txBody>
          <a:bodyPr wrap="square" anchor="ctr">
            <a:spAutoFit/>
          </a:bodyPr>
          <a:lstStyle/>
          <a:p>
            <a:pPr algn="l">
              <a:spcAft>
                <a:spcPts val="200"/>
              </a:spcAft>
            </a:pPr>
            <a:r>
              <a:rPr sz="1500" b="1">
                <a:solidFill>
                  <a:srgbClr val="FFFFFF"/>
                </a:solidFill>
                <a:latin typeface="Calibri"/>
              </a:rPr>
              <a:t>Choix retenu : Next.js + React + Node + TS</a:t>
            </a:r>
          </a:p>
        </p:txBody>
      </p:sp>
      <p:sp>
        <p:nvSpPr>
          <p:cNvPr id="13" name="TextBox 12"/>
          <p:cNvSpPr txBox="1"/>
          <p:nvPr/>
        </p:nvSpPr>
        <p:spPr>
          <a:xfrm>
            <a:off x="6263640" y="2148840"/>
            <a:ext cx="5212080" cy="4023360"/>
          </a:xfrm>
          <a:prstGeom prst="rect">
            <a:avLst/>
          </a:prstGeom>
          <a:noFill/>
        </p:spPr>
        <p:txBody>
          <a:bodyPr wrap="square">
            <a:spAutoFit/>
          </a:bodyPr>
          <a:lstStyle/>
          <a:p>
            <a:pPr>
              <a:spcAft>
                <a:spcPts val="1000"/>
              </a:spcAft>
            </a:pPr>
            <a:r>
              <a:rPr sz="1350">
                <a:solidFill>
                  <a:srgbClr val="334155"/>
                </a:solidFill>
                <a:latin typeface="Calibri"/>
              </a:rPr>
              <a:t>▸ React : interface en composants réutilisables, idéale pour une UI complexe</a:t>
            </a:r>
          </a:p>
          <a:p>
            <a:pPr>
              <a:spcAft>
                <a:spcPts val="1000"/>
              </a:spcAft>
            </a:pPr>
            <a:r>
              <a:rPr sz="1350">
                <a:solidFill>
                  <a:srgbClr val="334155"/>
                </a:solidFill>
                <a:latin typeface="Calibri"/>
              </a:rPr>
              <a:t>▸ Next.js : front et back (API) dans un seul projet, routing intégré</a:t>
            </a:r>
          </a:p>
          <a:p>
            <a:pPr>
              <a:spcAft>
                <a:spcPts val="1000"/>
              </a:spcAft>
            </a:pPr>
            <a:r>
              <a:rPr sz="1350">
                <a:solidFill>
                  <a:srgbClr val="334155"/>
                </a:solidFill>
                <a:latin typeface="Calibri"/>
              </a:rPr>
              <a:t>▸ Node.js : même langage côté serveur et navigateur</a:t>
            </a:r>
          </a:p>
          <a:p>
            <a:pPr>
              <a:spcAft>
                <a:spcPts val="1000"/>
              </a:spcAft>
            </a:pPr>
            <a:r>
              <a:rPr sz="1350">
                <a:solidFill>
                  <a:srgbClr val="334155"/>
                </a:solidFill>
                <a:latin typeface="Calibri"/>
              </a:rPr>
              <a:t>▸ TypeScript : typage strict, bugs attrapés à la compilation</a:t>
            </a:r>
          </a:p>
          <a:p>
            <a:pPr>
              <a:spcAft>
                <a:spcPts val="1000"/>
              </a:spcAft>
            </a:pPr>
            <a:r>
              <a:rPr sz="1350">
                <a:solidFill>
                  <a:srgbClr val="334155"/>
                </a:solidFill>
                <a:latin typeface="Calibri"/>
              </a:rPr>
              <a:t>▸ Du code texte : versionnable, testable (tsc + build)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6</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DOCKER / RASPBERRY PI</a:t>
            </a:r>
          </a:p>
          <a:p>
            <a:pPr algn="l">
              <a:spcAft>
                <a:spcPts val="200"/>
              </a:spcAft>
            </a:pPr>
            <a:r>
              <a:rPr sz="2500" b="1">
                <a:solidFill>
                  <a:srgbClr val="FFFFFF"/>
                </a:solidFill>
                <a:latin typeface="Calibri"/>
              </a:rPr>
              <a:t>Réseau et déploiement</a:t>
            </a:r>
          </a:p>
        </p:txBody>
      </p:sp>
      <p:pic>
        <p:nvPicPr>
          <p:cNvPr id="7" name="Picture 6" descr="ic_container.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5852160" cy="4572000"/>
          </a:xfrm>
          <a:prstGeom prst="rect">
            <a:avLst/>
          </a:prstGeom>
          <a:noFill/>
        </p:spPr>
        <p:txBody>
          <a:bodyPr wrap="square">
            <a:spAutoFit/>
          </a:bodyPr>
          <a:lstStyle/>
          <a:p>
            <a:pPr>
              <a:spcAft>
                <a:spcPts val="1000"/>
              </a:spcAft>
            </a:pPr>
            <a:r>
              <a:rPr sz="1500">
                <a:solidFill>
                  <a:srgbClr val="334155"/>
                </a:solidFill>
                <a:latin typeface="Calibri"/>
              </a:rPr>
              <a:t>▸ Orchestration via docker-compose.yml (4 services)</a:t>
            </a:r>
          </a:p>
          <a:p>
            <a:pPr lvl="1">
              <a:spcAft>
                <a:spcPts val="1000"/>
              </a:spcAft>
            </a:pPr>
            <a:r>
              <a:rPr sz="1300">
                <a:solidFill>
                  <a:srgbClr val="64748B"/>
                </a:solidFill>
                <a:latin typeface="Calibri"/>
              </a:rPr>
              <a:t>•  color-room : l'application (port 8080)</a:t>
            </a:r>
          </a:p>
          <a:p>
            <a:pPr lvl="1">
              <a:spcAft>
                <a:spcPts val="1000"/>
              </a:spcAft>
            </a:pPr>
            <a:r>
              <a:rPr sz="1300">
                <a:solidFill>
                  <a:srgbClr val="64748B"/>
                </a:solidFill>
                <a:latin typeface="Calibri"/>
              </a:rPr>
              <a:t>•  ollama + ollama-pull : IA locale (port 11434)</a:t>
            </a:r>
          </a:p>
          <a:p>
            <a:pPr lvl="1">
              <a:spcAft>
                <a:spcPts val="1000"/>
              </a:spcAft>
            </a:pPr>
            <a:r>
              <a:rPr sz="1300">
                <a:solidFill>
                  <a:srgbClr val="64748B"/>
                </a:solidFill>
                <a:latin typeface="Calibri"/>
              </a:rPr>
              <a:t>•  portainer : supervision des conteneurs (9000)</a:t>
            </a:r>
          </a:p>
          <a:p>
            <a:pPr>
              <a:spcAft>
                <a:spcPts val="1000"/>
              </a:spcAft>
            </a:pPr>
            <a:r>
              <a:rPr sz="1500">
                <a:solidFill>
                  <a:srgbClr val="334155"/>
                </a:solidFill>
                <a:latin typeface="Calibri"/>
              </a:rPr>
              <a:t>▸ Réseau local : tablettes et téléphones sur le même Wi-Fi</a:t>
            </a:r>
          </a:p>
          <a:p>
            <a:pPr>
              <a:spcAft>
                <a:spcPts val="1000"/>
              </a:spcAft>
            </a:pPr>
            <a:r>
              <a:rPr sz="1500">
                <a:solidFill>
                  <a:srgbClr val="334155"/>
                </a:solidFill>
                <a:latin typeface="Calibri"/>
              </a:rPr>
              <a:t>▸ Secrets isolés dans un fichier .env (non versionné)</a:t>
            </a:r>
          </a:p>
          <a:p>
            <a:pPr>
              <a:spcAft>
                <a:spcPts val="1000"/>
              </a:spcAft>
            </a:pPr>
            <a:r>
              <a:rPr sz="1500">
                <a:solidFill>
                  <a:srgbClr val="334155"/>
                </a:solidFill>
                <a:latin typeface="Calibri"/>
              </a:rPr>
              <a:t>▸ Mise à jour : git pull puis docker compose up</a:t>
            </a:r>
          </a:p>
        </p:txBody>
      </p:sp>
      <p:sp>
        <p:nvSpPr>
          <p:cNvPr id="9" name="Rounded Rectangle 8"/>
          <p:cNvSpPr/>
          <p:nvPr/>
        </p:nvSpPr>
        <p:spPr>
          <a:xfrm>
            <a:off x="6858000" y="1737360"/>
            <a:ext cx="4663440" cy="38404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965960"/>
            <a:ext cx="4206240" cy="3474720"/>
          </a:xfrm>
          <a:prstGeom prst="rect">
            <a:avLst/>
          </a:prstGeom>
          <a:noFill/>
        </p:spPr>
        <p:txBody>
          <a:bodyPr wrap="square" anchor="t">
            <a:spAutoFit/>
          </a:bodyPr>
          <a:lstStyle/>
          <a:p>
            <a:pPr algn="l">
              <a:spcAft>
                <a:spcPts val="200"/>
              </a:spcAft>
            </a:pPr>
            <a:r>
              <a:rPr sz="1300" b="1">
                <a:solidFill>
                  <a:srgbClr val="06D6A0"/>
                </a:solidFill>
                <a:latin typeface="Calibri"/>
              </a:rPr>
              <a:t># déploiement sur le Pi</a:t>
            </a:r>
          </a:p>
          <a:p>
            <a:pPr algn="l">
              <a:spcBef>
                <a:spcPts val="800"/>
              </a:spcBef>
              <a:spcAft>
                <a:spcPts val="200"/>
              </a:spcAft>
            </a:pPr>
            <a:r>
              <a:rPr sz="1400" b="0">
                <a:solidFill>
                  <a:srgbClr val="FFFFFF"/>
                </a:solidFill>
                <a:latin typeface="Calibri"/>
              </a:rPr>
              <a:t>git pull origin main</a:t>
            </a:r>
          </a:p>
          <a:p>
            <a:pPr algn="l">
              <a:spcBef>
                <a:spcPts val="400"/>
              </a:spcBef>
              <a:spcAft>
                <a:spcPts val="200"/>
              </a:spcAft>
            </a:pPr>
            <a:r>
              <a:rPr sz="1400" b="0">
                <a:solidFill>
                  <a:srgbClr val="FFFFFF"/>
                </a:solidFill>
                <a:latin typeface="Calibri"/>
              </a:rPr>
              <a:t>docker compose up -d --build</a:t>
            </a:r>
          </a:p>
          <a:p>
            <a:pPr algn="l">
              <a:spcBef>
                <a:spcPts val="400"/>
              </a:spcBef>
              <a:spcAft>
                <a:spcPts val="200"/>
              </a:spcAft>
            </a:pPr>
            <a:r>
              <a:rPr sz="800" b="0">
                <a:solidFill>
                  <a:srgbClr val="FFFFFF"/>
                </a:solidFill>
                <a:latin typeface="Calibri"/>
              </a:rPr>
              <a:t/>
            </a:r>
          </a:p>
          <a:p>
            <a:pPr algn="l">
              <a:spcBef>
                <a:spcPts val="600"/>
              </a:spcBef>
              <a:spcAft>
                <a:spcPts val="200"/>
              </a:spcAft>
            </a:pPr>
            <a:r>
              <a:rPr sz="1300" b="1">
                <a:solidFill>
                  <a:srgbClr val="06D6A0"/>
                </a:solidFill>
                <a:latin typeface="Calibri"/>
              </a:rPr>
              <a:t># 4 conteneurs démarrent</a:t>
            </a:r>
          </a:p>
          <a:p>
            <a:pPr algn="l">
              <a:spcBef>
                <a:spcPts val="400"/>
              </a:spcBef>
              <a:spcAft>
                <a:spcPts val="200"/>
              </a:spcAft>
            </a:pPr>
            <a:r>
              <a:rPr sz="1300" b="0">
                <a:solidFill>
                  <a:srgbClr val="CBD5E1"/>
                </a:solidFill>
                <a:latin typeface="Calibri"/>
              </a:rPr>
              <a:t>color-room   :8080</a:t>
            </a:r>
          </a:p>
          <a:p>
            <a:pPr algn="l">
              <a:spcBef>
                <a:spcPts val="200"/>
              </a:spcBef>
              <a:spcAft>
                <a:spcPts val="200"/>
              </a:spcAft>
            </a:pPr>
            <a:r>
              <a:rPr sz="1300" b="0">
                <a:solidFill>
                  <a:srgbClr val="CBD5E1"/>
                </a:solidFill>
                <a:latin typeface="Calibri"/>
              </a:rPr>
              <a:t>ollama       :11434</a:t>
            </a:r>
          </a:p>
          <a:p>
            <a:pPr algn="l">
              <a:spcBef>
                <a:spcPts val="200"/>
              </a:spcBef>
              <a:spcAft>
                <a:spcPts val="200"/>
              </a:spcAft>
            </a:pPr>
            <a:r>
              <a:rPr sz="1300" b="0">
                <a:solidFill>
                  <a:srgbClr val="CBD5E1"/>
                </a:solidFill>
                <a:latin typeface="Calibri"/>
              </a:rPr>
              <a:t>portainer    :9000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7</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CE QUE FAIT L'APPLI</a:t>
            </a:r>
          </a:p>
          <a:p>
            <a:pPr algn="l">
              <a:spcAft>
                <a:spcPts val="200"/>
              </a:spcAft>
            </a:pPr>
            <a:r>
              <a:rPr sz="2500" b="1">
                <a:solidFill>
                  <a:srgbClr val="FFFFFF"/>
                </a:solidFill>
                <a:latin typeface="Calibri"/>
              </a:rPr>
              <a:t>Fonctionnalités du projet</a:t>
            </a:r>
          </a:p>
        </p:txBody>
      </p:sp>
      <p:pic>
        <p:nvPicPr>
          <p:cNvPr id="7" name="Picture 6" descr="ic_puzzle.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640080" y="1554480"/>
            <a:ext cx="3474720" cy="2057400"/>
          </a:xfrm>
          <a:prstGeom prst="roundRect">
            <a:avLst/>
          </a:prstGeom>
          <a:solidFill>
            <a:srgbClr val="F1F4FB"/>
          </a:solidFill>
          <a:ln w="19050">
            <a:solidFill>
              <a:srgbClr val="4361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c_play.png"/>
          <p:cNvPicPr>
            <a:picLocks noChangeAspect="1"/>
          </p:cNvPicPr>
          <p:nvPr/>
        </p:nvPicPr>
        <p:blipFill>
          <a:blip r:embed="rId3"/>
          <a:stretch>
            <a:fillRect/>
          </a:stretch>
        </p:blipFill>
        <p:spPr>
          <a:xfrm>
            <a:off x="868680" y="1828800"/>
            <a:ext cx="777240" cy="777240"/>
          </a:xfrm>
          <a:prstGeom prst="rect">
            <a:avLst/>
          </a:prstGeom>
        </p:spPr>
      </p:pic>
      <p:sp>
        <p:nvSpPr>
          <p:cNvPr id="10" name="TextBox 9"/>
          <p:cNvSpPr txBox="1"/>
          <p:nvPr/>
        </p:nvSpPr>
        <p:spPr>
          <a:xfrm>
            <a:off x="1783080" y="1828800"/>
            <a:ext cx="2194560" cy="1554480"/>
          </a:xfrm>
          <a:prstGeom prst="rect">
            <a:avLst/>
          </a:prstGeom>
          <a:noFill/>
        </p:spPr>
        <p:txBody>
          <a:bodyPr wrap="square" anchor="t">
            <a:spAutoFit/>
          </a:bodyPr>
          <a:lstStyle/>
          <a:p>
            <a:pPr algn="l">
              <a:spcAft>
                <a:spcPts val="200"/>
              </a:spcAft>
            </a:pPr>
            <a:r>
              <a:rPr sz="1600" b="1">
                <a:solidFill>
                  <a:srgbClr val="4361EE"/>
                </a:solidFill>
                <a:latin typeface="Calibri"/>
              </a:rPr>
              <a:t>Jeux intégrés</a:t>
            </a:r>
          </a:p>
          <a:p>
            <a:pPr algn="l">
              <a:spcBef>
                <a:spcPts val="600"/>
              </a:spcBef>
              <a:spcAft>
                <a:spcPts val="200"/>
              </a:spcAft>
            </a:pPr>
            <a:r>
              <a:rPr sz="1250" b="0">
                <a:solidFill>
                  <a:srgbClr val="334155"/>
                </a:solidFill>
                <a:latin typeface="Calibri"/>
              </a:rPr>
              <a:t>Color Speed, Simon, Puissance 4, Mémoire, mesure</a:t>
            </a:r>
          </a:p>
        </p:txBody>
      </p:sp>
      <p:sp>
        <p:nvSpPr>
          <p:cNvPr id="11" name="Rounded Rectangle 10"/>
          <p:cNvSpPr/>
          <p:nvPr/>
        </p:nvSpPr>
        <p:spPr>
          <a:xfrm>
            <a:off x="4343400" y="1554480"/>
            <a:ext cx="3474720" cy="2057400"/>
          </a:xfrm>
          <a:prstGeom prst="roundRect">
            <a:avLst/>
          </a:prstGeom>
          <a:solidFill>
            <a:srgbClr val="F1F4FB"/>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_puzzle.png"/>
          <p:cNvPicPr>
            <a:picLocks noChangeAspect="1"/>
          </p:cNvPicPr>
          <p:nvPr/>
        </p:nvPicPr>
        <p:blipFill>
          <a:blip r:embed="rId2"/>
          <a:stretch>
            <a:fillRect/>
          </a:stretch>
        </p:blipFill>
        <p:spPr>
          <a:xfrm>
            <a:off x="4572000" y="1828800"/>
            <a:ext cx="777240" cy="777240"/>
          </a:xfrm>
          <a:prstGeom prst="rect">
            <a:avLst/>
          </a:prstGeom>
        </p:spPr>
      </p:pic>
      <p:sp>
        <p:nvSpPr>
          <p:cNvPr id="13" name="TextBox 12"/>
          <p:cNvSpPr txBox="1"/>
          <p:nvPr/>
        </p:nvSpPr>
        <p:spPr>
          <a:xfrm>
            <a:off x="5486400" y="1828800"/>
            <a:ext cx="2194560" cy="1554480"/>
          </a:xfrm>
          <a:prstGeom prst="rect">
            <a:avLst/>
          </a:prstGeom>
          <a:noFill/>
        </p:spPr>
        <p:txBody>
          <a:bodyPr wrap="square" anchor="t">
            <a:spAutoFit/>
          </a:bodyPr>
          <a:lstStyle/>
          <a:p>
            <a:pPr algn="l">
              <a:spcAft>
                <a:spcPts val="200"/>
              </a:spcAft>
            </a:pPr>
            <a:r>
              <a:rPr sz="1600" b="1">
                <a:solidFill>
                  <a:srgbClr val="7C3AED"/>
                </a:solidFill>
                <a:latin typeface="Calibri"/>
              </a:rPr>
              <a:t>Éditeur low-code</a:t>
            </a:r>
          </a:p>
          <a:p>
            <a:pPr algn="l">
              <a:spcBef>
                <a:spcPts val="600"/>
              </a:spcBef>
              <a:spcAft>
                <a:spcPts val="200"/>
              </a:spcAft>
            </a:pPr>
            <a:r>
              <a:rPr sz="1250" b="0">
                <a:solidFill>
                  <a:srgbClr val="334155"/>
                </a:solidFill>
                <a:latin typeface="Calibri"/>
              </a:rPr>
              <a:t>Relier des blocs, ou coder en Python / JS</a:t>
            </a:r>
          </a:p>
        </p:txBody>
      </p:sp>
      <p:sp>
        <p:nvSpPr>
          <p:cNvPr id="14" name="Rounded Rectangle 13"/>
          <p:cNvSpPr/>
          <p:nvPr/>
        </p:nvSpPr>
        <p:spPr>
          <a:xfrm>
            <a:off x="8046720" y="1554480"/>
            <a:ext cx="3474720" cy="2057400"/>
          </a:xfrm>
          <a:prstGeom prst="roundRect">
            <a:avLst/>
          </a:prstGeom>
          <a:solidFill>
            <a:srgbClr val="F1F4FB"/>
          </a:solidFill>
          <a:ln w="1905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robot.png"/>
          <p:cNvPicPr>
            <a:picLocks noChangeAspect="1"/>
          </p:cNvPicPr>
          <p:nvPr/>
        </p:nvPicPr>
        <p:blipFill>
          <a:blip r:embed="rId4"/>
          <a:stretch>
            <a:fillRect/>
          </a:stretch>
        </p:blipFill>
        <p:spPr>
          <a:xfrm>
            <a:off x="8275320" y="1828800"/>
            <a:ext cx="777240" cy="777240"/>
          </a:xfrm>
          <a:prstGeom prst="rect">
            <a:avLst/>
          </a:prstGeom>
        </p:spPr>
      </p:pic>
      <p:sp>
        <p:nvSpPr>
          <p:cNvPr id="16" name="TextBox 15"/>
          <p:cNvSpPr txBox="1"/>
          <p:nvPr/>
        </p:nvSpPr>
        <p:spPr>
          <a:xfrm>
            <a:off x="9189720" y="1828800"/>
            <a:ext cx="2194560" cy="1554480"/>
          </a:xfrm>
          <a:prstGeom prst="rect">
            <a:avLst/>
          </a:prstGeom>
          <a:noFill/>
        </p:spPr>
        <p:txBody>
          <a:bodyPr wrap="square" anchor="t">
            <a:spAutoFit/>
          </a:bodyPr>
          <a:lstStyle/>
          <a:p>
            <a:pPr algn="l">
              <a:spcAft>
                <a:spcPts val="200"/>
              </a:spcAft>
            </a:pPr>
            <a:r>
              <a:rPr sz="1600" b="1">
                <a:solidFill>
                  <a:srgbClr val="EC4899"/>
                </a:solidFill>
                <a:latin typeface="Calibri"/>
              </a:rPr>
              <a:t>Génération par IA</a:t>
            </a:r>
          </a:p>
          <a:p>
            <a:pPr algn="l">
              <a:spcBef>
                <a:spcPts val="600"/>
              </a:spcBef>
              <a:spcAft>
                <a:spcPts val="200"/>
              </a:spcAft>
            </a:pPr>
            <a:r>
              <a:rPr sz="1250" b="0">
                <a:solidFill>
                  <a:srgbClr val="334155"/>
                </a:solidFill>
                <a:latin typeface="Calibri"/>
              </a:rPr>
              <a:t>Décrire un jeu en une phrase, il est créé</a:t>
            </a:r>
          </a:p>
        </p:txBody>
      </p:sp>
      <p:sp>
        <p:nvSpPr>
          <p:cNvPr id="17" name="Rounded Rectangle 16"/>
          <p:cNvSpPr/>
          <p:nvPr/>
        </p:nvSpPr>
        <p:spPr>
          <a:xfrm>
            <a:off x="640080" y="3840480"/>
            <a:ext cx="3474720" cy="2057400"/>
          </a:xfrm>
          <a:prstGeom prst="roundRect">
            <a:avLst/>
          </a:prstGeom>
          <a:solidFill>
            <a:srgbClr val="F1F4FB"/>
          </a:solidFill>
          <a:ln w="19050">
            <a:solidFill>
              <a:srgbClr val="06D6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phone.png"/>
          <p:cNvPicPr>
            <a:picLocks noChangeAspect="1"/>
          </p:cNvPicPr>
          <p:nvPr/>
        </p:nvPicPr>
        <p:blipFill>
          <a:blip r:embed="rId5"/>
          <a:stretch>
            <a:fillRect/>
          </a:stretch>
        </p:blipFill>
        <p:spPr>
          <a:xfrm>
            <a:off x="868680" y="4114800"/>
            <a:ext cx="777240" cy="777240"/>
          </a:xfrm>
          <a:prstGeom prst="rect">
            <a:avLst/>
          </a:prstGeom>
        </p:spPr>
      </p:pic>
      <p:sp>
        <p:nvSpPr>
          <p:cNvPr id="19" name="TextBox 18"/>
          <p:cNvSpPr txBox="1"/>
          <p:nvPr/>
        </p:nvSpPr>
        <p:spPr>
          <a:xfrm>
            <a:off x="1783080" y="4114800"/>
            <a:ext cx="2194560" cy="1554480"/>
          </a:xfrm>
          <a:prstGeom prst="rect">
            <a:avLst/>
          </a:prstGeom>
          <a:noFill/>
        </p:spPr>
        <p:txBody>
          <a:bodyPr wrap="square" anchor="t">
            <a:spAutoFit/>
          </a:bodyPr>
          <a:lstStyle/>
          <a:p>
            <a:pPr algn="l">
              <a:spcAft>
                <a:spcPts val="200"/>
              </a:spcAft>
            </a:pPr>
            <a:r>
              <a:rPr sz="1600" b="1">
                <a:solidFill>
                  <a:srgbClr val="06D6A0"/>
                </a:solidFill>
                <a:latin typeface="Calibri"/>
              </a:rPr>
              <a:t>Multijoueur</a:t>
            </a:r>
          </a:p>
          <a:p>
            <a:pPr algn="l">
              <a:spcBef>
                <a:spcPts val="600"/>
              </a:spcBef>
              <a:spcAft>
                <a:spcPts val="200"/>
              </a:spcAft>
            </a:pPr>
            <a:r>
              <a:rPr sz="1250" b="0">
                <a:solidFill>
                  <a:srgbClr val="334155"/>
                </a:solidFill>
                <a:latin typeface="Calibri"/>
              </a:rPr>
              <a:t>1 joueur = 1 dalle, rejoint par QR code</a:t>
            </a:r>
          </a:p>
        </p:txBody>
      </p:sp>
      <p:sp>
        <p:nvSpPr>
          <p:cNvPr id="20" name="Rounded Rectangle 19"/>
          <p:cNvSpPr/>
          <p:nvPr/>
        </p:nvSpPr>
        <p:spPr>
          <a:xfrm>
            <a:off x="4343400" y="3840480"/>
            <a:ext cx="3474720" cy="2057400"/>
          </a:xfrm>
          <a:prstGeom prst="roundRect">
            <a:avLst/>
          </a:prstGeom>
          <a:solidFill>
            <a:srgbClr val="F1F4FB"/>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c_palette.png"/>
          <p:cNvPicPr>
            <a:picLocks noChangeAspect="1"/>
          </p:cNvPicPr>
          <p:nvPr/>
        </p:nvPicPr>
        <p:blipFill>
          <a:blip r:embed="rId6"/>
          <a:stretch>
            <a:fillRect/>
          </a:stretch>
        </p:blipFill>
        <p:spPr>
          <a:xfrm>
            <a:off x="4572000" y="4114800"/>
            <a:ext cx="777240" cy="777240"/>
          </a:xfrm>
          <a:prstGeom prst="rect">
            <a:avLst/>
          </a:prstGeom>
        </p:spPr>
      </p:pic>
      <p:sp>
        <p:nvSpPr>
          <p:cNvPr id="22" name="TextBox 21"/>
          <p:cNvSpPr txBox="1"/>
          <p:nvPr/>
        </p:nvSpPr>
        <p:spPr>
          <a:xfrm>
            <a:off x="5486400" y="4114800"/>
            <a:ext cx="2194560" cy="1554480"/>
          </a:xfrm>
          <a:prstGeom prst="rect">
            <a:avLst/>
          </a:prstGeom>
          <a:noFill/>
        </p:spPr>
        <p:txBody>
          <a:bodyPr wrap="square" anchor="t">
            <a:spAutoFit/>
          </a:bodyPr>
          <a:lstStyle/>
          <a:p>
            <a:pPr algn="l">
              <a:spcAft>
                <a:spcPts val="200"/>
              </a:spcAft>
            </a:pPr>
            <a:r>
              <a:rPr sz="1600" b="1">
                <a:solidFill>
                  <a:srgbClr val="F59E0B"/>
                </a:solidFill>
                <a:latin typeface="Calibri"/>
              </a:rPr>
              <a:t>Mesure CS-160</a:t>
            </a:r>
          </a:p>
          <a:p>
            <a:pPr algn="l">
              <a:spcBef>
                <a:spcPts val="600"/>
              </a:spcBef>
              <a:spcAft>
                <a:spcPts val="200"/>
              </a:spcAft>
            </a:pPr>
            <a:r>
              <a:rPr sz="1250" b="0">
                <a:solidFill>
                  <a:srgbClr val="334155"/>
                </a:solidFill>
                <a:latin typeface="Calibri"/>
              </a:rPr>
              <a:t>Colorimètre réel + diagramme CIE 1931</a:t>
            </a:r>
          </a:p>
        </p:txBody>
      </p:sp>
      <p:sp>
        <p:nvSpPr>
          <p:cNvPr id="23" name="Rounded Rectangle 22"/>
          <p:cNvSpPr/>
          <p:nvPr/>
        </p:nvSpPr>
        <p:spPr>
          <a:xfrm>
            <a:off x="8046720" y="3840480"/>
            <a:ext cx="3474720" cy="2057400"/>
          </a:xfrm>
          <a:prstGeom prst="roundRect">
            <a:avLst/>
          </a:prstGeom>
          <a:solidFill>
            <a:srgbClr val="F1F4FB"/>
          </a:solidFill>
          <a:ln w="19050">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lock.png"/>
          <p:cNvPicPr>
            <a:picLocks noChangeAspect="1"/>
          </p:cNvPicPr>
          <p:nvPr/>
        </p:nvPicPr>
        <p:blipFill>
          <a:blip r:embed="rId7"/>
          <a:stretch>
            <a:fillRect/>
          </a:stretch>
        </p:blipFill>
        <p:spPr>
          <a:xfrm>
            <a:off x="8275320" y="4114800"/>
            <a:ext cx="777240" cy="777240"/>
          </a:xfrm>
          <a:prstGeom prst="rect">
            <a:avLst/>
          </a:prstGeom>
        </p:spPr>
      </p:pic>
      <p:sp>
        <p:nvSpPr>
          <p:cNvPr id="25" name="TextBox 24"/>
          <p:cNvSpPr txBox="1"/>
          <p:nvPr/>
        </p:nvSpPr>
        <p:spPr>
          <a:xfrm>
            <a:off x="9189720" y="4114800"/>
            <a:ext cx="2194560" cy="1554480"/>
          </a:xfrm>
          <a:prstGeom prst="rect">
            <a:avLst/>
          </a:prstGeom>
          <a:noFill/>
        </p:spPr>
        <p:txBody>
          <a:bodyPr wrap="square" anchor="t">
            <a:spAutoFit/>
          </a:bodyPr>
          <a:lstStyle/>
          <a:p>
            <a:pPr algn="l">
              <a:spcAft>
                <a:spcPts val="200"/>
              </a:spcAft>
            </a:pPr>
            <a:r>
              <a:rPr sz="1600" b="1">
                <a:solidFill>
                  <a:srgbClr val="334155"/>
                </a:solidFill>
                <a:latin typeface="Calibri"/>
              </a:rPr>
              <a:t>Administration</a:t>
            </a:r>
          </a:p>
          <a:p>
            <a:pPr algn="l">
              <a:spcBef>
                <a:spcPts val="600"/>
              </a:spcBef>
              <a:spcAft>
                <a:spcPts val="200"/>
              </a:spcAft>
            </a:pPr>
            <a:r>
              <a:rPr sz="1250" b="0">
                <a:solidFill>
                  <a:srgbClr val="334155"/>
                </a:solidFill>
                <a:latin typeface="Calibri"/>
              </a:rPr>
              <a:t>Comptes, classes, scores, niveaux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8</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POINT FORT 1 / 3</a:t>
            </a:r>
          </a:p>
          <a:p>
            <a:pPr algn="l">
              <a:spcAft>
                <a:spcPts val="200"/>
              </a:spcAft>
            </a:pPr>
            <a:r>
              <a:rPr sz="2500" b="1">
                <a:solidFill>
                  <a:srgbClr val="FFFFFF"/>
                </a:solidFill>
                <a:latin typeface="Calibri"/>
              </a:rPr>
              <a:t>Focus : l'éditeur de jeux</a:t>
            </a:r>
          </a:p>
        </p:txBody>
      </p:sp>
      <p:pic>
        <p:nvPicPr>
          <p:cNvPr id="7" name="Picture 6" descr="ic_puzzle.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6583680" cy="4572000"/>
          </a:xfrm>
          <a:prstGeom prst="rect">
            <a:avLst/>
          </a:prstGeom>
          <a:noFill/>
        </p:spPr>
        <p:txBody>
          <a:bodyPr wrap="square">
            <a:spAutoFit/>
          </a:bodyPr>
          <a:lstStyle/>
          <a:p>
            <a:pPr>
              <a:spcAft>
                <a:spcPts val="1200"/>
              </a:spcAft>
            </a:pPr>
            <a:r>
              <a:rPr sz="1500">
                <a:solidFill>
                  <a:srgbClr val="334155"/>
                </a:solidFill>
                <a:latin typeface="Calibri"/>
              </a:rPr>
              <a:t>▸ Programmation visuelle par noeuds reliés (style blueprint)</a:t>
            </a:r>
          </a:p>
          <a:p>
            <a:pPr lvl="1">
              <a:spcAft>
                <a:spcPts val="1200"/>
              </a:spcAft>
            </a:pPr>
            <a:r>
              <a:rPr sz="1300">
                <a:solidFill>
                  <a:srgbClr val="64748B"/>
                </a:solidFill>
                <a:latin typeface="Calibri"/>
              </a:rPr>
              <a:t>•  Évènements (clic dalle, timer) puis actions (allumer, score, son)</a:t>
            </a:r>
          </a:p>
          <a:p>
            <a:pPr>
              <a:spcAft>
                <a:spcPts val="1200"/>
              </a:spcAft>
            </a:pPr>
            <a:r>
              <a:rPr sz="1500">
                <a:solidFill>
                  <a:srgbClr val="334155"/>
                </a:solidFill>
                <a:latin typeface="Calibri"/>
              </a:rPr>
              <a:t>▸ Catalogue d'environ 190 blocs : logique, maths, rendu, animations, multijoueur</a:t>
            </a:r>
          </a:p>
          <a:p>
            <a:pPr>
              <a:spcAft>
                <a:spcPts val="1200"/>
              </a:spcAft>
            </a:pPr>
            <a:r>
              <a:rPr sz="1500">
                <a:solidFill>
                  <a:srgbClr val="334155"/>
                </a:solidFill>
                <a:latin typeface="Calibri"/>
              </a:rPr>
              <a:t>▸ Bloc Script : code Python ou JavaScript exécuté dans le jeu</a:t>
            </a:r>
          </a:p>
          <a:p>
            <a:pPr>
              <a:spcAft>
                <a:spcPts val="1200"/>
              </a:spcAft>
            </a:pPr>
            <a:r>
              <a:rPr sz="1500">
                <a:solidFill>
                  <a:srgbClr val="334155"/>
                </a:solidFill>
                <a:latin typeface="Calibri"/>
              </a:rPr>
              <a:t>▸ Aperçu en direct sur la vue 3D et sur les vraies dalles</a:t>
            </a:r>
          </a:p>
          <a:p>
            <a:pPr>
              <a:spcAft>
                <a:spcPts val="1200"/>
              </a:spcAft>
            </a:pPr>
            <a:r>
              <a:rPr sz="1500">
                <a:solidFill>
                  <a:srgbClr val="334155"/>
                </a:solidFill>
                <a:latin typeface="Calibri"/>
              </a:rPr>
              <a:t>▸ Les jeux créés sont sauvegardés et jouables par tous</a:t>
            </a:r>
          </a:p>
        </p:txBody>
      </p:sp>
      <p:sp>
        <p:nvSpPr>
          <p:cNvPr id="9" name="Rounded Rectangle 8"/>
          <p:cNvSpPr/>
          <p:nvPr/>
        </p:nvSpPr>
        <p:spPr>
          <a:xfrm>
            <a:off x="7498079" y="1737360"/>
            <a:ext cx="4023360" cy="393192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965960"/>
            <a:ext cx="3566160" cy="3657600"/>
          </a:xfrm>
          <a:prstGeom prst="rect">
            <a:avLst/>
          </a:prstGeom>
          <a:noFill/>
        </p:spPr>
        <p:txBody>
          <a:bodyPr wrap="square" anchor="t">
            <a:spAutoFit/>
          </a:bodyPr>
          <a:lstStyle/>
          <a:p>
            <a:pPr algn="l">
              <a:spcAft>
                <a:spcPts val="200"/>
              </a:spcAft>
            </a:pPr>
            <a:r>
              <a:rPr sz="1200" b="1">
                <a:solidFill>
                  <a:srgbClr val="7C3AED"/>
                </a:solidFill>
                <a:latin typeface="Calibri"/>
              </a:rPr>
              <a:t>EXEMPLE DE FLUX</a:t>
            </a:r>
          </a:p>
          <a:p>
            <a:pPr algn="l">
              <a:spcBef>
                <a:spcPts val="1200"/>
              </a:spcBef>
              <a:spcAft>
                <a:spcPts val="200"/>
              </a:spcAft>
            </a:pPr>
            <a:r>
              <a:rPr sz="1500" b="1">
                <a:solidFill>
                  <a:srgbClr val="4361EE"/>
                </a:solidFill>
                <a:latin typeface="Calibri"/>
              </a:rPr>
              <a:t>Démarrer</a:t>
            </a:r>
          </a:p>
          <a:p>
            <a:pPr algn="l">
              <a:spcBef>
                <a:spcPts val="200"/>
              </a:spcBef>
              <a:spcAft>
                <a:spcPts val="200"/>
              </a:spcAft>
            </a:pPr>
            <a:r>
              <a:rPr sz="1300" b="0">
                <a:solidFill>
                  <a:srgbClr val="64748B"/>
                </a:solidFill>
                <a:latin typeface="Calibri"/>
              </a:rPr>
              <a:t>↓</a:t>
            </a:r>
          </a:p>
          <a:p>
            <a:pPr algn="l">
              <a:spcBef>
                <a:spcPts val="200"/>
              </a:spcBef>
              <a:spcAft>
                <a:spcPts val="200"/>
              </a:spcAft>
            </a:pPr>
            <a:r>
              <a:rPr sz="1500" b="1">
                <a:solidFill>
                  <a:srgbClr val="7C3AED"/>
                </a:solidFill>
                <a:latin typeface="Calibri"/>
              </a:rPr>
              <a:t>Dalle aléatoire</a:t>
            </a:r>
          </a:p>
          <a:p>
            <a:pPr algn="l">
              <a:spcBef>
                <a:spcPts val="200"/>
              </a:spcBef>
              <a:spcAft>
                <a:spcPts val="200"/>
              </a:spcAft>
            </a:pPr>
            <a:r>
              <a:rPr sz="1300" b="0">
                <a:solidFill>
                  <a:srgbClr val="64748B"/>
                </a:solidFill>
                <a:latin typeface="Calibri"/>
              </a:rPr>
              <a:t>↓</a:t>
            </a:r>
          </a:p>
          <a:p>
            <a:pPr algn="l">
              <a:spcBef>
                <a:spcPts val="200"/>
              </a:spcBef>
              <a:spcAft>
                <a:spcPts val="200"/>
              </a:spcAft>
            </a:pPr>
            <a:r>
              <a:rPr sz="1500" b="1">
                <a:solidFill>
                  <a:srgbClr val="EC4899"/>
                </a:solidFill>
                <a:latin typeface="Calibri"/>
              </a:rPr>
              <a:t>Clic du joueur ?</a:t>
            </a:r>
          </a:p>
          <a:p>
            <a:pPr algn="l">
              <a:spcBef>
                <a:spcPts val="200"/>
              </a:spcBef>
              <a:spcAft>
                <a:spcPts val="200"/>
              </a:spcAft>
            </a:pPr>
            <a:r>
              <a:rPr sz="1300" b="0">
                <a:solidFill>
                  <a:srgbClr val="64748B"/>
                </a:solidFill>
                <a:latin typeface="Calibri"/>
              </a:rPr>
              <a:t>↓</a:t>
            </a:r>
          </a:p>
          <a:p>
            <a:pPr algn="l">
              <a:spcBef>
                <a:spcPts val="200"/>
              </a:spcBef>
              <a:spcAft>
                <a:spcPts val="200"/>
              </a:spcAft>
            </a:pPr>
            <a:r>
              <a:rPr sz="1500" b="1">
                <a:solidFill>
                  <a:srgbClr val="06D6A0"/>
                </a:solidFill>
                <a:latin typeface="Calibri"/>
              </a:rPr>
              <a:t>+1 point et son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9</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POINT FORT 2 / 3</a:t>
            </a:r>
          </a:p>
          <a:p>
            <a:pPr algn="l">
              <a:spcAft>
                <a:spcPts val="200"/>
              </a:spcAft>
            </a:pPr>
            <a:r>
              <a:rPr sz="2500" b="1">
                <a:solidFill>
                  <a:srgbClr val="FFFFFF"/>
                </a:solidFill>
                <a:latin typeface="Calibri"/>
              </a:rPr>
              <a:t>Focus : génération par IA</a:t>
            </a:r>
          </a:p>
        </p:txBody>
      </p:sp>
      <p:pic>
        <p:nvPicPr>
          <p:cNvPr id="7" name="Picture 6" descr="ic_robot.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6583680" cy="4572000"/>
          </a:xfrm>
          <a:prstGeom prst="rect">
            <a:avLst/>
          </a:prstGeom>
          <a:noFill/>
        </p:spPr>
        <p:txBody>
          <a:bodyPr wrap="square">
            <a:spAutoFit/>
          </a:bodyPr>
          <a:lstStyle/>
          <a:p>
            <a:pPr>
              <a:spcAft>
                <a:spcPts val="1200"/>
              </a:spcAft>
            </a:pPr>
            <a:r>
              <a:rPr sz="1500">
                <a:solidFill>
                  <a:srgbClr val="334155"/>
                </a:solidFill>
                <a:latin typeface="Calibri"/>
              </a:rPr>
              <a:t>▸ L'utilisateur décrit le jeu en langage naturel</a:t>
            </a:r>
          </a:p>
          <a:p>
            <a:pPr>
              <a:spcAft>
                <a:spcPts val="1200"/>
              </a:spcAft>
            </a:pPr>
            <a:r>
              <a:rPr sz="1500">
                <a:solidFill>
                  <a:srgbClr val="334155"/>
                </a:solidFill>
                <a:latin typeface="Calibri"/>
              </a:rPr>
              <a:t>▸ Cascade intelligente : Gemini (cloud) puis repli Ollama (local)</a:t>
            </a:r>
          </a:p>
          <a:p>
            <a:pPr lvl="1">
              <a:spcAft>
                <a:spcPts val="1200"/>
              </a:spcAft>
            </a:pPr>
            <a:r>
              <a:rPr sz="1300">
                <a:solidFill>
                  <a:srgbClr val="64748B"/>
                </a:solidFill>
                <a:latin typeface="Calibri"/>
              </a:rPr>
              <a:t>•  Marche hors ligne grâce au modèle local sur le Pi</a:t>
            </a:r>
          </a:p>
          <a:p>
            <a:pPr>
              <a:spcAft>
                <a:spcPts val="1200"/>
              </a:spcAft>
            </a:pPr>
            <a:r>
              <a:rPr sz="1500">
                <a:solidFill>
                  <a:srgbClr val="334155"/>
                </a:solidFill>
                <a:latin typeface="Calibri"/>
              </a:rPr>
              <a:t>▸ L'IA renvoie un JSON strict, converti en blocs et interface</a:t>
            </a:r>
          </a:p>
          <a:p>
            <a:pPr>
              <a:spcAft>
                <a:spcPts val="1200"/>
              </a:spcAft>
            </a:pPr>
            <a:r>
              <a:rPr sz="1500">
                <a:solidFill>
                  <a:srgbClr val="334155"/>
                </a:solidFill>
                <a:latin typeface="Calibri"/>
              </a:rPr>
              <a:t>▸ Garde-fou : refuse poliment les jeux impossibles (Forza, GTA)</a:t>
            </a:r>
          </a:p>
          <a:p>
            <a:pPr>
              <a:spcAft>
                <a:spcPts val="1200"/>
              </a:spcAft>
            </a:pPr>
            <a:r>
              <a:rPr sz="1500">
                <a:solidFill>
                  <a:srgbClr val="334155"/>
                </a:solidFill>
                <a:latin typeface="Calibri"/>
              </a:rPr>
              <a:t>▸ Validation et nettoyage systématiques de la sortie</a:t>
            </a:r>
          </a:p>
        </p:txBody>
      </p:sp>
      <p:sp>
        <p:nvSpPr>
          <p:cNvPr id="9" name="Rounded Rectangle 8"/>
          <p:cNvSpPr/>
          <p:nvPr/>
        </p:nvSpPr>
        <p:spPr>
          <a:xfrm>
            <a:off x="7498079" y="1737360"/>
            <a:ext cx="4023360" cy="39319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1965960"/>
            <a:ext cx="3566160" cy="3657600"/>
          </a:xfrm>
          <a:prstGeom prst="rect">
            <a:avLst/>
          </a:prstGeom>
          <a:noFill/>
        </p:spPr>
        <p:txBody>
          <a:bodyPr wrap="square" anchor="t">
            <a:spAutoFit/>
          </a:bodyPr>
          <a:lstStyle/>
          <a:p>
            <a:pPr algn="l">
              <a:spcAft>
                <a:spcPts val="200"/>
              </a:spcAft>
            </a:pPr>
            <a:r>
              <a:rPr sz="1200" b="1">
                <a:solidFill>
                  <a:srgbClr val="06D6A0"/>
                </a:solidFill>
                <a:latin typeface="Calibri"/>
              </a:rPr>
              <a:t>CASCADE IA</a:t>
            </a:r>
          </a:p>
          <a:p>
            <a:pPr algn="l">
              <a:spcBef>
                <a:spcPts val="1200"/>
              </a:spcBef>
              <a:spcAft>
                <a:spcPts val="200"/>
              </a:spcAft>
            </a:pPr>
            <a:r>
              <a:rPr sz="1400" b="1">
                <a:solidFill>
                  <a:srgbClr val="FFFFFF"/>
                </a:solidFill>
                <a:latin typeface="Calibri"/>
              </a:rPr>
              <a:t>1. Clé Gemini présente ?</a:t>
            </a:r>
          </a:p>
          <a:p>
            <a:pPr algn="l">
              <a:spcBef>
                <a:spcPts val="200"/>
              </a:spcBef>
              <a:spcAft>
                <a:spcPts val="200"/>
              </a:spcAft>
            </a:pPr>
            <a:r>
              <a:rPr sz="1200" b="0">
                <a:solidFill>
                  <a:srgbClr val="CBD5E1"/>
                </a:solidFill>
                <a:latin typeface="Calibri"/>
              </a:rPr>
              <a:t>oui : Gemini Flash</a:t>
            </a:r>
          </a:p>
          <a:p>
            <a:pPr algn="l">
              <a:spcBef>
                <a:spcPts val="1000"/>
              </a:spcBef>
              <a:spcAft>
                <a:spcPts val="200"/>
              </a:spcAft>
            </a:pPr>
            <a:r>
              <a:rPr sz="1400" b="1">
                <a:solidFill>
                  <a:srgbClr val="FFFFFF"/>
                </a:solidFill>
                <a:latin typeface="Calibri"/>
              </a:rPr>
              <a:t>2. Échec ou hors ligne ?</a:t>
            </a:r>
          </a:p>
          <a:p>
            <a:pPr algn="l">
              <a:spcBef>
                <a:spcPts val="200"/>
              </a:spcBef>
              <a:spcAft>
                <a:spcPts val="200"/>
              </a:spcAft>
            </a:pPr>
            <a:r>
              <a:rPr sz="1200" b="0">
                <a:solidFill>
                  <a:srgbClr val="CBD5E1"/>
                </a:solidFill>
                <a:latin typeface="Calibri"/>
              </a:rPr>
              <a:t>repli : Ollama (Pi)</a:t>
            </a:r>
          </a:p>
          <a:p>
            <a:pPr algn="l">
              <a:spcBef>
                <a:spcPts val="1000"/>
              </a:spcBef>
              <a:spcAft>
                <a:spcPts val="200"/>
              </a:spcAft>
            </a:pPr>
            <a:r>
              <a:rPr sz="1400" b="1">
                <a:solidFill>
                  <a:srgbClr val="FFFFFF"/>
                </a:solidFill>
                <a:latin typeface="Calibri"/>
              </a:rPr>
              <a:t>3. Sortie JSON validée</a:t>
            </a:r>
          </a:p>
          <a:p>
            <a:pPr algn="l">
              <a:spcBef>
                <a:spcPts val="200"/>
              </a:spcBef>
              <a:spcAft>
                <a:spcPts val="200"/>
              </a:spcAft>
            </a:pPr>
            <a:r>
              <a:rPr sz="1200" b="0">
                <a:solidFill>
                  <a:srgbClr val="CBD5E1"/>
                </a:solidFill>
                <a:latin typeface="Calibri"/>
              </a:rPr>
              <a:t>blocs + UI générés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10</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POINT FORT 3 / 3</a:t>
            </a:r>
          </a:p>
          <a:p>
            <a:pPr algn="l">
              <a:spcAft>
                <a:spcPts val="200"/>
              </a:spcAft>
            </a:pPr>
            <a:r>
              <a:rPr sz="2500" b="1">
                <a:solidFill>
                  <a:srgbClr val="FFFFFF"/>
                </a:solidFill>
                <a:latin typeface="Calibri"/>
              </a:rPr>
              <a:t>Focus : mesure colorimétrique</a:t>
            </a:r>
          </a:p>
        </p:txBody>
      </p:sp>
      <p:pic>
        <p:nvPicPr>
          <p:cNvPr id="7" name="Picture 6" descr="ic_palette.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6400800" cy="4572000"/>
          </a:xfrm>
          <a:prstGeom prst="rect">
            <a:avLst/>
          </a:prstGeom>
          <a:noFill/>
        </p:spPr>
        <p:txBody>
          <a:bodyPr wrap="square">
            <a:spAutoFit/>
          </a:bodyPr>
          <a:lstStyle/>
          <a:p>
            <a:pPr>
              <a:spcAft>
                <a:spcPts val="1200"/>
              </a:spcAft>
            </a:pPr>
            <a:r>
              <a:rPr sz="1500">
                <a:solidFill>
                  <a:srgbClr val="334155"/>
                </a:solidFill>
                <a:latin typeface="Calibri"/>
              </a:rPr>
              <a:t>▸ Colorimètre Konica Minolta CS-160 piloté via une API</a:t>
            </a:r>
          </a:p>
          <a:p>
            <a:pPr>
              <a:spcAft>
                <a:spcPts val="1200"/>
              </a:spcAft>
            </a:pPr>
            <a:r>
              <a:rPr sz="1500">
                <a:solidFill>
                  <a:srgbClr val="334155"/>
                </a:solidFill>
                <a:latin typeface="Calibri"/>
              </a:rPr>
              <a:t>▸ Mesure réelle de la lumière émise (X Y Z, x y Lv)</a:t>
            </a:r>
          </a:p>
          <a:p>
            <a:pPr>
              <a:spcAft>
                <a:spcPts val="1200"/>
              </a:spcAft>
            </a:pPr>
            <a:r>
              <a:rPr sz="1500">
                <a:solidFill>
                  <a:srgbClr val="334155"/>
                </a:solidFill>
                <a:latin typeface="Calibri"/>
              </a:rPr>
              <a:t>▸ Affichage sur le diagramme de chromaticité CIE 1931</a:t>
            </a:r>
          </a:p>
          <a:p>
            <a:pPr>
              <a:spcAft>
                <a:spcPts val="1200"/>
              </a:spcAft>
            </a:pPr>
            <a:r>
              <a:rPr sz="1500">
                <a:solidFill>
                  <a:srgbClr val="334155"/>
                </a:solidFill>
                <a:latin typeface="Calibri"/>
              </a:rPr>
              <a:t>▸ Jeux basés sur la mesure (reconnaître une couleur, métamérie)</a:t>
            </a:r>
          </a:p>
          <a:p>
            <a:pPr>
              <a:spcAft>
                <a:spcPts val="1200"/>
              </a:spcAft>
            </a:pPr>
            <a:r>
              <a:rPr sz="1500">
                <a:solidFill>
                  <a:srgbClr val="334155"/>
                </a:solidFill>
                <a:latin typeface="Calibri"/>
              </a:rPr>
              <a:t>▸ Écart de couleur (delta E) pour scorer la précision</a:t>
            </a:r>
          </a:p>
          <a:p>
            <a:pPr>
              <a:spcAft>
                <a:spcPts val="1200"/>
              </a:spcAft>
            </a:pPr>
            <a:r>
              <a:rPr sz="1500">
                <a:solidFill>
                  <a:srgbClr val="334155"/>
                </a:solidFill>
                <a:latin typeface="Calibri"/>
              </a:rPr>
              <a:t>▸ Lien direct entre le virtuel et le réel mesuré</a:t>
            </a:r>
          </a:p>
        </p:txBody>
      </p:sp>
      <p:pic>
        <p:nvPicPr>
          <p:cNvPr id="9" name="Picture 8" descr="cie.png"/>
          <p:cNvPicPr>
            <a:picLocks noChangeAspect="1"/>
          </p:cNvPicPr>
          <p:nvPr/>
        </p:nvPicPr>
        <p:blipFill>
          <a:blip r:embed="rId3"/>
          <a:stretch>
            <a:fillRect/>
          </a:stretch>
        </p:blipFill>
        <p:spPr>
          <a:xfrm>
            <a:off x="7406640" y="1554480"/>
            <a:ext cx="4114800" cy="41148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11</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UNE DALLE PAR JOUEUR</a:t>
            </a:r>
          </a:p>
          <a:p>
            <a:pPr algn="l">
              <a:spcAft>
                <a:spcPts val="200"/>
              </a:spcAft>
            </a:pPr>
            <a:r>
              <a:rPr sz="2500" b="1">
                <a:solidFill>
                  <a:srgbClr val="FFFFFF"/>
                </a:solidFill>
                <a:latin typeface="Calibri"/>
              </a:rPr>
              <a:t>Multijoueur en réseau local</a:t>
            </a:r>
          </a:p>
        </p:txBody>
      </p:sp>
      <p:pic>
        <p:nvPicPr>
          <p:cNvPr id="7" name="Picture 6" descr="ic_phone.png"/>
          <p:cNvPicPr>
            <a:picLocks noChangeAspect="1"/>
          </p:cNvPicPr>
          <p:nvPr/>
        </p:nvPicPr>
        <p:blipFill>
          <a:blip r:embed="rId2"/>
          <a:stretch>
            <a:fillRect/>
          </a:stretch>
        </p:blipFill>
        <p:spPr>
          <a:xfrm>
            <a:off x="11018520" y="301752"/>
            <a:ext cx="713232" cy="713232"/>
          </a:xfrm>
          <a:prstGeom prst="rect">
            <a:avLst/>
          </a:prstGeom>
        </p:spPr>
      </p:pic>
      <p:pic>
        <p:nvPicPr>
          <p:cNvPr id="8" name="Picture 7" descr="phones.png"/>
          <p:cNvPicPr>
            <a:picLocks noChangeAspect="1"/>
          </p:cNvPicPr>
          <p:nvPr/>
        </p:nvPicPr>
        <p:blipFill>
          <a:blip r:embed="rId3"/>
          <a:stretch>
            <a:fillRect/>
          </a:stretch>
        </p:blipFill>
        <p:spPr>
          <a:xfrm>
            <a:off x="6126480" y="1554480"/>
            <a:ext cx="5669280" cy="5669280"/>
          </a:xfrm>
          <a:prstGeom prst="rect">
            <a:avLst/>
          </a:prstGeom>
        </p:spPr>
      </p:pic>
      <p:sp>
        <p:nvSpPr>
          <p:cNvPr id="9" name="TextBox 8"/>
          <p:cNvSpPr txBox="1"/>
          <p:nvPr/>
        </p:nvSpPr>
        <p:spPr>
          <a:xfrm>
            <a:off x="640080" y="1737360"/>
            <a:ext cx="5486400" cy="4572000"/>
          </a:xfrm>
          <a:prstGeom prst="rect">
            <a:avLst/>
          </a:prstGeom>
          <a:noFill/>
        </p:spPr>
        <p:txBody>
          <a:bodyPr wrap="square">
            <a:spAutoFit/>
          </a:bodyPr>
          <a:lstStyle/>
          <a:p>
            <a:pPr>
              <a:spcAft>
                <a:spcPts val="1300"/>
              </a:spcAft>
            </a:pPr>
            <a:r>
              <a:rPr sz="1500">
                <a:solidFill>
                  <a:srgbClr val="334155"/>
                </a:solidFill>
                <a:latin typeface="Calibri"/>
              </a:rPr>
              <a:t>▸ Chaque joueur ouvre la page sur son téléphone</a:t>
            </a:r>
          </a:p>
          <a:p>
            <a:pPr>
              <a:spcAft>
                <a:spcPts val="1300"/>
              </a:spcAft>
            </a:pPr>
            <a:r>
              <a:rPr sz="1500">
                <a:solidFill>
                  <a:srgbClr val="334155"/>
                </a:solidFill>
                <a:latin typeface="Calibri"/>
              </a:rPr>
              <a:t>▸ Il scanne un QR code ou tape l'adresse locale</a:t>
            </a:r>
          </a:p>
          <a:p>
            <a:pPr>
              <a:spcAft>
                <a:spcPts val="1300"/>
              </a:spcAft>
            </a:pPr>
            <a:r>
              <a:rPr sz="1500">
                <a:solidFill>
                  <a:srgbClr val="334155"/>
                </a:solidFill>
                <a:latin typeface="Calibri"/>
              </a:rPr>
              <a:t>▸ Il reçoit une dalle (un siège) et choisit sa couleur</a:t>
            </a:r>
          </a:p>
          <a:p>
            <a:pPr>
              <a:spcAft>
                <a:spcPts val="1300"/>
              </a:spcAft>
            </a:pPr>
            <a:r>
              <a:rPr sz="1500">
                <a:solidFill>
                  <a:srgbClr val="334155"/>
                </a:solidFill>
                <a:latin typeface="Calibri"/>
              </a:rPr>
              <a:t>▸ Sa dalle s'allume en temps réel dans la Color Room</a:t>
            </a:r>
          </a:p>
          <a:p>
            <a:pPr>
              <a:spcAft>
                <a:spcPts val="1300"/>
              </a:spcAft>
            </a:pPr>
            <a:r>
              <a:rPr sz="1500">
                <a:solidFill>
                  <a:srgbClr val="334155"/>
                </a:solidFill>
                <a:latin typeface="Calibri"/>
              </a:rPr>
              <a:t>▸ L'animateur peut jouer aussi depuis la tablette</a:t>
            </a:r>
          </a:p>
          <a:p>
            <a:pPr>
              <a:spcAft>
                <a:spcPts val="1300"/>
              </a:spcAft>
            </a:pPr>
            <a:r>
              <a:rPr sz="1500">
                <a:solidFill>
                  <a:srgbClr val="334155"/>
                </a:solidFill>
                <a:latin typeface="Calibri"/>
              </a:rPr>
              <a:t>▸ Tout passe par le réseau Wi-Fi local (pas d'Internet)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12</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BONNES PRATIQUES</a:t>
            </a:r>
          </a:p>
          <a:p>
            <a:pPr algn="l">
              <a:spcAft>
                <a:spcPts val="200"/>
              </a:spcAft>
            </a:pPr>
            <a:r>
              <a:rPr sz="2500" b="1">
                <a:solidFill>
                  <a:srgbClr val="FFFFFF"/>
                </a:solidFill>
                <a:latin typeface="Calibri"/>
              </a:rPr>
              <a:t>Sécurité</a:t>
            </a:r>
          </a:p>
        </p:txBody>
      </p:sp>
      <p:pic>
        <p:nvPicPr>
          <p:cNvPr id="7" name="Picture 6" descr="ic_lock.png"/>
          <p:cNvPicPr>
            <a:picLocks noChangeAspect="1"/>
          </p:cNvPicPr>
          <p:nvPr/>
        </p:nvPicPr>
        <p:blipFill>
          <a:blip r:embed="rId2"/>
          <a:stretch>
            <a:fillRect/>
          </a:stretch>
        </p:blipFill>
        <p:spPr>
          <a:xfrm>
            <a:off x="11018520" y="301752"/>
            <a:ext cx="713232" cy="713232"/>
          </a:xfrm>
          <a:prstGeom prst="rect">
            <a:avLst/>
          </a:prstGeom>
        </p:spPr>
      </p:pic>
      <p:pic>
        <p:nvPicPr>
          <p:cNvPr id="8" name="Picture 7" descr="ic_lock.png"/>
          <p:cNvPicPr>
            <a:picLocks noChangeAspect="1"/>
          </p:cNvPicPr>
          <p:nvPr/>
        </p:nvPicPr>
        <p:blipFill>
          <a:blip r:embed="rId2"/>
          <a:stretch>
            <a:fillRect/>
          </a:stretch>
        </p:blipFill>
        <p:spPr>
          <a:xfrm>
            <a:off x="731520" y="1554480"/>
            <a:ext cx="548640" cy="548640"/>
          </a:xfrm>
          <a:prstGeom prst="rect">
            <a:avLst/>
          </a:prstGeom>
        </p:spPr>
      </p:pic>
      <p:sp>
        <p:nvSpPr>
          <p:cNvPr id="9" name="TextBox 8"/>
          <p:cNvSpPr txBox="1"/>
          <p:nvPr/>
        </p:nvSpPr>
        <p:spPr>
          <a:xfrm>
            <a:off x="1463040" y="157276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Mots de passe hachés (PBKDF2-SHA512, 100 000 itérations, sel) : jamais en clair</a:t>
            </a:r>
          </a:p>
        </p:txBody>
      </p:sp>
      <p:pic>
        <p:nvPicPr>
          <p:cNvPr id="10" name="Picture 9" descr="ic_network.png"/>
          <p:cNvPicPr>
            <a:picLocks noChangeAspect="1"/>
          </p:cNvPicPr>
          <p:nvPr/>
        </p:nvPicPr>
        <p:blipFill>
          <a:blip r:embed="rId3"/>
          <a:stretch>
            <a:fillRect/>
          </a:stretch>
        </p:blipFill>
        <p:spPr>
          <a:xfrm>
            <a:off x="731520" y="2331720"/>
            <a:ext cx="548640" cy="548640"/>
          </a:xfrm>
          <a:prstGeom prst="rect">
            <a:avLst/>
          </a:prstGeom>
        </p:spPr>
      </p:pic>
      <p:sp>
        <p:nvSpPr>
          <p:cNvPr id="11" name="TextBox 10"/>
          <p:cNvSpPr txBox="1"/>
          <p:nvPr/>
        </p:nvSpPr>
        <p:spPr>
          <a:xfrm>
            <a:off x="1463040" y="235000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Sessions par cookie httpOnly + rôles (élève, enseignant, admin)</a:t>
            </a:r>
          </a:p>
        </p:txBody>
      </p:sp>
      <p:pic>
        <p:nvPicPr>
          <p:cNvPr id="12" name="Picture 11" descr="ic_gear.png"/>
          <p:cNvPicPr>
            <a:picLocks noChangeAspect="1"/>
          </p:cNvPicPr>
          <p:nvPr/>
        </p:nvPicPr>
        <p:blipFill>
          <a:blip r:embed="rId4"/>
          <a:stretch>
            <a:fillRect/>
          </a:stretch>
        </p:blipFill>
        <p:spPr>
          <a:xfrm>
            <a:off x="731520" y="3108960"/>
            <a:ext cx="548640" cy="548640"/>
          </a:xfrm>
          <a:prstGeom prst="rect">
            <a:avLst/>
          </a:prstGeom>
        </p:spPr>
      </p:pic>
      <p:sp>
        <p:nvSpPr>
          <p:cNvPr id="13" name="TextBox 12"/>
          <p:cNvSpPr txBox="1"/>
          <p:nvPr/>
        </p:nvSpPr>
        <p:spPr>
          <a:xfrm>
            <a:off x="1463040" y="312724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Secrets dans .env, exclu de Git via .gitignore</a:t>
            </a:r>
          </a:p>
        </p:txBody>
      </p:sp>
      <p:pic>
        <p:nvPicPr>
          <p:cNvPr id="14" name="Picture 13" descr="ic_check.png"/>
          <p:cNvPicPr>
            <a:picLocks noChangeAspect="1"/>
          </p:cNvPicPr>
          <p:nvPr/>
        </p:nvPicPr>
        <p:blipFill>
          <a:blip r:embed="rId5"/>
          <a:stretch>
            <a:fillRect/>
          </a:stretch>
        </p:blipFill>
        <p:spPr>
          <a:xfrm>
            <a:off x="731520" y="3886200"/>
            <a:ext cx="548640" cy="548640"/>
          </a:xfrm>
          <a:prstGeom prst="rect">
            <a:avLst/>
          </a:prstGeom>
        </p:spPr>
      </p:pic>
      <p:sp>
        <p:nvSpPr>
          <p:cNvPr id="15" name="TextBox 14"/>
          <p:cNvSpPr txBox="1"/>
          <p:nvPr/>
        </p:nvSpPr>
        <p:spPr>
          <a:xfrm>
            <a:off x="1463040" y="390448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Transactions SQL atomiques (ACID) pour des états cohérents</a:t>
            </a:r>
          </a:p>
        </p:txBody>
      </p:sp>
      <p:pic>
        <p:nvPicPr>
          <p:cNvPr id="16" name="Picture 15" descr="ic_container.png"/>
          <p:cNvPicPr>
            <a:picLocks noChangeAspect="1"/>
          </p:cNvPicPr>
          <p:nvPr/>
        </p:nvPicPr>
        <p:blipFill>
          <a:blip r:embed="rId6"/>
          <a:stretch>
            <a:fillRect/>
          </a:stretch>
        </p:blipFill>
        <p:spPr>
          <a:xfrm>
            <a:off x="731520" y="4663440"/>
            <a:ext cx="548640" cy="548640"/>
          </a:xfrm>
          <a:prstGeom prst="rect">
            <a:avLst/>
          </a:prstGeom>
        </p:spPr>
      </p:pic>
      <p:sp>
        <p:nvSpPr>
          <p:cNvPr id="17" name="TextBox 16"/>
          <p:cNvSpPr txBox="1"/>
          <p:nvPr/>
        </p:nvSpPr>
        <p:spPr>
          <a:xfrm>
            <a:off x="1463040" y="468172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Réseau local isolé : pas d'exposition Internet, IA hors ligne possible</a:t>
            </a:r>
          </a:p>
        </p:txBody>
      </p:sp>
      <p:pic>
        <p:nvPicPr>
          <p:cNvPr id="18" name="Picture 17" descr="ic_doc.png"/>
          <p:cNvPicPr>
            <a:picLocks noChangeAspect="1"/>
          </p:cNvPicPr>
          <p:nvPr/>
        </p:nvPicPr>
        <p:blipFill>
          <a:blip r:embed="rId7"/>
          <a:stretch>
            <a:fillRect/>
          </a:stretch>
        </p:blipFill>
        <p:spPr>
          <a:xfrm>
            <a:off x="731520" y="5440680"/>
            <a:ext cx="548640" cy="548640"/>
          </a:xfrm>
          <a:prstGeom prst="rect">
            <a:avLst/>
          </a:prstGeom>
        </p:spPr>
      </p:pic>
      <p:sp>
        <p:nvSpPr>
          <p:cNvPr id="19" name="TextBox 18"/>
          <p:cNvSpPr txBox="1"/>
          <p:nvPr/>
        </p:nvSpPr>
        <p:spPr>
          <a:xfrm>
            <a:off x="1463040" y="5458968"/>
            <a:ext cx="10058400" cy="640080"/>
          </a:xfrm>
          <a:prstGeom prst="rect">
            <a:avLst/>
          </a:prstGeom>
          <a:noFill/>
        </p:spPr>
        <p:txBody>
          <a:bodyPr wrap="square" anchor="ctr">
            <a:spAutoFit/>
          </a:bodyPr>
          <a:lstStyle/>
          <a:p>
            <a:pPr algn="l">
              <a:spcAft>
                <a:spcPts val="200"/>
              </a:spcAft>
            </a:pPr>
            <a:r>
              <a:rPr sz="1500" b="0">
                <a:solidFill>
                  <a:srgbClr val="334155"/>
                </a:solidFill>
                <a:latin typeface="Calibri"/>
              </a:rPr>
              <a:t>Retour d'expérience : secret committé par erreur, purgé de l'historique Git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13</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MÉTHODE ET OUTILS</a:t>
            </a:r>
          </a:p>
          <a:p>
            <a:pPr algn="l">
              <a:spcAft>
                <a:spcPts val="200"/>
              </a:spcAft>
            </a:pPr>
            <a:r>
              <a:rPr sz="2500" b="1">
                <a:solidFill>
                  <a:srgbClr val="FFFFFF"/>
                </a:solidFill>
                <a:latin typeface="Calibri"/>
              </a:rPr>
              <a:t>Gestion de projet</a:t>
            </a:r>
          </a:p>
        </p:txBody>
      </p:sp>
      <p:pic>
        <p:nvPicPr>
          <p:cNvPr id="7" name="Picture 6" descr="ic_doc.png"/>
          <p:cNvPicPr>
            <a:picLocks noChangeAspect="1"/>
          </p:cNvPicPr>
          <p:nvPr/>
        </p:nvPicPr>
        <p:blipFill>
          <a:blip r:embed="rId2"/>
          <a:stretch>
            <a:fillRect/>
          </a:stretch>
        </p:blipFill>
        <p:spPr>
          <a:xfrm>
            <a:off x="11018520" y="301752"/>
            <a:ext cx="713232" cy="713232"/>
          </a:xfrm>
          <a:prstGeom prst="rect">
            <a:avLst/>
          </a:prstGeom>
        </p:spPr>
      </p:pic>
      <p:sp>
        <p:nvSpPr>
          <p:cNvPr id="8" name="TextBox 7"/>
          <p:cNvSpPr txBox="1"/>
          <p:nvPr/>
        </p:nvSpPr>
        <p:spPr>
          <a:xfrm>
            <a:off x="640080" y="1554480"/>
            <a:ext cx="5669280" cy="4572000"/>
          </a:xfrm>
          <a:prstGeom prst="rect">
            <a:avLst/>
          </a:prstGeom>
          <a:noFill/>
        </p:spPr>
        <p:txBody>
          <a:bodyPr wrap="square">
            <a:spAutoFit/>
          </a:bodyPr>
          <a:lstStyle/>
          <a:p>
            <a:pPr>
              <a:spcAft>
                <a:spcPts val="1300"/>
              </a:spcAft>
            </a:pPr>
            <a:r>
              <a:rPr sz="1500">
                <a:solidFill>
                  <a:srgbClr val="334155"/>
                </a:solidFill>
                <a:latin typeface="Calibri"/>
              </a:rPr>
              <a:t>▸ Versioning Git et GitHub (branches, commits clairs)</a:t>
            </a:r>
          </a:p>
          <a:p>
            <a:pPr>
              <a:spcAft>
                <a:spcPts val="1300"/>
              </a:spcAft>
            </a:pPr>
            <a:r>
              <a:rPr sz="1500">
                <a:solidFill>
                  <a:srgbClr val="334155"/>
                </a:solidFill>
                <a:latin typeface="Calibri"/>
              </a:rPr>
              <a:t>▸ Développement incrémental, fonctionnalité par fonctionnalité</a:t>
            </a:r>
          </a:p>
          <a:p>
            <a:pPr>
              <a:spcAft>
                <a:spcPts val="1300"/>
              </a:spcAft>
            </a:pPr>
            <a:r>
              <a:rPr sz="1500">
                <a:solidFill>
                  <a:srgbClr val="334155"/>
                </a:solidFill>
                <a:latin typeface="Calibri"/>
              </a:rPr>
              <a:t>▸ Tests à chaque étape : typage (tsc) et build de production</a:t>
            </a:r>
          </a:p>
          <a:p>
            <a:pPr>
              <a:spcAft>
                <a:spcPts val="1300"/>
              </a:spcAft>
            </a:pPr>
            <a:r>
              <a:rPr sz="1500">
                <a:solidFill>
                  <a:srgbClr val="334155"/>
                </a:solidFill>
                <a:latin typeface="Calibri"/>
              </a:rPr>
              <a:t>▸ Documentation : 15 diagrammes UML et un guide technique</a:t>
            </a:r>
          </a:p>
          <a:p>
            <a:pPr>
              <a:spcAft>
                <a:spcPts val="1300"/>
              </a:spcAft>
            </a:pPr>
            <a:r>
              <a:rPr sz="1500">
                <a:solidFill>
                  <a:srgbClr val="334155"/>
                </a:solidFill>
                <a:latin typeface="Calibri"/>
              </a:rPr>
              <a:t>▸ Conteneurisation pour des déploiements fiables</a:t>
            </a:r>
          </a:p>
        </p:txBody>
      </p:sp>
      <p:sp>
        <p:nvSpPr>
          <p:cNvPr id="9" name="Rounded Rectangle 8"/>
          <p:cNvSpPr/>
          <p:nvPr/>
        </p:nvSpPr>
        <p:spPr>
          <a:xfrm>
            <a:off x="6583680" y="1737360"/>
            <a:ext cx="4937760" cy="384048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0" y="1965960"/>
            <a:ext cx="4480560" cy="3566160"/>
          </a:xfrm>
          <a:prstGeom prst="rect">
            <a:avLst/>
          </a:prstGeom>
          <a:noFill/>
        </p:spPr>
        <p:txBody>
          <a:bodyPr wrap="square" anchor="t">
            <a:spAutoFit/>
          </a:bodyPr>
          <a:lstStyle/>
          <a:p>
            <a:pPr algn="l">
              <a:spcAft>
                <a:spcPts val="200"/>
              </a:spcAft>
            </a:pPr>
            <a:r>
              <a:rPr sz="1200" b="1">
                <a:solidFill>
                  <a:srgbClr val="7C3AED"/>
                </a:solidFill>
                <a:latin typeface="Calibri"/>
              </a:rPr>
              <a:t>OUTILS UTILISÉS</a:t>
            </a:r>
          </a:p>
          <a:p>
            <a:pPr algn="l">
              <a:spcBef>
                <a:spcPts val="1200"/>
              </a:spcBef>
              <a:spcAft>
                <a:spcPts val="200"/>
              </a:spcAft>
            </a:pPr>
            <a:r>
              <a:rPr sz="1400" b="0">
                <a:solidFill>
                  <a:srgbClr val="334155"/>
                </a:solidFill>
                <a:latin typeface="Calibri"/>
              </a:rPr>
              <a:t>Code         VS Code / TypeScript</a:t>
            </a:r>
          </a:p>
          <a:p>
            <a:pPr algn="l">
              <a:spcBef>
                <a:spcPts val="700"/>
              </a:spcBef>
              <a:spcAft>
                <a:spcPts val="200"/>
              </a:spcAft>
            </a:pPr>
            <a:r>
              <a:rPr sz="1400" b="0">
                <a:solidFill>
                  <a:srgbClr val="334155"/>
                </a:solidFill>
                <a:latin typeface="Calibri"/>
              </a:rPr>
              <a:t>Versions     Git + GitHub</a:t>
            </a:r>
          </a:p>
          <a:p>
            <a:pPr algn="l">
              <a:spcBef>
                <a:spcPts val="700"/>
              </a:spcBef>
              <a:spcAft>
                <a:spcPts val="200"/>
              </a:spcAft>
            </a:pPr>
            <a:r>
              <a:rPr sz="1400" b="0">
                <a:solidFill>
                  <a:srgbClr val="334155"/>
                </a:solidFill>
                <a:latin typeface="Calibri"/>
              </a:rPr>
              <a:t>Conteneurs   Docker Compose</a:t>
            </a:r>
          </a:p>
          <a:p>
            <a:pPr algn="l">
              <a:spcBef>
                <a:spcPts val="700"/>
              </a:spcBef>
              <a:spcAft>
                <a:spcPts val="200"/>
              </a:spcAft>
            </a:pPr>
            <a:r>
              <a:rPr sz="1400" b="0">
                <a:solidFill>
                  <a:srgbClr val="334155"/>
                </a:solidFill>
                <a:latin typeface="Calibri"/>
              </a:rPr>
              <a:t>Supervision  Portainer</a:t>
            </a:r>
          </a:p>
          <a:p>
            <a:pPr algn="l">
              <a:spcBef>
                <a:spcPts val="700"/>
              </a:spcBef>
              <a:spcAft>
                <a:spcPts val="200"/>
              </a:spcAft>
            </a:pPr>
            <a:r>
              <a:rPr sz="1400" b="0">
                <a:solidFill>
                  <a:srgbClr val="334155"/>
                </a:solidFill>
                <a:latin typeface="Calibri"/>
              </a:rPr>
              <a:t>Modélisation UML (PlantUML)</a:t>
            </a:r>
          </a:p>
          <a:p>
            <a:pPr algn="l">
              <a:spcBef>
                <a:spcPts val="700"/>
              </a:spcBef>
              <a:spcAft>
                <a:spcPts val="200"/>
              </a:spcAft>
            </a:pPr>
            <a:r>
              <a:rPr sz="1400" b="0">
                <a:solidFill>
                  <a:srgbClr val="334155"/>
                </a:solidFill>
                <a:latin typeface="Calibri"/>
              </a:rPr>
              <a:t>Cible        Raspberry Pi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14</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DÉMARCHE D'INGÉNIEUR</a:t>
            </a:r>
          </a:p>
          <a:p>
            <a:pPr algn="l">
              <a:spcAft>
                <a:spcPts val="200"/>
              </a:spcAft>
            </a:pPr>
            <a:r>
              <a:rPr sz="2500" b="1">
                <a:solidFill>
                  <a:srgbClr val="FFFFFF"/>
                </a:solidFill>
                <a:latin typeface="Calibri"/>
              </a:rPr>
              <a:t>Difficultés rencontrées et solutions</a:t>
            </a:r>
          </a:p>
        </p:txBody>
      </p:sp>
      <p:pic>
        <p:nvPicPr>
          <p:cNvPr id="7" name="Picture 6" descr="ic_gear.png"/>
          <p:cNvPicPr>
            <a:picLocks noChangeAspect="1"/>
          </p:cNvPicPr>
          <p:nvPr/>
        </p:nvPicPr>
        <p:blipFill>
          <a:blip r:embed="rId2"/>
          <a:stretch>
            <a:fillRect/>
          </a:stretch>
        </p:blipFill>
        <p:spPr>
          <a:xfrm>
            <a:off x="11018520" y="301752"/>
            <a:ext cx="713232" cy="713232"/>
          </a:xfrm>
          <a:prstGeom prst="rect">
            <a:avLst/>
          </a:prstGeom>
        </p:spPr>
      </p:pic>
      <p:sp>
        <p:nvSpPr>
          <p:cNvPr id="8" name="Rounded Rectangle 7"/>
          <p:cNvSpPr/>
          <p:nvPr/>
        </p:nvSpPr>
        <p:spPr>
          <a:xfrm>
            <a:off x="640080" y="1600200"/>
            <a:ext cx="5212080" cy="914400"/>
          </a:xfrm>
          <a:prstGeom prst="round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00200"/>
            <a:ext cx="4846320" cy="914400"/>
          </a:xfrm>
          <a:prstGeom prst="rect">
            <a:avLst/>
          </a:prstGeom>
          <a:noFill/>
        </p:spPr>
        <p:txBody>
          <a:bodyPr wrap="square" anchor="ctr">
            <a:spAutoFit/>
          </a:bodyPr>
          <a:lstStyle/>
          <a:p>
            <a:pPr algn="l">
              <a:spcAft>
                <a:spcPts val="200"/>
              </a:spcAft>
            </a:pPr>
            <a:r>
              <a:rPr sz="1400" b="1">
                <a:solidFill>
                  <a:srgbClr val="B91C1C"/>
                </a:solidFill>
                <a:latin typeface="Calibri"/>
              </a:rPr>
              <a:t>!  Lag de la vue 3D sur tablette</a:t>
            </a:r>
          </a:p>
        </p:txBody>
      </p:sp>
      <p:sp>
        <p:nvSpPr>
          <p:cNvPr id="10" name="Right Arrow 9"/>
          <p:cNvSpPr/>
          <p:nvPr/>
        </p:nvSpPr>
        <p:spPr>
          <a:xfrm>
            <a:off x="5943600" y="1892808"/>
            <a:ext cx="365760" cy="329184"/>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0" y="1600200"/>
            <a:ext cx="5120640" cy="914400"/>
          </a:xfrm>
          <a:prstGeom prst="round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c_check.png"/>
          <p:cNvPicPr>
            <a:picLocks noChangeAspect="1"/>
          </p:cNvPicPr>
          <p:nvPr/>
        </p:nvPicPr>
        <p:blipFill>
          <a:blip r:embed="rId3"/>
          <a:stretch>
            <a:fillRect/>
          </a:stretch>
        </p:blipFill>
        <p:spPr>
          <a:xfrm>
            <a:off x="6537960" y="1783080"/>
            <a:ext cx="548640" cy="548640"/>
          </a:xfrm>
          <a:prstGeom prst="rect">
            <a:avLst/>
          </a:prstGeom>
        </p:spPr>
      </p:pic>
      <p:sp>
        <p:nvSpPr>
          <p:cNvPr id="13" name="TextBox 12"/>
          <p:cNvSpPr txBox="1"/>
          <p:nvPr/>
        </p:nvSpPr>
        <p:spPr>
          <a:xfrm>
            <a:off x="7178040" y="1600200"/>
            <a:ext cx="4206240" cy="914400"/>
          </a:xfrm>
          <a:prstGeom prst="rect">
            <a:avLst/>
          </a:prstGeom>
          <a:noFill/>
        </p:spPr>
        <p:txBody>
          <a:bodyPr wrap="square" anchor="ctr">
            <a:spAutoFit/>
          </a:bodyPr>
          <a:lstStyle/>
          <a:p>
            <a:pPr algn="l">
              <a:spcAft>
                <a:spcPts val="200"/>
              </a:spcAft>
            </a:pPr>
            <a:r>
              <a:rPr sz="1300" b="1">
                <a:solidFill>
                  <a:srgbClr val="15803D"/>
                </a:solidFill>
                <a:latin typeface="Calibri"/>
              </a:rPr>
              <a:t>Textures allégées, pixel ratio plafonné, snapshots dédupliqués</a:t>
            </a:r>
          </a:p>
        </p:txBody>
      </p:sp>
      <p:sp>
        <p:nvSpPr>
          <p:cNvPr id="14" name="Rounded Rectangle 13"/>
          <p:cNvSpPr/>
          <p:nvPr/>
        </p:nvSpPr>
        <p:spPr>
          <a:xfrm>
            <a:off x="640080" y="2651760"/>
            <a:ext cx="5212080" cy="914400"/>
          </a:xfrm>
          <a:prstGeom prst="round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651760"/>
            <a:ext cx="4846320" cy="914400"/>
          </a:xfrm>
          <a:prstGeom prst="rect">
            <a:avLst/>
          </a:prstGeom>
          <a:noFill/>
        </p:spPr>
        <p:txBody>
          <a:bodyPr wrap="square" anchor="ctr">
            <a:spAutoFit/>
          </a:bodyPr>
          <a:lstStyle/>
          <a:p>
            <a:pPr algn="l">
              <a:spcAft>
                <a:spcPts val="200"/>
              </a:spcAft>
            </a:pPr>
            <a:r>
              <a:rPr sz="1400" b="1">
                <a:solidFill>
                  <a:srgbClr val="B91C1C"/>
                </a:solidFill>
                <a:latin typeface="Calibri"/>
              </a:rPr>
              <a:t>!  Contextes WebGL bloqués (crash)</a:t>
            </a:r>
          </a:p>
        </p:txBody>
      </p:sp>
      <p:sp>
        <p:nvSpPr>
          <p:cNvPr id="16" name="Right Arrow 15"/>
          <p:cNvSpPr/>
          <p:nvPr/>
        </p:nvSpPr>
        <p:spPr>
          <a:xfrm>
            <a:off x="5943600" y="2944368"/>
            <a:ext cx="365760" cy="329184"/>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00800" y="2651760"/>
            <a:ext cx="5120640" cy="914400"/>
          </a:xfrm>
          <a:prstGeom prst="round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c_check.png"/>
          <p:cNvPicPr>
            <a:picLocks noChangeAspect="1"/>
          </p:cNvPicPr>
          <p:nvPr/>
        </p:nvPicPr>
        <p:blipFill>
          <a:blip r:embed="rId3"/>
          <a:stretch>
            <a:fillRect/>
          </a:stretch>
        </p:blipFill>
        <p:spPr>
          <a:xfrm>
            <a:off x="6537960" y="2834640"/>
            <a:ext cx="548640" cy="548640"/>
          </a:xfrm>
          <a:prstGeom prst="rect">
            <a:avLst/>
          </a:prstGeom>
        </p:spPr>
      </p:pic>
      <p:sp>
        <p:nvSpPr>
          <p:cNvPr id="19" name="TextBox 18"/>
          <p:cNvSpPr txBox="1"/>
          <p:nvPr/>
        </p:nvSpPr>
        <p:spPr>
          <a:xfrm>
            <a:off x="7178040" y="2651760"/>
            <a:ext cx="4206240" cy="914400"/>
          </a:xfrm>
          <a:prstGeom prst="rect">
            <a:avLst/>
          </a:prstGeom>
          <a:noFill/>
        </p:spPr>
        <p:txBody>
          <a:bodyPr wrap="square" anchor="ctr">
            <a:spAutoFit/>
          </a:bodyPr>
          <a:lstStyle/>
          <a:p>
            <a:pPr algn="l">
              <a:spcAft>
                <a:spcPts val="200"/>
              </a:spcAft>
            </a:pPr>
            <a:r>
              <a:rPr sz="1300" b="1">
                <a:solidFill>
                  <a:srgbClr val="15803D"/>
                </a:solidFill>
                <a:latin typeface="Calibri"/>
              </a:rPr>
              <a:t>Libération explicite du contexte + repli gracieux</a:t>
            </a:r>
          </a:p>
        </p:txBody>
      </p:sp>
      <p:sp>
        <p:nvSpPr>
          <p:cNvPr id="20" name="Rounded Rectangle 19"/>
          <p:cNvSpPr/>
          <p:nvPr/>
        </p:nvSpPr>
        <p:spPr>
          <a:xfrm>
            <a:off x="640080" y="3703320"/>
            <a:ext cx="5212080" cy="914400"/>
          </a:xfrm>
          <a:prstGeom prst="round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703320"/>
            <a:ext cx="4846320" cy="914400"/>
          </a:xfrm>
          <a:prstGeom prst="rect">
            <a:avLst/>
          </a:prstGeom>
          <a:noFill/>
        </p:spPr>
        <p:txBody>
          <a:bodyPr wrap="square" anchor="ctr">
            <a:spAutoFit/>
          </a:bodyPr>
          <a:lstStyle/>
          <a:p>
            <a:pPr algn="l">
              <a:spcAft>
                <a:spcPts val="200"/>
              </a:spcAft>
            </a:pPr>
            <a:r>
              <a:rPr sz="1400" b="1">
                <a:solidFill>
                  <a:srgbClr val="B91C1C"/>
                </a:solidFill>
                <a:latin typeface="Calibri"/>
              </a:rPr>
              <a:t>!  Son d'un jeu joué sans fin</a:t>
            </a:r>
          </a:p>
        </p:txBody>
      </p:sp>
      <p:sp>
        <p:nvSpPr>
          <p:cNvPr id="22" name="Right Arrow 21"/>
          <p:cNvSpPr/>
          <p:nvPr/>
        </p:nvSpPr>
        <p:spPr>
          <a:xfrm>
            <a:off x="5943600" y="3995928"/>
            <a:ext cx="365760" cy="329184"/>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400800" y="3703320"/>
            <a:ext cx="5120640" cy="914400"/>
          </a:xfrm>
          <a:prstGeom prst="round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c_check.png"/>
          <p:cNvPicPr>
            <a:picLocks noChangeAspect="1"/>
          </p:cNvPicPr>
          <p:nvPr/>
        </p:nvPicPr>
        <p:blipFill>
          <a:blip r:embed="rId3"/>
          <a:stretch>
            <a:fillRect/>
          </a:stretch>
        </p:blipFill>
        <p:spPr>
          <a:xfrm>
            <a:off x="6537960" y="3886200"/>
            <a:ext cx="548640" cy="548640"/>
          </a:xfrm>
          <a:prstGeom prst="rect">
            <a:avLst/>
          </a:prstGeom>
        </p:spPr>
      </p:pic>
      <p:sp>
        <p:nvSpPr>
          <p:cNvPr id="25" name="TextBox 24"/>
          <p:cNvSpPr txBox="1"/>
          <p:nvPr/>
        </p:nvSpPr>
        <p:spPr>
          <a:xfrm>
            <a:off x="7178040" y="3703320"/>
            <a:ext cx="4206240" cy="914400"/>
          </a:xfrm>
          <a:prstGeom prst="rect">
            <a:avLst/>
          </a:prstGeom>
          <a:noFill/>
        </p:spPr>
        <p:txBody>
          <a:bodyPr wrap="square" anchor="ctr">
            <a:spAutoFit/>
          </a:bodyPr>
          <a:lstStyle/>
          <a:p>
            <a:pPr algn="l">
              <a:spcAft>
                <a:spcPts val="200"/>
              </a:spcAft>
            </a:pPr>
            <a:r>
              <a:rPr sz="1300" b="1">
                <a:solidFill>
                  <a:srgbClr val="15803D"/>
                </a:solidFill>
                <a:latin typeface="Calibri"/>
              </a:rPr>
              <a:t>Bug d'unité ms / secondes corrigé dans l'audio</a:t>
            </a:r>
          </a:p>
        </p:txBody>
      </p:sp>
      <p:sp>
        <p:nvSpPr>
          <p:cNvPr id="26" name="Rounded Rectangle 25"/>
          <p:cNvSpPr/>
          <p:nvPr/>
        </p:nvSpPr>
        <p:spPr>
          <a:xfrm>
            <a:off x="640080" y="4754880"/>
            <a:ext cx="5212080" cy="914400"/>
          </a:xfrm>
          <a:prstGeom prst="round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754880"/>
            <a:ext cx="4846320" cy="914400"/>
          </a:xfrm>
          <a:prstGeom prst="rect">
            <a:avLst/>
          </a:prstGeom>
          <a:noFill/>
        </p:spPr>
        <p:txBody>
          <a:bodyPr wrap="square" anchor="ctr">
            <a:spAutoFit/>
          </a:bodyPr>
          <a:lstStyle/>
          <a:p>
            <a:pPr algn="l">
              <a:spcAft>
                <a:spcPts val="200"/>
              </a:spcAft>
            </a:pPr>
            <a:r>
              <a:rPr sz="1400" b="1">
                <a:solidFill>
                  <a:srgbClr val="B91C1C"/>
                </a:solidFill>
                <a:latin typeface="Calibri"/>
              </a:rPr>
              <a:t>!  Tetris injouable sur 6x7</a:t>
            </a:r>
          </a:p>
        </p:txBody>
      </p:sp>
      <p:sp>
        <p:nvSpPr>
          <p:cNvPr id="28" name="Right Arrow 27"/>
          <p:cNvSpPr/>
          <p:nvPr/>
        </p:nvSpPr>
        <p:spPr>
          <a:xfrm>
            <a:off x="5943600" y="5047488"/>
            <a:ext cx="365760" cy="329184"/>
          </a:xfrm>
          <a:prstGeom prst="rightArrow">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0" y="4754880"/>
            <a:ext cx="5120640" cy="914400"/>
          </a:xfrm>
          <a:prstGeom prst="roundRect">
            <a:avLst/>
          </a:prstGeom>
          <a:solidFill>
            <a:srgbClr val="DCF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c_check.png"/>
          <p:cNvPicPr>
            <a:picLocks noChangeAspect="1"/>
          </p:cNvPicPr>
          <p:nvPr/>
        </p:nvPicPr>
        <p:blipFill>
          <a:blip r:embed="rId3"/>
          <a:stretch>
            <a:fillRect/>
          </a:stretch>
        </p:blipFill>
        <p:spPr>
          <a:xfrm>
            <a:off x="6537960" y="4937760"/>
            <a:ext cx="548640" cy="548640"/>
          </a:xfrm>
          <a:prstGeom prst="rect">
            <a:avLst/>
          </a:prstGeom>
        </p:spPr>
      </p:pic>
      <p:sp>
        <p:nvSpPr>
          <p:cNvPr id="31" name="TextBox 30"/>
          <p:cNvSpPr txBox="1"/>
          <p:nvPr/>
        </p:nvSpPr>
        <p:spPr>
          <a:xfrm>
            <a:off x="7178040" y="4754880"/>
            <a:ext cx="4206240" cy="914400"/>
          </a:xfrm>
          <a:prstGeom prst="rect">
            <a:avLst/>
          </a:prstGeom>
          <a:noFill/>
        </p:spPr>
        <p:txBody>
          <a:bodyPr wrap="square" anchor="ctr">
            <a:spAutoFit/>
          </a:bodyPr>
          <a:lstStyle/>
          <a:p>
            <a:pPr algn="l">
              <a:spcAft>
                <a:spcPts val="200"/>
              </a:spcAft>
            </a:pPr>
            <a:r>
              <a:rPr sz="1300" b="1">
                <a:solidFill>
                  <a:srgbClr val="15803D"/>
                </a:solidFill>
                <a:latin typeface="Calibri"/>
              </a:rPr>
              <a:t>Refonte en jeu de combinaison de couleurs (pièces 1-2 cases)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4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11480" y="30175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FFFFFF"/>
                </a:solidFill>
              </a:rPr>
              <a:t>15</a:t>
            </a:r>
          </a:p>
        </p:txBody>
      </p:sp>
      <p:sp>
        <p:nvSpPr>
          <p:cNvPr id="6" name="TextBox 5"/>
          <p:cNvSpPr txBox="1"/>
          <p:nvPr/>
        </p:nvSpPr>
        <p:spPr>
          <a:xfrm>
            <a:off x="1143000" y="182880"/>
            <a:ext cx="9509760" cy="868680"/>
          </a:xfrm>
          <a:prstGeom prst="rect">
            <a:avLst/>
          </a:prstGeom>
          <a:noFill/>
        </p:spPr>
        <p:txBody>
          <a:bodyPr wrap="square" anchor="t">
            <a:spAutoFit/>
          </a:bodyPr>
          <a:lstStyle/>
          <a:p>
            <a:pPr algn="l">
              <a:spcAft>
                <a:spcPts val="200"/>
              </a:spcAft>
            </a:pPr>
            <a:r>
              <a:rPr sz="1200" b="1">
                <a:solidFill>
                  <a:srgbClr val="06D6A0"/>
                </a:solidFill>
                <a:latin typeface="Calibri"/>
              </a:rPr>
              <a:t>CONCLUSION TECHNIQUE</a:t>
            </a:r>
          </a:p>
          <a:p>
            <a:pPr algn="l">
              <a:spcAft>
                <a:spcPts val="200"/>
              </a:spcAft>
            </a:pPr>
            <a:r>
              <a:rPr sz="2500" b="1">
                <a:solidFill>
                  <a:srgbClr val="FFFFFF"/>
                </a:solidFill>
                <a:latin typeface="Calibri"/>
              </a:rPr>
              <a:t>Bilan et perspectives</a:t>
            </a:r>
          </a:p>
        </p:txBody>
      </p:sp>
      <p:pic>
        <p:nvPicPr>
          <p:cNvPr id="7" name="Picture 6" descr="ic_chart.png"/>
          <p:cNvPicPr>
            <a:picLocks noChangeAspect="1"/>
          </p:cNvPicPr>
          <p:nvPr/>
        </p:nvPicPr>
        <p:blipFill>
          <a:blip r:embed="rId2"/>
          <a:stretch>
            <a:fillRect/>
          </a:stretch>
        </p:blipFill>
        <p:spPr>
          <a:xfrm>
            <a:off x="11018520" y="301752"/>
            <a:ext cx="713232" cy="713232"/>
          </a:xfrm>
          <a:prstGeom prst="rect">
            <a:avLst/>
          </a:prstGeom>
        </p:spPr>
      </p:pic>
      <p:pic>
        <p:nvPicPr>
          <p:cNvPr id="8" name="Picture 7" descr="ic_check.png"/>
          <p:cNvPicPr>
            <a:picLocks noChangeAspect="1"/>
          </p:cNvPicPr>
          <p:nvPr/>
        </p:nvPicPr>
        <p:blipFill>
          <a:blip r:embed="rId3"/>
          <a:stretch>
            <a:fillRect/>
          </a:stretch>
        </p:blipFill>
        <p:spPr>
          <a:xfrm>
            <a:off x="640080" y="1417320"/>
            <a:ext cx="502920" cy="502920"/>
          </a:xfrm>
          <a:prstGeom prst="rect">
            <a:avLst/>
          </a:prstGeom>
        </p:spPr>
      </p:pic>
      <p:sp>
        <p:nvSpPr>
          <p:cNvPr id="9" name="TextBox 8"/>
          <p:cNvSpPr txBox="1"/>
          <p:nvPr/>
        </p:nvSpPr>
        <p:spPr>
          <a:xfrm>
            <a:off x="1234440" y="1463040"/>
            <a:ext cx="4572000" cy="457200"/>
          </a:xfrm>
          <a:prstGeom prst="rect">
            <a:avLst/>
          </a:prstGeom>
          <a:noFill/>
        </p:spPr>
        <p:txBody>
          <a:bodyPr wrap="square" anchor="ctr">
            <a:spAutoFit/>
          </a:bodyPr>
          <a:lstStyle/>
          <a:p>
            <a:pPr algn="l">
              <a:spcAft>
                <a:spcPts val="200"/>
              </a:spcAft>
            </a:pPr>
            <a:r>
              <a:rPr sz="1800" b="1">
                <a:solidFill>
                  <a:srgbClr val="06D6A0"/>
                </a:solidFill>
                <a:latin typeface="Calibri"/>
              </a:rPr>
              <a:t>Objectifs atteints</a:t>
            </a:r>
          </a:p>
        </p:txBody>
      </p:sp>
      <p:sp>
        <p:nvSpPr>
          <p:cNvPr id="10" name="TextBox 9"/>
          <p:cNvSpPr txBox="1"/>
          <p:nvPr/>
        </p:nvSpPr>
        <p:spPr>
          <a:xfrm>
            <a:off x="640080" y="2103120"/>
            <a:ext cx="5486400" cy="4114800"/>
          </a:xfrm>
          <a:prstGeom prst="rect">
            <a:avLst/>
          </a:prstGeom>
          <a:noFill/>
        </p:spPr>
        <p:txBody>
          <a:bodyPr wrap="square">
            <a:spAutoFit/>
          </a:bodyPr>
          <a:lstStyle/>
          <a:p>
            <a:pPr>
              <a:spcAft>
                <a:spcPts val="1200"/>
              </a:spcAft>
            </a:pPr>
            <a:r>
              <a:rPr sz="1500">
                <a:solidFill>
                  <a:srgbClr val="334155"/>
                </a:solidFill>
                <a:latin typeface="Calibri"/>
              </a:rPr>
              <a:t>▸ Pilotage temps réel des 42 dalles</a:t>
            </a:r>
          </a:p>
          <a:p>
            <a:pPr>
              <a:spcAft>
                <a:spcPts val="1200"/>
              </a:spcAft>
            </a:pPr>
            <a:r>
              <a:rPr sz="1500">
                <a:solidFill>
                  <a:srgbClr val="334155"/>
                </a:solidFill>
                <a:latin typeface="Calibri"/>
              </a:rPr>
              <a:t>▸ Mesure réelle au colorimètre + CIE</a:t>
            </a:r>
          </a:p>
          <a:p>
            <a:pPr>
              <a:spcAft>
                <a:spcPts val="1200"/>
              </a:spcAft>
            </a:pPr>
            <a:r>
              <a:rPr sz="1500">
                <a:solidFill>
                  <a:srgbClr val="334155"/>
                </a:solidFill>
                <a:latin typeface="Calibri"/>
              </a:rPr>
              <a:t>▸ Éditeur et génération IA fonctionnels</a:t>
            </a:r>
          </a:p>
          <a:p>
            <a:pPr>
              <a:spcAft>
                <a:spcPts val="1200"/>
              </a:spcAft>
            </a:pPr>
            <a:r>
              <a:rPr sz="1500">
                <a:solidFill>
                  <a:srgbClr val="334155"/>
                </a:solidFill>
                <a:latin typeface="Calibri"/>
              </a:rPr>
              <a:t>▸ Multijoueur en réseau local</a:t>
            </a:r>
          </a:p>
          <a:p>
            <a:pPr>
              <a:spcAft>
                <a:spcPts val="1200"/>
              </a:spcAft>
            </a:pPr>
            <a:r>
              <a:rPr sz="1500">
                <a:solidFill>
                  <a:srgbClr val="334155"/>
                </a:solidFill>
                <a:latin typeface="Calibri"/>
              </a:rPr>
              <a:t>▸ Déploiement automatisé sur Pi</a:t>
            </a:r>
          </a:p>
        </p:txBody>
      </p:sp>
      <p:pic>
        <p:nvPicPr>
          <p:cNvPr id="11" name="Picture 10" descr="ic_bolt.png"/>
          <p:cNvPicPr>
            <a:picLocks noChangeAspect="1"/>
          </p:cNvPicPr>
          <p:nvPr/>
        </p:nvPicPr>
        <p:blipFill>
          <a:blip r:embed="rId4"/>
          <a:stretch>
            <a:fillRect/>
          </a:stretch>
        </p:blipFill>
        <p:spPr>
          <a:xfrm>
            <a:off x="6309360" y="1417320"/>
            <a:ext cx="502920" cy="502920"/>
          </a:xfrm>
          <a:prstGeom prst="rect">
            <a:avLst/>
          </a:prstGeom>
        </p:spPr>
      </p:pic>
      <p:sp>
        <p:nvSpPr>
          <p:cNvPr id="12" name="TextBox 11"/>
          <p:cNvSpPr txBox="1"/>
          <p:nvPr/>
        </p:nvSpPr>
        <p:spPr>
          <a:xfrm>
            <a:off x="6903720" y="1463040"/>
            <a:ext cx="4572000" cy="457200"/>
          </a:xfrm>
          <a:prstGeom prst="rect">
            <a:avLst/>
          </a:prstGeom>
          <a:noFill/>
        </p:spPr>
        <p:txBody>
          <a:bodyPr wrap="square" anchor="ctr">
            <a:spAutoFit/>
          </a:bodyPr>
          <a:lstStyle/>
          <a:p>
            <a:pPr algn="l">
              <a:spcAft>
                <a:spcPts val="200"/>
              </a:spcAft>
            </a:pPr>
            <a:r>
              <a:rPr sz="1800" b="1">
                <a:solidFill>
                  <a:srgbClr val="7C3AED"/>
                </a:solidFill>
                <a:latin typeface="Calibri"/>
              </a:rPr>
              <a:t>Perspectives</a:t>
            </a:r>
          </a:p>
        </p:txBody>
      </p:sp>
      <p:sp>
        <p:nvSpPr>
          <p:cNvPr id="13" name="TextBox 12"/>
          <p:cNvSpPr txBox="1"/>
          <p:nvPr/>
        </p:nvSpPr>
        <p:spPr>
          <a:xfrm>
            <a:off x="6309360" y="2103120"/>
            <a:ext cx="5394960" cy="4114800"/>
          </a:xfrm>
          <a:prstGeom prst="rect">
            <a:avLst/>
          </a:prstGeom>
          <a:noFill/>
        </p:spPr>
        <p:txBody>
          <a:bodyPr wrap="square">
            <a:spAutoFit/>
          </a:bodyPr>
          <a:lstStyle/>
          <a:p>
            <a:pPr>
              <a:spcAft>
                <a:spcPts val="1200"/>
              </a:spcAft>
            </a:pPr>
            <a:r>
              <a:rPr sz="1500">
                <a:solidFill>
                  <a:srgbClr val="334155"/>
                </a:solidFill>
                <a:latin typeface="Calibri"/>
              </a:rPr>
              <a:t>▸ Vrai système de salons multijoueurs (codes)</a:t>
            </a:r>
          </a:p>
          <a:p>
            <a:pPr>
              <a:spcAft>
                <a:spcPts val="1200"/>
              </a:spcAft>
            </a:pPr>
            <a:r>
              <a:rPr sz="1500">
                <a:solidFill>
                  <a:srgbClr val="334155"/>
                </a:solidFill>
                <a:latin typeface="Calibri"/>
              </a:rPr>
              <a:t>▸ Streaming de la génération IA en temps réel</a:t>
            </a:r>
          </a:p>
          <a:p>
            <a:pPr>
              <a:spcAft>
                <a:spcPts val="1200"/>
              </a:spcAft>
            </a:pPr>
            <a:r>
              <a:rPr sz="1500">
                <a:solidFill>
                  <a:srgbClr val="334155"/>
                </a:solidFill>
                <a:latin typeface="Calibri"/>
              </a:rPr>
              <a:t>▸ Plus de jeux pédagogiques et de tutoriels</a:t>
            </a:r>
          </a:p>
          <a:p>
            <a:pPr>
              <a:spcAft>
                <a:spcPts val="1200"/>
              </a:spcAft>
            </a:pPr>
            <a:r>
              <a:rPr sz="1500">
                <a:solidFill>
                  <a:srgbClr val="334155"/>
                </a:solidFill>
                <a:latin typeface="Calibri"/>
              </a:rPr>
              <a:t>▸ Tableau de bord enseignant enrichi</a:t>
            </a:r>
          </a:p>
          <a:p>
            <a:pPr>
              <a:spcAft>
                <a:spcPts val="1200"/>
              </a:spcAft>
            </a:pPr>
            <a:r>
              <a:rPr sz="1500">
                <a:solidFill>
                  <a:srgbClr val="334155"/>
                </a:solidFill>
                <a:latin typeface="Calibri"/>
              </a:rPr>
              <a:t>▸ Tests automatisés (CI / CD)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12191695" cy="50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c_play.png"/>
          <p:cNvPicPr>
            <a:picLocks noChangeAspect="1"/>
          </p:cNvPicPr>
          <p:nvPr/>
        </p:nvPicPr>
        <p:blipFill>
          <a:blip r:embed="rId2"/>
          <a:stretch>
            <a:fillRect/>
          </a:stretch>
        </p:blipFill>
        <p:spPr>
          <a:xfrm>
            <a:off x="5394960" y="1097280"/>
            <a:ext cx="1371600" cy="1371600"/>
          </a:xfrm>
          <a:prstGeom prst="rect">
            <a:avLst/>
          </a:prstGeom>
        </p:spPr>
      </p:pic>
      <p:sp>
        <p:nvSpPr>
          <p:cNvPr id="5" name="TextBox 4"/>
          <p:cNvSpPr txBox="1"/>
          <p:nvPr/>
        </p:nvSpPr>
        <p:spPr>
          <a:xfrm>
            <a:off x="914400" y="2606040"/>
            <a:ext cx="10332720" cy="1280160"/>
          </a:xfrm>
          <a:prstGeom prst="rect">
            <a:avLst/>
          </a:prstGeom>
          <a:noFill/>
        </p:spPr>
        <p:txBody>
          <a:bodyPr wrap="square" anchor="t">
            <a:spAutoFit/>
          </a:bodyPr>
          <a:lstStyle/>
          <a:p>
            <a:pPr algn="ctr">
              <a:spcAft>
                <a:spcPts val="200"/>
              </a:spcAft>
            </a:pPr>
            <a:r>
              <a:rPr sz="1600" b="1">
                <a:solidFill>
                  <a:srgbClr val="06D6A0"/>
                </a:solidFill>
                <a:latin typeface="Calibri"/>
              </a:rPr>
              <a:t>PLACE À LA</a:t>
            </a:r>
          </a:p>
          <a:p>
            <a:pPr algn="ctr">
              <a:spcBef>
                <a:spcPts val="600"/>
              </a:spcBef>
              <a:spcAft>
                <a:spcPts val="200"/>
              </a:spcAft>
            </a:pPr>
            <a:r>
              <a:rPr sz="4800" b="1">
                <a:solidFill>
                  <a:srgbClr val="FFFFFF"/>
                </a:solidFill>
                <a:latin typeface="Calibri"/>
              </a:rPr>
              <a:t>Démonstration</a:t>
            </a:r>
          </a:p>
        </p:txBody>
      </p:sp>
      <p:sp>
        <p:nvSpPr>
          <p:cNvPr id="6" name="TextBox 5"/>
          <p:cNvSpPr txBox="1"/>
          <p:nvPr/>
        </p:nvSpPr>
        <p:spPr>
          <a:xfrm>
            <a:off x="914400" y="4069080"/>
            <a:ext cx="10332720" cy="2011680"/>
          </a:xfrm>
          <a:prstGeom prst="rect">
            <a:avLst/>
          </a:prstGeom>
          <a:noFill/>
        </p:spPr>
        <p:txBody>
          <a:bodyPr wrap="square" anchor="t">
            <a:spAutoFit/>
          </a:bodyPr>
          <a:lstStyle/>
          <a:p>
            <a:pPr algn="ctr">
              <a:spcAft>
                <a:spcPts val="200"/>
              </a:spcAft>
            </a:pPr>
            <a:r>
              <a:rPr sz="1600" b="0">
                <a:solidFill>
                  <a:srgbClr val="CBD5E1"/>
                </a:solidFill>
                <a:latin typeface="Calibri"/>
              </a:rPr>
              <a:t>1. Lancer un jeu sur les dalles    2. Créer un jeu (éditeur)</a:t>
            </a:r>
          </a:p>
          <a:p>
            <a:pPr algn="ctr">
              <a:spcBef>
                <a:spcPts val="800"/>
              </a:spcBef>
              <a:spcAft>
                <a:spcPts val="200"/>
              </a:spcAft>
            </a:pPr>
            <a:r>
              <a:rPr sz="1600" b="0">
                <a:solidFill>
                  <a:srgbClr val="CBD5E1"/>
                </a:solidFill>
                <a:latin typeface="Calibri"/>
              </a:rPr>
              <a:t>3. Générer un jeu avec l'IA    4. Multijoueur (QR + téléphone)</a:t>
            </a:r>
          </a:p>
          <a:p>
            <a:pPr algn="ctr">
              <a:spcBef>
                <a:spcPts val="800"/>
              </a:spcBef>
              <a:spcAft>
                <a:spcPts val="200"/>
              </a:spcAft>
            </a:pPr>
            <a:r>
              <a:rPr sz="1600" b="0">
                <a:solidFill>
                  <a:srgbClr val="CBD5E1"/>
                </a:solidFill>
                <a:latin typeface="Calibri"/>
              </a:rPr>
              <a:t>5. Mesure CS-160 + diagramme CIE    6. Portainer / Docker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28800"/>
            <a:ext cx="12191695" cy="73152"/>
          </a:xfrm>
          <a:prstGeom prst="rect">
            <a:avLst/>
          </a:prstGeom>
          <a:solidFill>
            <a:srgbClr val="436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901952"/>
            <a:ext cx="12191695"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1975104"/>
            <a:ext cx="12191695" cy="73152"/>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560320"/>
            <a:ext cx="10332720" cy="1828800"/>
          </a:xfrm>
          <a:prstGeom prst="rect">
            <a:avLst/>
          </a:prstGeom>
          <a:noFill/>
        </p:spPr>
        <p:txBody>
          <a:bodyPr wrap="square" anchor="t">
            <a:spAutoFit/>
          </a:bodyPr>
          <a:lstStyle/>
          <a:p>
            <a:pPr algn="ctr">
              <a:spcAft>
                <a:spcPts val="200"/>
              </a:spcAft>
            </a:pPr>
            <a:r>
              <a:rPr sz="4400" b="1">
                <a:solidFill>
                  <a:srgbClr val="FFFFFF"/>
                </a:solidFill>
                <a:latin typeface="Calibri"/>
              </a:rPr>
              <a:t>Merci de votre attention</a:t>
            </a:r>
          </a:p>
          <a:p>
            <a:pPr algn="ctr">
              <a:spcBef>
                <a:spcPts val="1400"/>
              </a:spcBef>
              <a:spcAft>
                <a:spcPts val="200"/>
              </a:spcAft>
            </a:pPr>
            <a:r>
              <a:rPr sz="2200" b="1">
                <a:solidFill>
                  <a:srgbClr val="06D6A0"/>
                </a:solidFill>
                <a:latin typeface="Calibri"/>
              </a:rPr>
              <a:t>Avez-vous des questions ?</a:t>
            </a:r>
          </a:p>
        </p:txBody>
      </p:sp>
      <p:sp>
        <p:nvSpPr>
          <p:cNvPr id="7" name="TextBox 6"/>
          <p:cNvSpPr txBox="1"/>
          <p:nvPr/>
        </p:nvSpPr>
        <p:spPr>
          <a:xfrm>
            <a:off x="914400" y="5852160"/>
            <a:ext cx="10332720" cy="548640"/>
          </a:xfrm>
          <a:prstGeom prst="rect">
            <a:avLst/>
          </a:prstGeom>
          <a:noFill/>
        </p:spPr>
        <p:txBody>
          <a:bodyPr wrap="square" anchor="t">
            <a:spAutoFit/>
          </a:bodyPr>
          <a:lstStyle/>
          <a:p>
            <a:pPr algn="ctr">
              <a:spcAft>
                <a:spcPts val="200"/>
              </a:spcAft>
            </a:pPr>
            <a:r>
              <a:rPr sz="1300" b="0">
                <a:solidFill>
                  <a:srgbClr val="64748B"/>
                </a:solidFill>
                <a:latin typeface="Calibri"/>
              </a:rPr>
              <a:t>ColorRoom  ·  BTS CIEL option IR  ·  Session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